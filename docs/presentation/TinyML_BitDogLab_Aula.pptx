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3.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4.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756cdb04eeb417f" /><Relationship Type="http://schemas.openxmlformats.org/officeDocument/2006/relationships/extended-properties" Target="/docProps/app.xml" Id="Rd65b533586fb463b" /><Relationship Type="http://schemas.openxmlformats.org/officeDocument/2006/relationships/officeDocument" Target="/ppt/presentation.xml" Id="R6695fad9eb6f4e18" /></Relationships>
</file>

<file path=ppt/presentation.xml><?xml version="1.0" encoding="utf-8"?>
<p:presentation xmlns:p="http://schemas.openxmlformats.org/presentationml/2006/main">
  <p:sldMasterIdLst>
    <p:sldMasterId xmlns:r="http://schemas.openxmlformats.org/officeDocument/2006/relationships" id="2147483648" r:id="Ra41e82fe51144573"/>
  </p:sldMasterIdLst>
  <p:notesMasterIdLst>
    <p:notesMasterId xmlns:r="http://schemas.openxmlformats.org/officeDocument/2006/relationships" r:id="Rb0372df1754c4f39"/>
  </p:notesMasterIdLst>
  <p:sldIdLst>
    <p:sldId xmlns:r="http://schemas.openxmlformats.org/officeDocument/2006/relationships" id="256" r:id="Rc576c337caaa42d8"/>
    <p:sldId xmlns:r="http://schemas.openxmlformats.org/officeDocument/2006/relationships" id="257" r:id="R90c182792d174c6e"/>
    <p:sldId xmlns:r="http://schemas.openxmlformats.org/officeDocument/2006/relationships" id="258" r:id="R7dc462e8e3cc4c4f"/>
    <p:sldId xmlns:r="http://schemas.openxmlformats.org/officeDocument/2006/relationships" id="259" r:id="R74db8195c073435d"/>
    <p:sldId xmlns:r="http://schemas.openxmlformats.org/officeDocument/2006/relationships" id="260" r:id="R0a52c0797b8742a8"/>
    <p:sldId xmlns:r="http://schemas.openxmlformats.org/officeDocument/2006/relationships" id="261" r:id="R95a7b1d8cde44299"/>
    <p:sldId xmlns:r="http://schemas.openxmlformats.org/officeDocument/2006/relationships" id="262" r:id="Rfd5875d494984dc2"/>
    <p:sldId xmlns:r="http://schemas.openxmlformats.org/officeDocument/2006/relationships" id="263" r:id="Rcc9cca0a11684fd8"/>
    <p:sldId xmlns:r="http://schemas.openxmlformats.org/officeDocument/2006/relationships" id="264" r:id="R24f1e8e98a9c4325"/>
    <p:sldId xmlns:r="http://schemas.openxmlformats.org/officeDocument/2006/relationships" id="265" r:id="Rbdee3fdb40454ab5"/>
    <p:sldId xmlns:r="http://schemas.openxmlformats.org/officeDocument/2006/relationships" id="266" r:id="R289f9fb13621459c"/>
    <p:sldId xmlns:r="http://schemas.openxmlformats.org/officeDocument/2006/relationships" id="267" r:id="R72c4b95a42344043"/>
    <p:sldId xmlns:r="http://schemas.openxmlformats.org/officeDocument/2006/relationships" id="268" r:id="R7b43fd89867348fb"/>
    <p:sldId xmlns:r="http://schemas.openxmlformats.org/officeDocument/2006/relationships" id="269" r:id="R280db1dedfe7499f"/>
    <p:sldId xmlns:r="http://schemas.openxmlformats.org/officeDocument/2006/relationships" id="270" r:id="R65f230207f36486d"/>
    <p:sldId xmlns:r="http://schemas.openxmlformats.org/officeDocument/2006/relationships" id="271" r:id="R0be456c30911441b"/>
    <p:sldId xmlns:r="http://schemas.openxmlformats.org/officeDocument/2006/relationships" id="272" r:id="Re7b5c84b217a43c6"/>
    <p:sldId xmlns:r="http://schemas.openxmlformats.org/officeDocument/2006/relationships" id="273" r:id="R3043bbf260a140d4"/>
    <p:sldId xmlns:r="http://schemas.openxmlformats.org/officeDocument/2006/relationships" id="274" r:id="Rdb6e518096064ef5"/>
    <p:sldId xmlns:r="http://schemas.openxmlformats.org/officeDocument/2006/relationships" id="275" r:id="Raef1eccb4cc7456c"/>
    <p:sldId xmlns:r="http://schemas.openxmlformats.org/officeDocument/2006/relationships" id="276" r:id="R6695c983d1f4465c"/>
    <p:sldId xmlns:r="http://schemas.openxmlformats.org/officeDocument/2006/relationships" id="277" r:id="R798bb483391f4a2b"/>
    <p:sldId xmlns:r="http://schemas.openxmlformats.org/officeDocument/2006/relationships" id="278" r:id="Rcda7528495174470"/>
    <p:sldId xmlns:r="http://schemas.openxmlformats.org/officeDocument/2006/relationships" id="279" r:id="R88a3abc069144244"/>
    <p:sldId xmlns:r="http://schemas.openxmlformats.org/officeDocument/2006/relationships" id="280" r:id="Re7b38c4e2d944ada"/>
    <p:sldId xmlns:r="http://schemas.openxmlformats.org/officeDocument/2006/relationships" id="281" r:id="R796d68e5def74abe"/>
    <p:sldId xmlns:r="http://schemas.openxmlformats.org/officeDocument/2006/relationships" id="282" r:id="Ra354732587914935"/>
    <p:sldId xmlns:r="http://schemas.openxmlformats.org/officeDocument/2006/relationships" id="283" r:id="R8c64db9d71cd48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ed643be36e4806" /><Relationship Type="http://schemas.openxmlformats.org/officeDocument/2006/relationships/slideMaster" Target="/ppt/slideMasters/slideMaster1.xml" Id="Ra41e82fe51144573" /><Relationship Type="http://schemas.openxmlformats.org/officeDocument/2006/relationships/notesMaster" Target="/ppt/notesMasters/notesMaster1.xml" Id="Rb0372df1754c4f39" /><Relationship Type="http://schemas.openxmlformats.org/officeDocument/2006/relationships/presProps" Target="/ppt/presProps.xml" Id="Rc6df4d1d790c4fcc" /><Relationship Type="http://schemas.openxmlformats.org/officeDocument/2006/relationships/tableStyles" Target="/ppt/tableStyles.xml" Id="Ra11e73a22d9642eb" /><Relationship Type="http://schemas.openxmlformats.org/officeDocument/2006/relationships/slide" Target="/ppt/slides/slide1.xml" Id="Rc576c337caaa42d8" /><Relationship Type="http://schemas.openxmlformats.org/officeDocument/2006/relationships/slide" Target="/ppt/slides/slide2.xml" Id="R90c182792d174c6e" /><Relationship Type="http://schemas.openxmlformats.org/officeDocument/2006/relationships/slide" Target="/ppt/slides/slide3.xml" Id="R7dc462e8e3cc4c4f" /><Relationship Type="http://schemas.openxmlformats.org/officeDocument/2006/relationships/slide" Target="/ppt/slides/slide4.xml" Id="R74db8195c073435d" /><Relationship Type="http://schemas.openxmlformats.org/officeDocument/2006/relationships/slide" Target="/ppt/slides/slide5.xml" Id="R0a52c0797b8742a8" /><Relationship Type="http://schemas.openxmlformats.org/officeDocument/2006/relationships/slide" Target="/ppt/slides/slide6.xml" Id="R95a7b1d8cde44299" /><Relationship Type="http://schemas.openxmlformats.org/officeDocument/2006/relationships/slide" Target="/ppt/slides/slide7.xml" Id="Rfd5875d494984dc2" /><Relationship Type="http://schemas.openxmlformats.org/officeDocument/2006/relationships/slide" Target="/ppt/slides/slide8.xml" Id="Rcc9cca0a11684fd8" /><Relationship Type="http://schemas.openxmlformats.org/officeDocument/2006/relationships/slide" Target="/ppt/slides/slide9.xml" Id="R24f1e8e98a9c4325" /><Relationship Type="http://schemas.openxmlformats.org/officeDocument/2006/relationships/slide" Target="/ppt/slides/slide10.xml" Id="Rbdee3fdb40454ab5" /><Relationship Type="http://schemas.openxmlformats.org/officeDocument/2006/relationships/slide" Target="/ppt/slides/slide11.xml" Id="R289f9fb13621459c" /><Relationship Type="http://schemas.openxmlformats.org/officeDocument/2006/relationships/slide" Target="/ppt/slides/slide12.xml" Id="R72c4b95a42344043" /><Relationship Type="http://schemas.openxmlformats.org/officeDocument/2006/relationships/slide" Target="/ppt/slides/slide13.xml" Id="R7b43fd89867348fb" /><Relationship Type="http://schemas.openxmlformats.org/officeDocument/2006/relationships/slide" Target="/ppt/slides/slide14.xml" Id="R280db1dedfe7499f" /><Relationship Type="http://schemas.openxmlformats.org/officeDocument/2006/relationships/slide" Target="/ppt/slides/slide15.xml" Id="R65f230207f36486d" /><Relationship Type="http://schemas.openxmlformats.org/officeDocument/2006/relationships/slide" Target="/ppt/slides/slide16.xml" Id="R0be456c30911441b" /><Relationship Type="http://schemas.openxmlformats.org/officeDocument/2006/relationships/slide" Target="/ppt/slides/slide17.xml" Id="Re7b5c84b217a43c6" /><Relationship Type="http://schemas.openxmlformats.org/officeDocument/2006/relationships/slide" Target="/ppt/slides/slide18.xml" Id="R3043bbf260a140d4" /><Relationship Type="http://schemas.openxmlformats.org/officeDocument/2006/relationships/slide" Target="/ppt/slides/slide19.xml" Id="Rdb6e518096064ef5" /><Relationship Type="http://schemas.openxmlformats.org/officeDocument/2006/relationships/slide" Target="/ppt/slides/slide20.xml" Id="Raef1eccb4cc7456c" /><Relationship Type="http://schemas.openxmlformats.org/officeDocument/2006/relationships/slide" Target="/ppt/slides/slide21.xml" Id="R6695c983d1f4465c" /><Relationship Type="http://schemas.openxmlformats.org/officeDocument/2006/relationships/slide" Target="/ppt/slides/slide22.xml" Id="R798bb483391f4a2b" /><Relationship Type="http://schemas.openxmlformats.org/officeDocument/2006/relationships/slide" Target="/ppt/slides/slide23.xml" Id="Rcda7528495174470" /><Relationship Type="http://schemas.openxmlformats.org/officeDocument/2006/relationships/slide" Target="/ppt/slides/slide24.xml" Id="R88a3abc069144244" /><Relationship Type="http://schemas.openxmlformats.org/officeDocument/2006/relationships/slide" Target="/ppt/slides/slide25.xml" Id="Re7b38c4e2d944ada" /><Relationship Type="http://schemas.openxmlformats.org/officeDocument/2006/relationships/slide" Target="/ppt/slides/slide26.xml" Id="R796d68e5def74abe" /><Relationship Type="http://schemas.openxmlformats.org/officeDocument/2006/relationships/slide" Target="/ppt/slides/slide27.xml" Id="Ra354732587914935" /><Relationship Type="http://schemas.openxmlformats.org/officeDocument/2006/relationships/slide" Target="/ppt/slides/slide28.xml" Id="R8c64db9d71cd48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4a4dae150845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ac1983245d4257" /><Relationship Type="http://schemas.openxmlformats.org/officeDocument/2006/relationships/notesMaster" Target="/ppt/notesMasters/notesMaster1.xml" Id="Rc449bfd5ffc24d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92a5561a834e29" /><Relationship Type="http://schemas.openxmlformats.org/officeDocument/2006/relationships/notesMaster" Target="/ppt/notesMasters/notesMaster1.xml" Id="R477ad4e6f5b44c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118c156c644873" /><Relationship Type="http://schemas.openxmlformats.org/officeDocument/2006/relationships/notesMaster" Target="/ppt/notesMasters/notesMaster1.xml" Id="R36aaa7eb93d341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b62b3cdfc746ce" /><Relationship Type="http://schemas.openxmlformats.org/officeDocument/2006/relationships/notesMaster" Target="/ppt/notesMasters/notesMaster1.xml" Id="Rbd94d1b021424d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efa47eb7634ac1" /><Relationship Type="http://schemas.openxmlformats.org/officeDocument/2006/relationships/notesMaster" Target="/ppt/notesMasters/notesMaster1.xml" Id="R7e5493829d584c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f63675eaba46d5" /><Relationship Type="http://schemas.openxmlformats.org/officeDocument/2006/relationships/notesMaster" Target="/ppt/notesMasters/notesMaster1.xml" Id="R5e0138ed22ff4b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560672a4d24d7e" /><Relationship Type="http://schemas.openxmlformats.org/officeDocument/2006/relationships/notesMaster" Target="/ppt/notesMasters/notesMaster1.xml" Id="Rb50bcf66ff824e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08a87997ca414d" /><Relationship Type="http://schemas.openxmlformats.org/officeDocument/2006/relationships/notesMaster" Target="/ppt/notesMasters/notesMaster1.xml" Id="R13f3128fa56c40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d23f0843ac4429" /><Relationship Type="http://schemas.openxmlformats.org/officeDocument/2006/relationships/notesMaster" Target="/ppt/notesMasters/notesMaster1.xml" Id="R502189bfcf5f41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cb8a67c40d48c4" /><Relationship Type="http://schemas.openxmlformats.org/officeDocument/2006/relationships/notesMaster" Target="/ppt/notesMasters/notesMaster1.xml" Id="Rc0cc504fa1da459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543ed81689342f5" /><Relationship Type="http://schemas.openxmlformats.org/officeDocument/2006/relationships/notesMaster" Target="/ppt/notesMasters/notesMaster1.xml" Id="R5baa01dfbcd941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b5e86287964b33" /><Relationship Type="http://schemas.openxmlformats.org/officeDocument/2006/relationships/notesMaster" Target="/ppt/notesMasters/notesMaster1.xml" Id="Raca1754c3b354a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d1f5c64846d4c9f" /><Relationship Type="http://schemas.openxmlformats.org/officeDocument/2006/relationships/notesMaster" Target="/ppt/notesMasters/notesMaster1.xml" Id="R88138b2356e647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45d50e572864afc" /><Relationship Type="http://schemas.openxmlformats.org/officeDocument/2006/relationships/notesMaster" Target="/ppt/notesMasters/notesMaster1.xml" Id="R59ecd7eb4377414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3908f0a1c7448f7" /><Relationship Type="http://schemas.openxmlformats.org/officeDocument/2006/relationships/notesMaster" Target="/ppt/notesMasters/notesMaster1.xml" Id="R365c6e446f8646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ca2dc2bad54505" /><Relationship Type="http://schemas.openxmlformats.org/officeDocument/2006/relationships/notesMaster" Target="/ppt/notesMasters/notesMaster1.xml" Id="R49c3de841eec4b1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d13efa8369647b8" /><Relationship Type="http://schemas.openxmlformats.org/officeDocument/2006/relationships/notesMaster" Target="/ppt/notesMasters/notesMaster1.xml" Id="Rdc6906b844fc428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d874cc29ed4b67" /><Relationship Type="http://schemas.openxmlformats.org/officeDocument/2006/relationships/notesMaster" Target="/ppt/notesMasters/notesMaster1.xml" Id="Rcf34c8f05328483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0ebe125e1d648b0" /><Relationship Type="http://schemas.openxmlformats.org/officeDocument/2006/relationships/notesMaster" Target="/ppt/notesMasters/notesMaster1.xml" Id="Rf0ef52bba7de479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7873c90a04f466e" /><Relationship Type="http://schemas.openxmlformats.org/officeDocument/2006/relationships/notesMaster" Target="/ppt/notesMasters/notesMaster1.xml" Id="R29f048215d8141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994a0adbd664252" /><Relationship Type="http://schemas.openxmlformats.org/officeDocument/2006/relationships/notesMaster" Target="/ppt/notesMasters/notesMaster1.xml" Id="Rd743cad04dfa4cf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3d7f821ad1f4ab5" /><Relationship Type="http://schemas.openxmlformats.org/officeDocument/2006/relationships/notesMaster" Target="/ppt/notesMasters/notesMaster1.xml" Id="Ra7f2b7e719e040c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4461254fee744ce" /><Relationship Type="http://schemas.openxmlformats.org/officeDocument/2006/relationships/notesMaster" Target="/ppt/notesMasters/notesMaster1.xml" Id="R5c0812dd7bb54c5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fe34044194648dd" /><Relationship Type="http://schemas.openxmlformats.org/officeDocument/2006/relationships/notesMaster" Target="/ppt/notesMasters/notesMaster1.xml" Id="Rdfda0affe91f4ff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1d863e496924129" /><Relationship Type="http://schemas.openxmlformats.org/officeDocument/2006/relationships/notesMaster" Target="/ppt/notesMasters/notesMaster1.xml" Id="R2f7ea7ca73c040c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9068955d86645dc" /><Relationship Type="http://schemas.openxmlformats.org/officeDocument/2006/relationships/notesMaster" Target="/ppt/notesMasters/notesMaster1.xml" Id="Rc55c3a0b3822487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c27b19158824657" /><Relationship Type="http://schemas.openxmlformats.org/officeDocument/2006/relationships/notesMaster" Target="/ppt/notesMasters/notesMaster1.xml" Id="Rc483ea78ebc8492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646b572f03b4b39" /><Relationship Type="http://schemas.openxmlformats.org/officeDocument/2006/relationships/notesMaster" Target="/ppt/notesMasters/notesMaster1.xml" Id="R2e160aa608c64b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30 s</a:t>
            </a:r>
          </a:p>
          <a:p xmlns:a="http://schemas.openxmlformats.org/drawingml/2006/main">
            <a:r>
              <a:t/>
            </a:r>
          </a:p>
          <a:p xmlns:a="http://schemas.openxmlformats.org/drawingml/2006/main">
            <a:r>
              <a:t>Eu queria entender TinyML usando uma placa que já tinha. Escolhi sons cardíacos como caso de estudo. Vou mostrar como preparei os dados, treinei a rede no computador, reduzi o modelo e conferi sua execução na placa. Também vou mostrar os erros que encontrei.</a:t>
            </a:r>
          </a:p>
          <a:p xmlns:a="http://schemas.openxmlformats.org/drawingml/2006/main">
            <a:r>
              <a:t/>
            </a:r>
          </a:p>
          <a:p xmlns:a="http://schemas.openxmlformats.org/drawingml/2006/main">
            <a:r>
              <a:t>Fontes: Artigo main.tex e relatórios congelados de CirCor 1.0.3; https://github.com/Lawtrel/bitdoglab-heart-tinyml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O PC é muito mais potente. Minha pergunta não é se a placa vai ganhar dele em velocidade. Quero saber se uma rede pequena cabe, executa e mantém um desempenho mensurável. Por isso separo a qualidade das previsões do tempo e da memória.</a:t>
            </a:r>
          </a:p>
          <a:p xmlns:a="http://schemas.openxmlformats.org/drawingml/2006/main">
            <a:r>
              <a:t/>
            </a:r>
          </a:p>
          <a:p xmlns:a="http://schemas.openxmlformats.org/drawingml/2006/main">
            <a:r>
              <a:t>Fontes: Artigo main.tex e relatórios congelados de CirCor 1.0.3; https://github.com/Lawtrel/bitdoglab-heart-tinyml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No training, a rede ajusta números internos chamados weights. A RTX ajudou nessa etapa. Na inference, esses números não mudam: o modelo recebe um áudio e calcula scores. A comparação de tempo antiga do PC foi feita na CPU. Ela não é uma medida de RTX inference.</a:t>
            </a:r>
          </a:p>
          <a:p xmlns:a="http://schemas.openxmlformats.org/drawingml/2006/main">
            <a:r>
              <a:t/>
            </a:r>
          </a:p>
          <a:p xmlns:a="http://schemas.openxmlformats.org/drawingml/2006/main">
            <a:r>
              <a:t>Fontes: David et al., TensorFlow Lite Micro, MLSys 2021; training.json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Os sons S1 e S2 fazem parte do ciclo cardíaco. Um heart murmur é um som adicional; pode ser inocente ou estar associado a alguma alteração. Não vou chamar as classes de coração saudável e doente. No dataset, o rótulo é do grupo, não de cada trecho de três segundos. Este desenho foi criado apenas para explicar, não é uma gravação nem uma segmentação de paciente.</a:t>
            </a:r>
          </a:p>
          <a:p xmlns:a="http://schemas.openxmlformats.org/drawingml/2006/main">
            <a:r>
              <a:t/>
            </a:r>
          </a:p>
          <a:p xmlns:a="http://schemas.openxmlformats.org/drawingml/2006/main">
            <a:r>
              <a:t>Fontes: AHA Heart Murmurs https://www.heart.org/en/health-topics/heart-murmurs; CirCor 1.0.3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 + demonstração</a:t>
            </a:r>
          </a:p>
          <a:p xmlns:a="http://schemas.openxmlformats.org/drawingml/2006/main">
            <a:r>
              <a:t/>
            </a:r>
          </a:p>
          <a:p xmlns:a="http://schemas.openxmlformats.org/drawingml/2006/main">
            <a:r>
              <a:t>Neste ponto eu abro o painel e reproduzo os áudios 1 e 2. Primeiro peço que a turma apenas ouça. Depois mostro a inference. Não apresento minha própria escuta como confirmação clínica. Foram escolhidos seis grupos de validation por identificador, antes de ver os scores, sem selecionar os melhores acertos. Os WAVs estão no pacote para usar sem depender da internet.</a:t>
            </a:r>
          </a:p>
          <a:p xmlns:a="http://schemas.openxmlformats.org/drawingml/2006/main">
            <a:r>
              <a:t/>
            </a:r>
          </a:p>
          <a:p xmlns:a="http://schemas.openxmlformats.org/drawingml/2006/main">
            <a:r>
              <a:t>Fontes: audio-catalog.json; licença ODC-By, CirCor 1.0.3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Se a mesma pessoa aparecer no training e no test, a rede pode reconhecer características dessa pessoa e o resultado parecer melhor do que é. Agrupei identidades vinculadas e duplicatas antes do split. As windows de um grupo ficam juntas. Usei training para ajustar a rede, validation para escolher o checkpoint e o threshold, e test para a avaliação final. Os vínculos conhecidos foram preservados; vínculos não anotados continuam sendo uma limitação.</a:t>
            </a:r>
          </a:p>
          <a:p xmlns:a="http://schemas.openxmlformats.org/drawingml/2006/main">
            <a:r>
              <a:t/>
            </a:r>
          </a:p>
          <a:p xmlns:a="http://schemas.openxmlformats.org/drawingml/2006/main">
            <a:r>
              <a:t>Fontes: Artigo main.tex e relatórios congelados de CirCor 1.0.3; https://github.com/Lawtrel/bitdoglab-heart-tinyml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A rede não escuta como nós. Primeiro represento o som por samples. A waveform mostra a amplitude no tempo. No MFE, cada linha corresponde a uma Mel band, cada coluna a um frame e a cor representa log-energy. É uma forma de organizar padrões do áudio para a CNN. O gráfico é do mesmo exemplo que podemos ouvir.</a:t>
            </a:r>
          </a:p>
          <a:p xmlns:a="http://schemas.openxmlformats.org/drawingml/2006/main">
            <a:r>
              <a:t/>
            </a:r>
          </a:p>
          <a:p xmlns:a="http://schemas.openxmlformats.org/drawingml/2006/main">
            <a:r>
              <a:t>Fontes: pcg/features.py; exemplo 49627_AV,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São três segundos a 4 kHz. Isso dá 12 mil samples, ocupando 24 mil bytes em PCM16. Divido a window em frames de 128 samples com hop de 64. Sem centered padding, a fórmula produz 186 frames. Cada frame terá 24 features. São 4.464 valores na entrada da rede. O guia mostra as fórmulas completas.</a:t>
            </a:r>
          </a:p>
          <a:p xmlns:a="http://schemas.openxmlformats.org/drawingml/2006/main">
            <a:r>
              <a:t/>
            </a:r>
          </a:p>
          <a:p xmlns:a="http://schemas.openxmlformats.org/drawingml/2006/main">
            <a:r>
              <a:t>Fontes: signal.py; frontend_config.h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Depois de remover a componente DC, aplico uma Hann window e a FFT. Calculo o power spectrum sem duplicar os bins positivos. Cada filtro triangular soma a energia de uma região; depois aplico log e normalization. Os coeficientes de normalization foram aprendidos só no training. Se eu usasse o test para ajustar essas estatísticas, haveria leakage.</a:t>
            </a:r>
          </a:p>
          <a:p xmlns:a="http://schemas.openxmlformats.org/drawingml/2006/main">
            <a:r>
              <a:t/>
            </a:r>
          </a:p>
          <a:p xmlns:a="http://schemas.openxmlformats.org/drawingml/2006/main">
            <a:r>
              <a:t>Fontes: signal.py; guia matemático, equações 1 a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Uma Conv2D aprende filtros locais do MFE. Depois de cada Conv2D, há ReLU e MaxPool. Global Average Pooling resume os canais e Dense produz dois logits. A Softmax transforma esses logits em scores. Incluindo bias, a primeira camada tem 80 parâmetros; a segunda 1.168; a saída 34. O total é 1.282. Não fiz architecture search para provar que essa era a melhor rede possível.</a:t>
            </a:r>
          </a:p>
          <a:p xmlns:a="http://schemas.openxmlformats.org/drawingml/2006/main">
            <a:r>
              <a:t/>
            </a:r>
          </a:p>
          <a:p xmlns:a="http://schemas.openxmlformats.org/drawingml/2006/main">
            <a:r>
              <a:t>Fontes: research/pcg/learning.py build_model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Estes são os CSVs salvos no training real. A loss é weighted cross-entropy, com pesos que equilibram classes e a contribuição de cada grupo. Usei Adam, learning rate 0,001 e batch size 32. Treinei três seeds. Early stopping interrompia após dez épocas sem melhora estrita do F1 em validation. Escolhi seed 43, epoch 66. As oscilações não são resultados de test.</a:t>
            </a:r>
          </a:p>
          <a:p xmlns:a="http://schemas.openxmlformats.org/drawingml/2006/main">
            <a:r>
              <a:t/>
            </a:r>
          </a:p>
          <a:p xmlns:a="http://schemas.openxmlformats.org/drawingml/2006/main">
            <a:r>
              <a:t>Fontes: model/seed_42/history.csv; seed_43/history.csv; seed_44/history.csv; training.json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INT8 é um signed integer de oito bits. Em vez de guardar qualquer número real com Float32, represento uma faixa por 256 códigos. A scale diz quanto vale cada passo e o zero-point representa o zero real. Essa aproximação reduz armazenamento de tensores e permite integer kernels. Não significa que todo o programa virou inteiro: o MFE continua floating point.</a:t>
            </a:r>
          </a:p>
          <a:p xmlns:a="http://schemas.openxmlformats.org/drawingml/2006/main">
            <a:r>
              <a:t/>
            </a:r>
          </a:p>
          <a:p xmlns:a="http://schemas.openxmlformats.org/drawingml/2006/main">
            <a:r>
              <a:t>Fontes: Google AI Edge LiteRT 8-bit quantization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A scale mostrada foi lida do próprio arquivo TFLite. Para facilitar a conta, uso uma feature ilustrativa de valor um. O código INT8 é menos quinze; ao reconstruir, obtenho aproximadamente 0,9915. Essa pequena diferença é o custo da aproximação. Isso não é um score de paciente. Na saída Softmax, a scale é 1/256 e o zero-point é menos 128.</a:t>
            </a:r>
          </a:p>
          <a:p xmlns:a="http://schemas.openxmlformats.org/drawingml/2006/main">
            <a:r>
              <a:t/>
            </a:r>
          </a:p>
          <a:p xmlns:a="http://schemas.openxmlformats.org/drawingml/2006/main">
            <a:r>
              <a:t>Fontes: calculos-verificados.json; modelo INT8 congelado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Para o mesmo número de elementos, Float32 usa quatro bytes e INT8 usa um. Este gráfico calcula apenas o input tensor: 17.856 contra 4.464 bytes. O arquivo completo tem grafo e metadados; não posso multiplicar 5.264 por quatro para deduzir seu tamanho Float32. Também não posso prometer um speedup só por usar INT8. O novo benchmark mede isso em uma comparação de CPU com o mesmo resolver.</a:t>
            </a:r>
          </a:p>
          <a:p xmlns:a="http://schemas.openxmlformats.org/drawingml/2006/main">
            <a:r>
              <a:t/>
            </a:r>
          </a:p>
          <a:p xmlns:a="http://schemas.openxmlformats.org/drawingml/2006/main">
            <a:r>
              <a:t>Fontes: calculos-verificados.json; LiteRT quantization spec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O score de uma única window no painel não é a métrica científica do paciente. Primeiro faço mean das windows de uma recording. Depois tomo o maximum entre recordings do grupo. Comparo com o threshold escolhido em validation. Esse threshold foi congelado antes do test. Não mudei o limiar para deixar a demonstração mais bonita.</a:t>
            </a:r>
          </a:p>
          <a:p xmlns:a="http://schemas.openxmlformats.org/drawingml/2006/main">
            <a:r>
              <a:t/>
            </a:r>
          </a:p>
          <a:p xmlns:a="http://schemas.openxmlformats.org/drawingml/2006/main">
            <a:r>
              <a:t>Fontes: research/pcg/metrics.py aggregate e select_threshold; export.json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O experimento científico foi digital replay. O PC enviava uma window PCM16 à placa; ela calculava as features e executava o modelo. Registrei a resposta imediatamente. Um timeout interrompeu a primeira sessão depois de 1.293 windows e a coleta foi retomada com o mesmo protocolo. O teste só foi liberado quando as 6.512 respostas foram concluídas e auditadas. Microfone e OLED não entram nesses tempos.</a:t>
            </a:r>
          </a:p>
          <a:p xmlns:a="http://schemas.openxmlformats.org/drawingml/2006/main">
            <a:r>
              <a:t/>
            </a:r>
          </a:p>
          <a:p xmlns:a="http://schemas.openxmlformats.org/drawingml/2006/main">
            <a:r>
              <a:t>Fontes: board-test-circor-20261023/protocol.json, journal e relatórios; artigo Experimental Setup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Aqui estão as métricas do test completo, não dos seis exemplos. O resultado da placa foi F1 0,694 e Recall 70,8%. A implementação INT8 optimized no PC teve um falso positivo a mais que a reference e a placa. Float32 e placa têm os mesmos counts, mas isso não significa scores idênticos. A tarefa é binária e exclui Unknown; não comparei esses números diretamente com rankings de três classes.</a:t>
            </a:r>
          </a:p>
          <a:p xmlns:a="http://schemas.openxmlformats.org/drawingml/2006/main">
            <a:r>
              <a:t/>
            </a:r>
          </a:p>
          <a:p xmlns:a="http://schemas.openxmlformats.org/drawingml/2006/main">
            <a:r>
              <a:t>Fontes: Artigo main.tex e relatórios congelados de CirCor 1.0.3; https://github.com/Lawtrel/bitdoglab-heart-tinyml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Quero chamar atenção para os sete false negatives. São grupos rotulados com sopro que o modelo não identificou. Também houve oito false positives. Esses erros são parte do resultado, não detalhes que eu deveria esconder. É por isso que não trato o protótipo como um diagnóstico.</a:t>
            </a:r>
          </a:p>
          <a:p xmlns:a="http://schemas.openxmlformats.org/drawingml/2006/main">
            <a:r>
              <a:t/>
            </a:r>
          </a:p>
          <a:p xmlns:a="http://schemas.openxmlformats.org/drawingml/2006/main">
            <a:r>
              <a:t>Fontes: int8_rp2040_metrics.json; patient 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Recall pergunta quantos positivos a rede encontrou: 17 de 24. Precision é 17 de 25 previsões positivas, ou 68%. F1 equilibra Precision e Recall: 34 dividido por 49. Accuracy divide todos os acertos pelos 122 grupos. Como há 98 negativos, um modelo que nunca detecta sopro já teria 80,3% de Accuracy. Por isso o F1 e o Recall são importantes. O IC95% de F1 foi 0,526 a 0,829, mostrando incerteza grande.</a:t>
            </a:r>
          </a:p>
          <a:p xmlns:a="http://schemas.openxmlformats.org/drawingml/2006/main">
            <a:r>
              <a:t/>
            </a:r>
          </a:p>
          <a:p xmlns:a="http://schemas.openxmlformats.org/drawingml/2006/main">
            <a:r>
              <a:t>Fontes: Relatórios do teste completo; patient bootstrap 2.000 repetições, seed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O modelo e os dados são os mesmos. É desejável que a classe final seja preservada ao mudar de máquina. A diferença de hardware aparece principalmente no custo para executar. Mesmo com as mesmas decisões por grupo, houve 86 windows com feature CRC diferente e 160 com output score diferente contra reference. A diferença máxima de score foi 0,0078125. Não declarei equivalência bit a bit.</a:t>
            </a:r>
          </a:p>
          <a:p xmlns:a="http://schemas.openxmlformats.org/drawingml/2006/main">
            <a:r>
              <a:t/>
            </a:r>
          </a:p>
          <a:p xmlns:a="http://schemas.openxmlformats.org/drawingml/2006/main">
            <a:r>
              <a:t>Fontes: Relatórios e auditoria do teste completo; não são três trials independentes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Estas medidas antigas usam as mesmas 100 windows de validation. O PC executou na CPU com uma thread; a RTX não aparece nesta tabela. Na placa, feature extraction consumiu mais tempo que a inference. Há implementações diferentes de FFT e runtime, e as medições não foram simultâneas. USB, reprodução, aquisição e OLED foram excluídos. Não interpreto a diferença como efeito isolado de quantization.</a:t>
            </a:r>
          </a:p>
          <a:p xmlns:a="http://schemas.openxmlformats.org/drawingml/2006/main">
            <a:r>
              <a:t/>
            </a:r>
          </a:p>
          <a:p xmlns:a="http://schemas.openxmlformats.org/drawingml/2006/main">
            <a:r>
              <a:t>Fontes: pc_validation_benchmark.json e board-validation-20261023-114223/timings.csv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Agora há medidas reais de RTX inference. Usei as mesmas 100 windows, dez warm-up calls e três repetições. Float32 CPU/RTX usa TensorFlow e output.numpy para sincronizar; os tempos incluem dispatch e readback. Float32 e INT8 reference usam TFLite 2.21 e uma thread. A placa usa timestamps de MFE e Invoke do firmware V3 a 133 MHz. Os escopos não são perfeitamente idênticos e a ordem dos modos foi fixa; não trato isto como isolamento térmico de hardware. O MFE do modo RTX continua na CPU.</a:t>
            </a:r>
          </a:p>
          <a:p xmlns:a="http://schemas.openxmlformats.org/drawingml/2006/main">
            <a:r>
              <a:t/>
            </a:r>
          </a:p>
          <a:p xmlns:a="http://schemas.openxmlformats.org/drawingml/2006/main">
            <a:r>
              <a:t>Fontes: benchmark-summary.json; fresh-20261027-111652; auditoria de hashes e 300 respostas por modo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Na sessão medida, a mediana de CPU foi 0,661 ms e a de RTX 0,768 ms. As previsões dos dois modos foram quase iguais: diferença máxima de score de cerca de 0,000000268. Para uma rede tão pequena com batch size um, o custo de dispatch e sincronização é uma explicação possível, mas não foi isolado por este protocolo. Não concluo que a GPU seja pior em geral. Training e throughput de batches maiores são outras perguntas.</a:t>
            </a:r>
          </a:p>
          <a:p xmlns:a="http://schemas.openxmlformats.org/drawingml/2006/main">
            <a:r>
              <a:t/>
            </a:r>
          </a:p>
          <a:p xmlns:a="http://schemas.openxmlformats.org/drawingml/2006/main">
            <a:r>
              <a:t>Fontes: cpu_float.json e gpu_float.json; benchmark-summary.json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A comparação de arquivo agora é entre dois TFLite da mesma arquitetura. Float32 tem 7.984 bytes e INT8 5.264: redução de 34,1%, diferente da conta teórica de quatro vezes para cada tensor. No reference kernel da CPU, INT8 não foi mais rápido. A diferença média absoluta de score foi 0,01454 e a máxima 0,05866. Duas das cem windows mudaram de classe usando o mesmo threshold INT8. Esse é um diagnóstico numérico em validation, não uma nova accuracy clínica. A placa e o CPU INT8 tiveram os mesmos scores nas cem windows.</a:t>
            </a:r>
          </a:p>
          <a:p xmlns:a="http://schemas.openxmlformats.org/drawingml/2006/main">
            <a:r>
              <a:t/>
            </a:r>
          </a:p>
          <a:p xmlns:a="http://schemas.openxmlformats.org/drawingml/2006/main">
            <a:r>
              <a:t>Fontes: cpu_float_lite.json, cpu_int8.json, board_int8.json; Float32 conversion check max error 4,77e-7; benchmark-summary.json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Não basta dizer que o modelo tem cinco kilobytes. O programa também precisa de buffers de áudio, features, activations e runtime. A imagem flash científica ocupou 189.408 bytes. O span estático principal de SRAM foi 186.224 bytes, incluindo a reserva da arena. Isso não é peak RAM. O uso máximo da pilha não foi instrumentado. São medidas do firmware científico original, não de qualquer nova demo recompilada.</a:t>
            </a:r>
          </a:p>
          <a:p xmlns:a="http://schemas.openxmlformats.org/drawingml/2006/main">
            <a:r>
              <a:t/>
            </a:r>
          </a:p>
          <a:p xmlns:a="http://schemas.openxmlformats.org/drawingml/2006/main">
            <a:r>
              <a:t>Fontes: Auditoria ELF/UF2 e relatório de recursos do firmware científico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2 min + demonstração</a:t>
            </a:r>
          </a:p>
          <a:p xmlns:a="http://schemas.openxmlformats.org/drawingml/2006/main">
            <a:r>
              <a:t/>
            </a:r>
          </a:p>
          <a:p xmlns:a="http://schemas.openxmlformats.org/drawingml/2006/main">
            <a:r>
              <a:t>Eu abro o painel pelo START_WINDOWS e escolho um exemplo. Ouço, mostro o MFE, clico em Analisar no PC e explico o threshold. Com firmware compatível, conecto a USB e comparo exatamente o mesmo PCM. O OLED e os bipes comunicam a previsão da janela. Se a placa não responder, mostro os relatórios preservados e explico a falha; não simulo uma medição. O microfone acrescenta acústica e ruído, e ainda não foi validado.</a:t>
            </a:r>
          </a:p>
          <a:p xmlns:a="http://schemas.openxmlformats.org/drawingml/2006/main">
            <a:r>
              <a:t/>
            </a:r>
          </a:p>
          <a:p xmlns:a="http://schemas.openxmlformats.org/drawingml/2006/main">
            <a:r>
              <a:t>Fontes: README, docs/firmware.md; audio-catalog.json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 min</a:t>
            </a:r>
          </a:p>
          <a:p xmlns:a="http://schemas.openxmlformats.org/drawingml/2006/main">
            <a:r>
              <a:t/>
            </a:r>
          </a:p>
          <a:p xmlns:a="http://schemas.openxmlformats.org/drawingml/2006/main">
            <a:r>
              <a:t>O resultado principal é uma execução completa e mensurada no RP2040, com limites explícitos. Eu compreendi o caminho do som ao modelo e pude comparar implementações. A rede perdeu sete positivos e tem incerteza ampla. Microfone, streaming, robustez e peak RAM são trabalhos futuros. O novo benchmark mostrou diferença de tempo e tamanho e também diferenças numéricas. Ele não transforma o protótipo em um diagnóstico.</a:t>
            </a:r>
          </a:p>
          <a:p xmlns:a="http://schemas.openxmlformats.org/drawingml/2006/main">
            <a:r>
              <a:t/>
            </a:r>
          </a:p>
          <a:p xmlns:a="http://schemas.openxmlformats.org/drawingml/2006/main">
            <a:r>
              <a:t>Fontes: Artigo e guia matemático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Consulta após a fala</a:t>
            </a:r>
          </a:p>
          <a:p xmlns:a="http://schemas.openxmlformats.org/drawingml/2006/main">
            <a:r>
              <a:t/>
            </a:r>
          </a:p>
          <a:p xmlns:a="http://schemas.openxmlformats.org/drawingml/2006/main">
            <a:r>
              <a:t>As referências completas e as contas estão no guia. O repositório reúne código, firmware, fontes do artigo em inglês e português e relatórios curados. Os CSVs e journals científicos originais foram preservados. Não confundir a execução do benchmark com um novo treinamento. Fontes consultadas em 27/10/2026.</a:t>
            </a:r>
          </a:p>
          <a:p xmlns:a="http://schemas.openxmlformats.org/drawingml/2006/main">
            <a:r>
              <a:t/>
            </a:r>
          </a:p>
          <a:p xmlns:a="http://schemas.openxmlformats.org/drawingml/2006/main">
            <a:r>
              <a:t>Fontes: https://physionet.org/content/circor-heart-sound/1.0.3/; https://doi.org/10.1109/JBHI.2021.3137048; https://doi.org/10.1371/journal.pdig.0000324; https://proceedings.mlsys.org/paper_files/paper/2021/hash/6c44dc73014d66ba49b28d483a8f8b0d-Abstract.html; https://developers.google.com/edge/litert/conversion/tensorflow/quantization/quantization_spec; https://www.heart.org/en/health-topics/heart-murmurs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3a1b6702a54d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f04694cf5b483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8781ccc3ad4d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af38db9017a41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13165356d534d1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414198417974b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F29976-79AE-407D-96CC-79B8301BF2A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E081F2-0F20-4F09-B5DE-28EF196FA7B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14D1AED-C2A4-4762-AC6A-D21E6A84A3B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2D9836-5A50-4727-822C-DF1301E36C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488DE33-188E-4CBC-BF28-010E2B872AE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30F6B8-A3C7-41F8-AAC2-CF7695DCFB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F3AB58-93A3-4894-AF05-308459E3BB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B2B21F5-F417-4468-BE58-B21D8BC00CD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843F05-97FD-4B5D-B8B6-3974854664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1BC87F-E901-4C70-A8F7-54B6251357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423bbe45b04dfa" /><Relationship Type="http://schemas.openxmlformats.org/officeDocument/2006/relationships/slideLayout" Target="/ppt/slideLayouts/slideLayout1.xml" Id="Re731e3ffa450481d" /><Relationship Type="http://schemas.openxmlformats.org/officeDocument/2006/relationships/slideLayout" Target="/ppt/slideLayouts/slideLayout2.xml" Id="R3698eac363ee4ea1" /><Relationship Type="http://schemas.openxmlformats.org/officeDocument/2006/relationships/slideLayout" Target="/ppt/slideLayouts/slideLayout3.xml" Id="Rd8aaa1ebc28046af" /><Relationship Type="http://schemas.openxmlformats.org/officeDocument/2006/relationships/slideLayout" Target="/ppt/slideLayouts/slideLayout4.xml" Id="Rd047c72e88f24da4" /><Relationship Type="http://schemas.openxmlformats.org/officeDocument/2006/relationships/slideLayout" Target="/ppt/slideLayouts/slideLayout5.xml" Id="Rbf48f248b8dd4b4f" /><Relationship Type="http://schemas.openxmlformats.org/officeDocument/2006/relationships/slideLayout" Target="/ppt/slideLayouts/slideLayout6.xml" Id="Rbaf11879be814b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31e3ffa450481d"/>
    <p:sldLayoutId xmlns:r="http://schemas.openxmlformats.org/officeDocument/2006/relationships" id="2147483650" r:id="R3698eac363ee4ea1"/>
    <p:sldLayoutId xmlns:r="http://schemas.openxmlformats.org/officeDocument/2006/relationships" id="2147483651" r:id="Rd8aaa1ebc28046af"/>
    <p:sldLayoutId xmlns:r="http://schemas.openxmlformats.org/officeDocument/2006/relationships" id="2147483652" r:id="Rd047c72e88f24da4"/>
    <p:sldLayoutId xmlns:r="http://schemas.openxmlformats.org/officeDocument/2006/relationships" id="2147483653" r:id="Rbf48f248b8dd4b4f"/>
    <p:sldLayoutId xmlns:r="http://schemas.openxmlformats.org/officeDocument/2006/relationships" id="2147483654" r:id="Rbaf11879be814b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ce1148538b04cc6" /><Relationship Type="http://schemas.openxmlformats.org/officeDocument/2006/relationships/notesSlide" Target="/ppt/notesSlides/notesSlide1.xml" Id="R70fd241eea464f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1188a5bd2804cd1" /><Relationship Type="http://schemas.openxmlformats.org/officeDocument/2006/relationships/notesSlide" Target="/ppt/notesSlides/notesSlide2.xml" Id="Rc33b6dbbd7ff42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333c3c599434e91" /><Relationship Type="http://schemas.openxmlformats.org/officeDocument/2006/relationships/notesSlide" Target="/ppt/notesSlides/notesSlide3.xml" Id="R486b47c66fc744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59927fab9a64885" /><Relationship Type="http://schemas.openxmlformats.org/officeDocument/2006/relationships/image" Target="/ppt/media/image.png" Id="R54e50094f1e64c7f" /><Relationship Type="http://schemas.openxmlformats.org/officeDocument/2006/relationships/notesSlide" Target="/ppt/notesSlides/notesSlide4.xml" Id="R8d9b7c13672f40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b5cdf0d5f6f4faf" /><Relationship Type="http://schemas.openxmlformats.org/officeDocument/2006/relationships/notesSlide" Target="/ppt/notesSlides/notesSlide5.xml" Id="R8434a47f9d2b4d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7f1e37900664a12" /><Relationship Type="http://schemas.openxmlformats.org/officeDocument/2006/relationships/notesSlide" Target="/ppt/notesSlides/notesSlide6.xml" Id="R8dd031010a3d45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983c2e569324a6c" /><Relationship Type="http://schemas.openxmlformats.org/officeDocument/2006/relationships/image" Target="/ppt/media/image2.png" Id="R248eca5770af4871" /><Relationship Type="http://schemas.openxmlformats.org/officeDocument/2006/relationships/image" Target="/ppt/media/image3.png" Id="R4c4a6abecef7402d" /><Relationship Type="http://schemas.openxmlformats.org/officeDocument/2006/relationships/notesSlide" Target="/ppt/notesSlides/notesSlide7.xml" Id="R5c4112f00d144d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13ce2161f704181" /><Relationship Type="http://schemas.openxmlformats.org/officeDocument/2006/relationships/notesSlide" Target="/ppt/notesSlides/notesSlide8.xml" Id="Ra4335c79e51544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0754aee826b4c72" /><Relationship Type="http://schemas.openxmlformats.org/officeDocument/2006/relationships/notesSlide" Target="/ppt/notesSlides/notesSlide9.xml" Id="R15a2387e80f04d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0aeae48d09e4794" /><Relationship Type="http://schemas.openxmlformats.org/officeDocument/2006/relationships/notesSlide" Target="/ppt/notesSlides/notesSlide10.xml" Id="Rc702913ee49543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e986b7126e74fd2" /><Relationship Type="http://schemas.openxmlformats.org/officeDocument/2006/relationships/image" Target="/ppt/media/image4.png" Id="R3180233488324e0a" /><Relationship Type="http://schemas.openxmlformats.org/officeDocument/2006/relationships/notesSlide" Target="/ppt/notesSlides/notesSlide11.xml" Id="Rfabd1891927a48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bae55fc17614a80" /><Relationship Type="http://schemas.openxmlformats.org/officeDocument/2006/relationships/notesSlide" Target="/ppt/notesSlides/notesSlide12.xml" Id="R6d30c0871b604d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8f0ccd5af0b4aaa" /><Relationship Type="http://schemas.openxmlformats.org/officeDocument/2006/relationships/notesSlide" Target="/ppt/notesSlides/notesSlide13.xml" Id="Ree93d660146149f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a890144fd964a0e" /><Relationship Type="http://schemas.openxmlformats.org/officeDocument/2006/relationships/chart" Target="/ppt/slides/charts/chart1.xml" Id="R45691990e2cd4f9a" /><Relationship Type="http://schemas.openxmlformats.org/officeDocument/2006/relationships/notesSlide" Target="/ppt/notesSlides/notesSlide14.xml" Id="R33f227c12382474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1f2d843de9f4695" /><Relationship Type="http://schemas.openxmlformats.org/officeDocument/2006/relationships/notesSlide" Target="/ppt/notesSlides/notesSlide15.xml" Id="R034fb9160ac447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1a650b34c7f4b68" /><Relationship Type="http://schemas.openxmlformats.org/officeDocument/2006/relationships/notesSlide" Target="/ppt/notesSlides/notesSlide16.xml" Id="R6bef5117ae95493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711df5bb6544dc2" /><Relationship Type="http://schemas.openxmlformats.org/officeDocument/2006/relationships/notesSlide" Target="/ppt/notesSlides/notesSlide17.xml" Id="R07515e12aee0470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482fce05fae4e46" /><Relationship Type="http://schemas.openxmlformats.org/officeDocument/2006/relationships/notesSlide" Target="/ppt/notesSlides/notesSlide18.xml" Id="R2b223424845c4ec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334464c3bf94b9e" /><Relationship Type="http://schemas.openxmlformats.org/officeDocument/2006/relationships/notesSlide" Target="/ppt/notesSlides/notesSlide19.xml" Id="R905881d29f284da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e2752a12f8744d4" /><Relationship Type="http://schemas.openxmlformats.org/officeDocument/2006/relationships/chart" Target="/ppt/slides/charts/chart2.xml" Id="Rcbb2ca1a36f743f4" /><Relationship Type="http://schemas.openxmlformats.org/officeDocument/2006/relationships/notesSlide" Target="/ppt/notesSlides/notesSlide20.xml" Id="Rd0295ab8cbaa47b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64e80618257419c" /><Relationship Type="http://schemas.openxmlformats.org/officeDocument/2006/relationships/notesSlide" Target="/ppt/notesSlides/notesSlide21.xml" Id="R1dc84af169fe420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c003b1d258c4ffe" /><Relationship Type="http://schemas.openxmlformats.org/officeDocument/2006/relationships/notesSlide" Target="/ppt/notesSlides/notesSlide22.xml" Id="R66f49be25ca54da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76db6cf7ff34386" /><Relationship Type="http://schemas.openxmlformats.org/officeDocument/2006/relationships/chart" Target="/ppt/slides/charts/chart3.xml" Id="R1bbc324d53c64849" /><Relationship Type="http://schemas.openxmlformats.org/officeDocument/2006/relationships/notesSlide" Target="/ppt/notesSlides/notesSlide23.xml" Id="Rb7232902a6aa48f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695069652774e44" /><Relationship Type="http://schemas.openxmlformats.org/officeDocument/2006/relationships/chart" Target="/ppt/slides/charts/chart4.xml" Id="Rd5b8e0cf6a6e4b36" /><Relationship Type="http://schemas.openxmlformats.org/officeDocument/2006/relationships/notesSlide" Target="/ppt/notesSlides/notesSlide24.xml" Id="R58cc7be572e6438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a83f31b86854fb8" /><Relationship Type="http://schemas.openxmlformats.org/officeDocument/2006/relationships/notesSlide" Target="/ppt/notesSlides/notesSlide25.xml" Id="R1e110823c3af49d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4b29dbdd3d24909" /><Relationship Type="http://schemas.openxmlformats.org/officeDocument/2006/relationships/notesSlide" Target="/ppt/notesSlides/notesSlide26.xml" Id="Ra7b1114a932f42b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fc272c452554076" /><Relationship Type="http://schemas.openxmlformats.org/officeDocument/2006/relationships/notesSlide" Target="/ppt/notesSlides/notesSlide27.xml" Id="R8ec607a58f414c9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cf6870a973d44f3" /><Relationship Type="http://schemas.openxmlformats.org/officeDocument/2006/relationships/notesSlide" Target="/ppt/notesSlides/notesSlide28.xml" Id="Ra28e7f04728c4ae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Bytes</c:v>
          </c:tx>
          <c:spPr>
            <a:solidFill xmlns:a="http://schemas.openxmlformats.org/drawingml/2006/main">
              <a:srgbClr val="14766B"/>
            </a:solidFill>
          </c:spPr>
          <c:invertIfNegative val="0"/>
          <c:cat>
            <c:strRef>
              <c:f>'Chart Data'!$A$2:$A$3</c:f>
              <c:strCache>
                <c:ptCount val="2"/>
                <c:pt idx="0">
                  <c:v>Input Float32</c:v>
                </c:pt>
                <c:pt idx="1">
                  <c:v>Input INT8</c:v>
                </c:pt>
              </c:strCache>
            </c:strRef>
          </c:cat>
          <c:val>
            <c:numRef>
              <c:f>'Chart Data'!$B$2:$B$3</c:f>
              <c:numCache>
                <c:formatCode>0</c:formatCode>
                <c:ptCount val="2"/>
                <c:pt idx="0">
                  <c:v>17856</c:v>
                </c:pt>
                <c:pt idx="1">
                  <c:v>4464</c:v>
                </c:pt>
              </c:numCache>
            </c:numRef>
          </c:val>
        </c:ser>
        <c:dLbls>
          <c:numFmt formatCode="0&quot; B&quot;" sourceLinked="0"/>
          <c:txPr>
            <a:bodyPr xmlns:a="http://schemas.openxmlformats.org/drawingml/2006/main" anchorCtr="1"/>
            <a:lstStyle xmlns:a="http://schemas.openxmlformats.org/drawingml/2006/main"/>
            <a:p xmlns:a="http://schemas.openxmlformats.org/drawingml/2006/main">
              <a:pPr>
                <a:defRPr sz="1650">
                  <a:solidFill>
                    <a:srgbClr val="173D46"/>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BD5"/>
            </a:solidFill>
          </a:ln>
        </c:spPr>
        <c:txPr>
          <a:bodyPr xmlns:a="http://schemas.openxmlformats.org/drawingml/2006/main" anchorCtr="1"/>
          <a:lstStyle xmlns:a="http://schemas.openxmlformats.org/drawingml/2006/main"/>
          <a:p xmlns:a="http://schemas.openxmlformats.org/drawingml/2006/main">
            <a:pPr>
              <a:defRPr sz="1500">
                <a:solidFill>
                  <a:srgbClr val="173D46"/>
                </a:solidFill>
                <a:latin typeface="Arial"/>
                <a:ea typeface="Arial"/>
                <a:cs typeface="Arial"/>
              </a:defRPr>
            </a:pPr>
          </a:p>
        </c:txPr>
        <c:crossAx val="48672768"/>
      </c:catAx>
      <c:valAx>
        <c:axId val="48672768"/>
        <c:scaling>
          <c:orientation val="minMax"/>
          <c:max val="20000"/>
          <c:min val="0"/>
        </c:scaling>
        <c:delete val="0"/>
        <c:axPos val="l"/>
        <c:majorGridlines>
          <c:spPr>
            <a:ln xmlns:a="http://schemas.openxmlformats.org/drawingml/2006/main" w="9525">
              <a:solidFill>
                <a:srgbClr val="CEDBD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B70"/>
                </a:solidFill>
                <a:latin typeface="Arial"/>
                <a:ea typeface="Arial"/>
                <a:cs typeface="Arial"/>
              </a:defRPr>
            </a:pPr>
          </a:p>
        </c:txPr>
        <c:crossAx val="48650112"/>
        <c:crossBetween val="between"/>
      </c:valAx>
      <c:spPr>
        <a:solidFill xmlns:a="http://schemas.openxmlformats.org/drawingml/2006/main">
          <a:srgbClr val="F4F6F3"/>
        </a:solidFill>
      </c:spPr>
    </c:plotArea>
    <c:plotVisOnly val="1"/>
  </c:chart>
  <c:spPr>
    <a:solidFill xmlns:a="http://schemas.openxmlformats.org/drawingml/2006/main">
      <a:srgbClr val="F4F6F3"/>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F1</c:v>
          </c:tx>
          <c:spPr>
            <a:solidFill xmlns:a="http://schemas.openxmlformats.org/drawingml/2006/main">
              <a:srgbClr val="14766B"/>
            </a:solidFill>
          </c:spPr>
          <c:invertIfNegative val="0"/>
          <c:cat>
            <c:strRef>
              <c:f>'Chart Data'!$A$2:$A$4</c:f>
              <c:strCache>
                <c:ptCount val="3"/>
                <c:pt idx="0">
                  <c:v>Float32 PC</c:v>
                </c:pt>
                <c:pt idx="1">
                  <c:v>INT8 reference</c:v>
                </c:pt>
                <c:pt idx="2">
                  <c:v>INT8 RP2040</c:v>
                </c:pt>
              </c:strCache>
            </c:strRef>
          </c:cat>
          <c:val>
            <c:numRef>
              <c:f>'Chart Data'!$B$2:$B$4</c:f>
              <c:numCache>
                <c:formatCode>0.000</c:formatCode>
                <c:ptCount val="3"/>
                <c:pt idx="0">
                  <c:v>0.693877551</c:v>
                </c:pt>
                <c:pt idx="1">
                  <c:v>0.693877551</c:v>
                </c:pt>
                <c:pt idx="2">
                  <c:v>0.693877551</c:v>
                </c:pt>
              </c:numCache>
            </c:numRef>
          </c:val>
        </c:ser>
        <c:dLbls>
          <c:numFmt formatCode="&quot;F1=&quot;0.000" sourceLinked="0"/>
          <c:txPr>
            <a:bodyPr xmlns:a="http://schemas.openxmlformats.org/drawingml/2006/main" anchorCtr="1"/>
            <a:lstStyle xmlns:a="http://schemas.openxmlformats.org/drawingml/2006/main"/>
            <a:p xmlns:a="http://schemas.openxmlformats.org/drawingml/2006/main">
              <a:pPr>
                <a:defRPr sz="1650">
                  <a:solidFill>
                    <a:srgbClr val="173D46"/>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BD5"/>
            </a:solidFill>
          </a:ln>
        </c:spPr>
        <c:txPr>
          <a:bodyPr xmlns:a="http://schemas.openxmlformats.org/drawingml/2006/main" anchorCtr="1"/>
          <a:lstStyle xmlns:a="http://schemas.openxmlformats.org/drawingml/2006/main"/>
          <a:p xmlns:a="http://schemas.openxmlformats.org/drawingml/2006/main">
            <a:pPr>
              <a:defRPr sz="1500">
                <a:solidFill>
                  <a:srgbClr val="173D4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CEDBD5"/>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B70"/>
                </a:solidFill>
                <a:latin typeface="Arial"/>
                <a:ea typeface="Arial"/>
                <a:cs typeface="Arial"/>
              </a:defRPr>
            </a:pPr>
          </a:p>
        </c:txPr>
        <c:crossAx val="48650112"/>
        <c:crossBetween val="between"/>
      </c:valAx>
      <c:spPr>
        <a:solidFill xmlns:a="http://schemas.openxmlformats.org/drawingml/2006/main">
          <a:srgbClr val="F4F6F3"/>
        </a:solidFill>
      </c:spPr>
    </c:plotArea>
    <c:plotVisOnly val="1"/>
  </c:chart>
  <c:spPr>
    <a:solidFill xmlns:a="http://schemas.openxmlformats.org/drawingml/2006/main">
      <a:srgbClr val="F4F6F3"/>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varyColors val="0"/>
        <c:ser>
          <c:idx val="0"/>
          <c:order val="0"/>
          <c:tx>
            <c:v>Inference (ms)</c:v>
          </c:tx>
          <c:spPr>
            <a:solidFill xmlns:a="http://schemas.openxmlformats.org/drawingml/2006/main">
              <a:srgbClr val="14766B"/>
            </a:solidFill>
          </c:spPr>
          <c:invertIfNegative val="0"/>
          <c:cat>
            <c:strRef>
              <c:f>'Chart Data'!$A$2:$A$3</c:f>
              <c:strCache>
                <c:ptCount val="2"/>
                <c:pt idx="0">
                  <c:v>CPU Float32</c:v>
                </c:pt>
                <c:pt idx="1">
                  <c:v>RTX Float32</c:v>
                </c:pt>
              </c:strCache>
            </c:strRef>
          </c:cat>
          <c:val>
            <c:numRef>
              <c:f>'Chart Data'!$B$2:$B$3</c:f>
              <c:numCache>
                <c:formatCode>0.000</c:formatCode>
                <c:ptCount val="2"/>
                <c:pt idx="0">
                  <c:v>0.660848</c:v>
                </c:pt>
                <c:pt idx="1">
                  <c:v>0.768254</c:v>
                </c:pt>
              </c:numCache>
            </c:numRef>
          </c:val>
        </c:ser>
        <c:dLbls>
          <c:numFmt formatCode="0.000&quot; ms&quot;" sourceLinked="0"/>
          <c:txPr>
            <a:bodyPr xmlns:a="http://schemas.openxmlformats.org/drawingml/2006/main" anchorCtr="1"/>
            <a:lstStyle xmlns:a="http://schemas.openxmlformats.org/drawingml/2006/main"/>
            <a:p xmlns:a="http://schemas.openxmlformats.org/drawingml/2006/main">
              <a:pPr>
                <a:defRPr sz="1650">
                  <a:solidFill>
                    <a:srgbClr val="173D46"/>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BD5"/>
            </a:solidFill>
          </a:ln>
        </c:spPr>
        <c:txPr>
          <a:bodyPr xmlns:a="http://schemas.openxmlformats.org/drawingml/2006/main" anchorCtr="1"/>
          <a:lstStyle xmlns:a="http://schemas.openxmlformats.org/drawingml/2006/main"/>
          <a:p xmlns:a="http://schemas.openxmlformats.org/drawingml/2006/main">
            <a:pPr>
              <a:defRPr sz="1500">
                <a:solidFill>
                  <a:srgbClr val="173D4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CEDBD5"/>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B70"/>
                </a:solidFill>
                <a:latin typeface="Arial"/>
                <a:ea typeface="Arial"/>
                <a:cs typeface="Arial"/>
              </a:defRPr>
            </a:pPr>
          </a:p>
        </c:txPr>
        <c:crossAx val="48650112"/>
        <c:crossBetween val="between"/>
      </c:valAx>
      <c:spPr>
        <a:solidFill xmlns:a="http://schemas.openxmlformats.org/drawingml/2006/main">
          <a:srgbClr val="F4F6F3"/>
        </a:solidFill>
      </c:spPr>
    </c:plotArea>
    <c:plotVisOnly val="1"/>
  </c:chart>
  <c:spPr>
    <a:solidFill xmlns:a="http://schemas.openxmlformats.org/drawingml/2006/main">
      <a:srgbClr val="F4F6F3"/>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varyColors val="0"/>
        <c:ser>
          <c:idx val="0"/>
          <c:order val="0"/>
          <c:tx>
            <c:v>Bytes</c:v>
          </c:tx>
          <c:spPr>
            <a:solidFill xmlns:a="http://schemas.openxmlformats.org/drawingml/2006/main">
              <a:srgbClr val="14766B"/>
            </a:solidFill>
          </c:spPr>
          <c:invertIfNegative val="0"/>
          <c:cat>
            <c:strRef>
              <c:f>'Chart Data'!$A$2:$A$3</c:f>
              <c:strCache>
                <c:ptCount val="2"/>
                <c:pt idx="0">
                  <c:v>TFLite Float32</c:v>
                </c:pt>
                <c:pt idx="1">
                  <c:v>TFLite INT8</c:v>
                </c:pt>
              </c:strCache>
            </c:strRef>
          </c:cat>
          <c:val>
            <c:numRef>
              <c:f>'Chart Data'!$B$2:$B$3</c:f>
              <c:numCache>
                <c:formatCode>0</c:formatCode>
                <c:ptCount val="2"/>
                <c:pt idx="0">
                  <c:v>7984</c:v>
                </c:pt>
                <c:pt idx="1">
                  <c:v>5264</c:v>
                </c:pt>
              </c:numCache>
            </c:numRef>
          </c:val>
        </c:ser>
        <c:dLbls>
          <c:numFmt formatCode="0&quot; B&quot;" sourceLinked="0"/>
          <c:txPr>
            <a:bodyPr xmlns:a="http://schemas.openxmlformats.org/drawingml/2006/main" anchorCtr="1"/>
            <a:lstStyle xmlns:a="http://schemas.openxmlformats.org/drawingml/2006/main"/>
            <a:p xmlns:a="http://schemas.openxmlformats.org/drawingml/2006/main">
              <a:pPr>
                <a:defRPr sz="1650">
                  <a:solidFill>
                    <a:srgbClr val="173D46"/>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BD5"/>
            </a:solidFill>
          </a:ln>
        </c:spPr>
        <c:txPr>
          <a:bodyPr xmlns:a="http://schemas.openxmlformats.org/drawingml/2006/main" anchorCtr="1"/>
          <a:lstStyle xmlns:a="http://schemas.openxmlformats.org/drawingml/2006/main"/>
          <a:p xmlns:a="http://schemas.openxmlformats.org/drawingml/2006/main">
            <a:pPr>
              <a:defRPr sz="1500">
                <a:solidFill>
                  <a:srgbClr val="173D46"/>
                </a:solidFill>
                <a:latin typeface="Arial"/>
                <a:ea typeface="Arial"/>
                <a:cs typeface="Arial"/>
              </a:defRPr>
            </a:pPr>
          </a:p>
        </c:txPr>
        <c:crossAx val="48672768"/>
      </c:catAx>
      <c:valAx>
        <c:axId val="48672768"/>
        <c:scaling>
          <c:orientation val="minMax"/>
          <c:max val="10000"/>
          <c:min val="0"/>
        </c:scaling>
        <c:delete val="0"/>
        <c:axPos val="l"/>
        <c:majorGridlines>
          <c:spPr>
            <a:ln xmlns:a="http://schemas.openxmlformats.org/drawingml/2006/main" w="9525">
              <a:solidFill>
                <a:srgbClr val="CEDBD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B70"/>
                </a:solidFill>
                <a:latin typeface="Arial"/>
                <a:ea typeface="Arial"/>
                <a:cs typeface="Arial"/>
              </a:defRPr>
            </a:pPr>
          </a:p>
        </c:txPr>
        <c:crossAx val="48650112"/>
        <c:crossBetween val="between"/>
      </c:valAx>
      <c:spPr>
        <a:solidFill xmlns:a="http://schemas.openxmlformats.org/drawingml/2006/main">
          <a:srgbClr val="F4F6F3"/>
        </a:solidFill>
      </c:spPr>
    </c:plotArea>
    <c:plotVisOnly val="1"/>
  </c:chart>
  <c:spPr>
    <a:solidFill xmlns:a="http://schemas.openxmlformats.org/drawingml/2006/main">
      <a:srgbClr val="F4F6F3"/>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D4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B68350C-A9DC-448A-9B81-9C1B5162A864}"/>
              </a:ext>
            </a:extLst>
          </p:cNvPr>
          <p:cNvSpPr>
            <a:spLocks xmlns:a="http://schemas.openxmlformats.org/drawingml/2006/main" noGrp="1"/>
          </p:cNvSpPr>
          <p:nvPr/>
        </p:nvSpPr>
        <p:spPr>
          <a:xfrm xmlns:a="http://schemas.openxmlformats.org/drawingml/2006/main">
            <a:off x="619125" y="1047750"/>
            <a:ext cx="10096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FFFF"/>
                </a:solidFill>
                <a:latin typeface="Arial"/>
                <a:ea typeface="Arial"/>
                <a:cs typeface="Arial"/>
              </a:defRPr>
            </a:defPPr>
            <a:lvl1pPr>
              <a:defRPr sz="4800" b="1">
                <a:solidFill>
                  <a:srgbClr val="FFFFFF"/>
                </a:solidFill>
                <a:latin typeface="Arial"/>
                <a:ea typeface="Arial"/>
                <a:cs typeface="Arial"/>
              </a:defRPr>
            </a:lvl1pPr>
            <a:lvl2pPr>
              <a:defRPr sz="4800" b="1">
                <a:solidFill>
                  <a:srgbClr val="FFFFFF"/>
                </a:solidFill>
                <a:latin typeface="Arial"/>
                <a:ea typeface="Arial"/>
                <a:cs typeface="Arial"/>
              </a:defRPr>
            </a:lvl2pPr>
            <a:lvl3pPr>
              <a:defRPr sz="4800" b="1">
                <a:solidFill>
                  <a:srgbClr val="FFFFFF"/>
                </a:solidFill>
                <a:latin typeface="Arial"/>
                <a:ea typeface="Arial"/>
                <a:cs typeface="Arial"/>
              </a:defRPr>
            </a:lvl3pPr>
            <a:lvl4pPr>
              <a:defRPr sz="4800" b="1">
                <a:solidFill>
                  <a:srgbClr val="FFFFFF"/>
                </a:solidFill>
                <a:latin typeface="Arial"/>
                <a:ea typeface="Arial"/>
                <a:cs typeface="Arial"/>
              </a:defRPr>
            </a:lvl4pPr>
            <a:lvl5pPr>
              <a:defRPr sz="4800" b="1">
                <a:solidFill>
                  <a:srgbClr val="FFFFFF"/>
                </a:solidFill>
                <a:latin typeface="Arial"/>
                <a:ea typeface="Arial"/>
                <a:cs typeface="Arial"/>
              </a:defRPr>
            </a:lvl5pPr>
            <a:lvl6pPr>
              <a:defRPr sz="4800" b="1">
                <a:solidFill>
                  <a:srgbClr val="FFFFFF"/>
                </a:solidFill>
                <a:latin typeface="Arial"/>
                <a:ea typeface="Arial"/>
                <a:cs typeface="Arial"/>
              </a:defRPr>
            </a:lvl6pPr>
            <a:lvl7pPr>
              <a:defRPr sz="4800" b="1">
                <a:solidFill>
                  <a:srgbClr val="FFFFFF"/>
                </a:solidFill>
                <a:latin typeface="Arial"/>
                <a:ea typeface="Arial"/>
                <a:cs typeface="Arial"/>
              </a:defRPr>
            </a:lvl7pPr>
            <a:lvl8pPr>
              <a:defRPr sz="4800" b="1">
                <a:solidFill>
                  <a:srgbClr val="FFFFFF"/>
                </a:solidFill>
                <a:latin typeface="Arial"/>
                <a:ea typeface="Arial"/>
                <a:cs typeface="Arial"/>
              </a:defRPr>
            </a:lvl8pPr>
            <a:lvl9pPr>
              <a:defRPr sz="4800" b="1">
                <a:solidFill>
                  <a:srgbClr val="FFFFFF"/>
                </a:solidFill>
                <a:latin typeface="Arial"/>
                <a:ea typeface="Arial"/>
                <a:cs typeface="Arial"/>
              </a:defRPr>
            </a:lvl9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Uma rede neural</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dentro da BitDogLab</a:t>
            </a:r>
          </a:p>
        </p:txBody>
      </p:sp>
      <p:sp>
        <p:nvSpPr>
          <p:cNvPr id="3" name="">
            <a:extLst xmlns:a="http://schemas.openxmlformats.org/drawingml/2006/main">
              <a:ext uri="{FF2B5EF4-FFF2-40B4-BE49-F238E27FC236}">
                <a16:creationId xmlns:a16="http://schemas.microsoft.com/office/drawing/2014/main" id="{CC66D546-92D5-4D99-BF93-82782A0944E6}"/>
              </a:ext>
            </a:extLst>
          </p:cNvPr>
          <p:cNvSpPr>
            <a:spLocks xmlns:a="http://schemas.openxmlformats.org/drawingml/2006/main" noGrp="1"/>
          </p:cNvSpPr>
          <p:nvPr/>
        </p:nvSpPr>
        <p:spPr>
          <a:xfrm xmlns:a="http://schemas.openxmlformats.org/drawingml/2006/main">
            <a:off x="647700" y="32861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B9E4D2"/>
                </a:solidFill>
                <a:latin typeface="Arial"/>
                <a:ea typeface="Arial"/>
                <a:cs typeface="Arial"/>
              </a:defRPr>
            </a:defPPr>
            <a:lvl1pPr>
              <a:defRPr sz="2775" b="0">
                <a:solidFill>
                  <a:srgbClr val="B9E4D2"/>
                </a:solidFill>
                <a:latin typeface="Arial"/>
                <a:ea typeface="Arial"/>
                <a:cs typeface="Arial"/>
              </a:defRPr>
            </a:lvl1pPr>
            <a:lvl2pPr>
              <a:defRPr sz="2775" b="0">
                <a:solidFill>
                  <a:srgbClr val="B9E4D2"/>
                </a:solidFill>
                <a:latin typeface="Arial"/>
                <a:ea typeface="Arial"/>
                <a:cs typeface="Arial"/>
              </a:defRPr>
            </a:lvl2pPr>
            <a:lvl3pPr>
              <a:defRPr sz="2775" b="0">
                <a:solidFill>
                  <a:srgbClr val="B9E4D2"/>
                </a:solidFill>
                <a:latin typeface="Arial"/>
                <a:ea typeface="Arial"/>
                <a:cs typeface="Arial"/>
              </a:defRPr>
            </a:lvl3pPr>
            <a:lvl4pPr>
              <a:defRPr sz="2775" b="0">
                <a:solidFill>
                  <a:srgbClr val="B9E4D2"/>
                </a:solidFill>
                <a:latin typeface="Arial"/>
                <a:ea typeface="Arial"/>
                <a:cs typeface="Arial"/>
              </a:defRPr>
            </a:lvl4pPr>
            <a:lvl5pPr>
              <a:defRPr sz="2775" b="0">
                <a:solidFill>
                  <a:srgbClr val="B9E4D2"/>
                </a:solidFill>
                <a:latin typeface="Arial"/>
                <a:ea typeface="Arial"/>
                <a:cs typeface="Arial"/>
              </a:defRPr>
            </a:lvl5pPr>
            <a:lvl6pPr>
              <a:defRPr sz="2775" b="0">
                <a:solidFill>
                  <a:srgbClr val="B9E4D2"/>
                </a:solidFill>
                <a:latin typeface="Arial"/>
                <a:ea typeface="Arial"/>
                <a:cs typeface="Arial"/>
              </a:defRPr>
            </a:lvl6pPr>
            <a:lvl7pPr>
              <a:defRPr sz="2775" b="0">
                <a:solidFill>
                  <a:srgbClr val="B9E4D2"/>
                </a:solidFill>
                <a:latin typeface="Arial"/>
                <a:ea typeface="Arial"/>
                <a:cs typeface="Arial"/>
              </a:defRPr>
            </a:lvl7pPr>
            <a:lvl8pPr>
              <a:defRPr sz="2775" b="0">
                <a:solidFill>
                  <a:srgbClr val="B9E4D2"/>
                </a:solidFill>
                <a:latin typeface="Arial"/>
                <a:ea typeface="Arial"/>
                <a:cs typeface="Arial"/>
              </a:defRPr>
            </a:lvl8pPr>
            <a:lvl9pPr>
              <a:defRPr sz="2775" b="0">
                <a:solidFill>
                  <a:srgbClr val="B9E4D2"/>
                </a:solidFill>
                <a:latin typeface="Arial"/>
                <a:ea typeface="Arial"/>
                <a:cs typeface="Arial"/>
              </a:defRPr>
            </a:lvl9pPr>
          </a:lstStyle>
          <a:p xmlns:a="http://schemas.openxmlformats.org/drawingml/2006/main">
            <a:pPr>
              <a:defRPr sz="2775" b="0">
                <a:solidFill>
                  <a:srgbClr val="B9E4D2"/>
                </a:solidFill>
                <a:latin typeface="Arial"/>
                <a:ea typeface="Arial"/>
                <a:cs typeface="Arial"/>
              </a:defRPr>
            </a:pPr>
            <a:r>
              <a:rPr sz="2775" b="0">
                <a:solidFill>
                  <a:srgbClr val="B9E4D2"/>
                </a:solidFill>
                <a:latin typeface="Arial"/>
                <a:ea typeface="Arial"/>
                <a:cs typeface="Arial"/>
              </a:rPr>
              <a:t>O que fiz com sons cardíacos,</a:t>
            </a:r>
          </a:p>
          <a:p xmlns:a="http://schemas.openxmlformats.org/drawingml/2006/main">
            <a:pPr>
              <a:defRPr sz="2775" b="0">
                <a:solidFill>
                  <a:srgbClr val="B9E4D2"/>
                </a:solidFill>
                <a:latin typeface="Arial"/>
                <a:ea typeface="Arial"/>
                <a:cs typeface="Arial"/>
              </a:defRPr>
            </a:pPr>
            <a:r>
              <a:rPr sz="2775" b="0">
                <a:solidFill>
                  <a:srgbClr val="B9E4D2"/>
                </a:solidFill>
                <a:latin typeface="Arial"/>
                <a:ea typeface="Arial"/>
                <a:cs typeface="Arial"/>
              </a:rPr>
              <a:t>TinyML e um RP2040</a:t>
            </a:r>
          </a:p>
        </p:txBody>
      </p:sp>
      <p:sp>
        <p:nvSpPr>
          <p:cNvPr id="4" name="">
            <a:extLst xmlns:a="http://schemas.openxmlformats.org/drawingml/2006/main">
              <a:ext uri="{FF2B5EF4-FFF2-40B4-BE49-F238E27FC236}">
                <a16:creationId xmlns:a16="http://schemas.microsoft.com/office/drawing/2014/main" id="{1CCA3BBF-19D2-4E2F-A923-6E0117A3EEC5}"/>
              </a:ext>
            </a:extLst>
          </p:cNvPr>
          <p:cNvSpPr>
            <a:spLocks xmlns:a="http://schemas.openxmlformats.org/drawingml/2006/main" noGrp="1"/>
          </p:cNvSpPr>
          <p:nvPr/>
        </p:nvSpPr>
        <p:spPr>
          <a:xfrm xmlns:a="http://schemas.openxmlformats.org/drawingml/2006/main">
            <a:off x="647700" y="55245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Leandro Alves dos Santos</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Introdução à Inteligência Artificial • UNEB</a:t>
            </a:r>
          </a:p>
        </p:txBody>
      </p:sp>
    </p:spTree>
    <p:extLst>
      <p:ext uri="{BB962C8B-B14F-4D97-AF65-F5344CB8AC3E}">
        <p14:creationId xmlns:p14="http://schemas.microsoft.com/office/powerpoint/2010/main" val="476798686"/>
      </p:ext>
    </p:extLst>
  </p:cSld>
</p:sld>
</file>

<file path=ppt/slides/slide2.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823C4F3-1F98-46ED-AFF4-B0EA5B9E33FF}"/>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9975468-EAD8-424D-80A0-63EFA8D86C99}"/>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Minha pergunta</a:t>
            </a:r>
          </a:p>
        </p:txBody>
      </p:sp>
      <p:sp>
        <p:nvSpPr>
          <p:cNvPr id="4" name="">
            <a:extLst xmlns:a="http://schemas.openxmlformats.org/drawingml/2006/main">
              <a:ext uri="{FF2B5EF4-FFF2-40B4-BE49-F238E27FC236}">
                <a16:creationId xmlns:a16="http://schemas.microsoft.com/office/drawing/2014/main" id="{CE8357A7-B215-4E97-AC79-DCFBC361AC17}"/>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8E6170E7-96BF-4E49-801D-78F7D182718F}"/>
              </a:ext>
            </a:extLst>
          </p:cNvPr>
          <p:cNvSpPr>
            <a:spLocks xmlns:a="http://schemas.openxmlformats.org/drawingml/2006/main" noGrp="1"/>
          </p:cNvSpPr>
          <p:nvPr/>
        </p:nvSpPr>
        <p:spPr>
          <a:xfrm xmlns:a="http://schemas.openxmlformats.org/drawingml/2006/main">
            <a:off x="619125" y="2095500"/>
            <a:ext cx="10810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766B"/>
                </a:solidFill>
                <a:latin typeface="Arial"/>
                <a:ea typeface="Arial"/>
                <a:cs typeface="Arial"/>
              </a:defRPr>
            </a:defPPr>
            <a:lvl1pPr>
              <a:defRPr sz="3150" b="1">
                <a:solidFill>
                  <a:srgbClr val="14766B"/>
                </a:solidFill>
                <a:latin typeface="Arial"/>
                <a:ea typeface="Arial"/>
                <a:cs typeface="Arial"/>
              </a:defRPr>
            </a:lvl1pPr>
            <a:lvl2pPr>
              <a:defRPr sz="3150" b="1">
                <a:solidFill>
                  <a:srgbClr val="14766B"/>
                </a:solidFill>
                <a:latin typeface="Arial"/>
                <a:ea typeface="Arial"/>
                <a:cs typeface="Arial"/>
              </a:defRPr>
            </a:lvl2pPr>
            <a:lvl3pPr>
              <a:defRPr sz="3150" b="1">
                <a:solidFill>
                  <a:srgbClr val="14766B"/>
                </a:solidFill>
                <a:latin typeface="Arial"/>
                <a:ea typeface="Arial"/>
                <a:cs typeface="Arial"/>
              </a:defRPr>
            </a:lvl3pPr>
            <a:lvl4pPr>
              <a:defRPr sz="3150" b="1">
                <a:solidFill>
                  <a:srgbClr val="14766B"/>
                </a:solidFill>
                <a:latin typeface="Arial"/>
                <a:ea typeface="Arial"/>
                <a:cs typeface="Arial"/>
              </a:defRPr>
            </a:lvl4pPr>
            <a:lvl5pPr>
              <a:defRPr sz="3150" b="1">
                <a:solidFill>
                  <a:srgbClr val="14766B"/>
                </a:solidFill>
                <a:latin typeface="Arial"/>
                <a:ea typeface="Arial"/>
                <a:cs typeface="Arial"/>
              </a:defRPr>
            </a:lvl5pPr>
            <a:lvl6pPr>
              <a:defRPr sz="3150" b="1">
                <a:solidFill>
                  <a:srgbClr val="14766B"/>
                </a:solidFill>
                <a:latin typeface="Arial"/>
                <a:ea typeface="Arial"/>
                <a:cs typeface="Arial"/>
              </a:defRPr>
            </a:lvl6pPr>
            <a:lvl7pPr>
              <a:defRPr sz="3150" b="1">
                <a:solidFill>
                  <a:srgbClr val="14766B"/>
                </a:solidFill>
                <a:latin typeface="Arial"/>
                <a:ea typeface="Arial"/>
                <a:cs typeface="Arial"/>
              </a:defRPr>
            </a:lvl7pPr>
            <a:lvl8pPr>
              <a:defRPr sz="3150" b="1">
                <a:solidFill>
                  <a:srgbClr val="14766B"/>
                </a:solidFill>
                <a:latin typeface="Arial"/>
                <a:ea typeface="Arial"/>
                <a:cs typeface="Arial"/>
              </a:defRPr>
            </a:lvl8pPr>
            <a:lvl9pPr>
              <a:defRPr sz="3150" b="1">
                <a:solidFill>
                  <a:srgbClr val="14766B"/>
                </a:solidFill>
                <a:latin typeface="Arial"/>
                <a:ea typeface="Arial"/>
                <a:cs typeface="Arial"/>
              </a:defRPr>
            </a:lvl9pPr>
          </a:lstStyle>
          <a:p xmlns:a="http://schemas.openxmlformats.org/drawingml/2006/main">
            <a:pPr>
              <a:defRPr sz="3150" b="1">
                <a:solidFill>
                  <a:srgbClr val="14766B"/>
                </a:solidFill>
                <a:latin typeface="Arial"/>
                <a:ea typeface="Arial"/>
                <a:cs typeface="Arial"/>
              </a:defRPr>
            </a:pPr>
            <a:r>
              <a:rPr sz="3150" b="1">
                <a:solidFill>
                  <a:srgbClr val="14766B"/>
                </a:solidFill>
                <a:latin typeface="Arial"/>
                <a:ea typeface="Arial"/>
                <a:cs typeface="Arial"/>
              </a:rPr>
              <a:t>Uma rede pequena consegue executar</a:t>
            </a:r>
          </a:p>
          <a:p xmlns:a="http://schemas.openxmlformats.org/drawingml/2006/main">
            <a:pPr>
              <a:defRPr sz="3150" b="1">
                <a:solidFill>
                  <a:srgbClr val="14766B"/>
                </a:solidFill>
                <a:latin typeface="Arial"/>
                <a:ea typeface="Arial"/>
                <a:cs typeface="Arial"/>
              </a:defRPr>
            </a:pPr>
            <a:r>
              <a:rPr sz="3150" b="1">
                <a:solidFill>
                  <a:srgbClr val="14766B"/>
                </a:solidFill>
                <a:latin typeface="Arial"/>
                <a:ea typeface="Arial"/>
                <a:cs typeface="Arial"/>
              </a:rPr>
              <a:t>na placa e produzir uma classificação útil</a:t>
            </a:r>
          </a:p>
          <a:p xmlns:a="http://schemas.openxmlformats.org/drawingml/2006/main">
            <a:pPr>
              <a:defRPr sz="3150" b="1">
                <a:solidFill>
                  <a:srgbClr val="14766B"/>
                </a:solidFill>
                <a:latin typeface="Arial"/>
                <a:ea typeface="Arial"/>
                <a:cs typeface="Arial"/>
              </a:defRPr>
            </a:pPr>
            <a:r>
              <a:rPr sz="3150" b="1">
                <a:solidFill>
                  <a:srgbClr val="14766B"/>
                </a:solidFill>
                <a:latin typeface="Arial"/>
                <a:ea typeface="Arial"/>
                <a:cs typeface="Arial"/>
              </a:rPr>
              <a:t>para este conjunto de gravações?</a:t>
            </a:r>
          </a:p>
        </p:txBody>
      </p:sp>
      <p:sp>
        <p:nvSpPr>
          <p:cNvPr id="6" name="">
            <a:extLst xmlns:a="http://schemas.openxmlformats.org/drawingml/2006/main">
              <a:ext uri="{FF2B5EF4-FFF2-40B4-BE49-F238E27FC236}">
                <a16:creationId xmlns:a16="http://schemas.microsoft.com/office/drawing/2014/main" id="{F58CD169-C495-4911-AF04-4212050D1115}"/>
              </a:ext>
            </a:extLst>
          </p:cNvPr>
          <p:cNvSpPr>
            <a:spLocks xmlns:a="http://schemas.openxmlformats.org/drawingml/2006/main" noGrp="1"/>
          </p:cNvSpPr>
          <p:nvPr/>
        </p:nvSpPr>
        <p:spPr>
          <a:xfrm xmlns:a="http://schemas.openxmlformats.org/drawingml/2006/main">
            <a:off x="638175" y="48768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D46"/>
                </a:solidFill>
                <a:latin typeface="Arial"/>
                <a:ea typeface="Arial"/>
                <a:cs typeface="Arial"/>
              </a:defRPr>
            </a:defPPr>
            <a:lvl1pPr>
              <a:defRPr sz="2175" b="0">
                <a:solidFill>
                  <a:srgbClr val="173D46"/>
                </a:solidFill>
                <a:latin typeface="Arial"/>
                <a:ea typeface="Arial"/>
                <a:cs typeface="Arial"/>
              </a:defRPr>
            </a:lvl1pPr>
            <a:lvl2pPr>
              <a:defRPr sz="2175" b="0">
                <a:solidFill>
                  <a:srgbClr val="173D46"/>
                </a:solidFill>
                <a:latin typeface="Arial"/>
                <a:ea typeface="Arial"/>
                <a:cs typeface="Arial"/>
              </a:defRPr>
            </a:lvl2pPr>
            <a:lvl3pPr>
              <a:defRPr sz="2175" b="0">
                <a:solidFill>
                  <a:srgbClr val="173D46"/>
                </a:solidFill>
                <a:latin typeface="Arial"/>
                <a:ea typeface="Arial"/>
                <a:cs typeface="Arial"/>
              </a:defRPr>
            </a:lvl3pPr>
            <a:lvl4pPr>
              <a:defRPr sz="2175" b="0">
                <a:solidFill>
                  <a:srgbClr val="173D46"/>
                </a:solidFill>
                <a:latin typeface="Arial"/>
                <a:ea typeface="Arial"/>
                <a:cs typeface="Arial"/>
              </a:defRPr>
            </a:lvl4pPr>
            <a:lvl5pPr>
              <a:defRPr sz="2175" b="0">
                <a:solidFill>
                  <a:srgbClr val="173D46"/>
                </a:solidFill>
                <a:latin typeface="Arial"/>
                <a:ea typeface="Arial"/>
                <a:cs typeface="Arial"/>
              </a:defRPr>
            </a:lvl5pPr>
            <a:lvl6pPr>
              <a:defRPr sz="2175" b="0">
                <a:solidFill>
                  <a:srgbClr val="173D46"/>
                </a:solidFill>
                <a:latin typeface="Arial"/>
                <a:ea typeface="Arial"/>
                <a:cs typeface="Arial"/>
              </a:defRPr>
            </a:lvl6pPr>
            <a:lvl7pPr>
              <a:defRPr sz="2175" b="0">
                <a:solidFill>
                  <a:srgbClr val="173D46"/>
                </a:solidFill>
                <a:latin typeface="Arial"/>
                <a:ea typeface="Arial"/>
                <a:cs typeface="Arial"/>
              </a:defRPr>
            </a:lvl7pPr>
            <a:lvl8pPr>
              <a:defRPr sz="2175" b="0">
                <a:solidFill>
                  <a:srgbClr val="173D46"/>
                </a:solidFill>
                <a:latin typeface="Arial"/>
                <a:ea typeface="Arial"/>
                <a:cs typeface="Arial"/>
              </a:defRPr>
            </a:lvl8pPr>
            <a:lvl9pPr>
              <a:defRPr sz="2175" b="0">
                <a:solidFill>
                  <a:srgbClr val="173D46"/>
                </a:solidFill>
                <a:latin typeface="Arial"/>
                <a:ea typeface="Arial"/>
                <a:cs typeface="Arial"/>
              </a:defRPr>
            </a:lvl9pPr>
          </a:lstStyle>
          <a:p xmlns:a="http://schemas.openxmlformats.org/drawingml/2006/main">
            <a:pPr>
              <a:defRPr sz="2175" b="0">
                <a:solidFill>
                  <a:srgbClr val="173D46"/>
                </a:solidFill>
                <a:latin typeface="Arial"/>
                <a:ea typeface="Arial"/>
                <a:cs typeface="Arial"/>
              </a:defRPr>
            </a:pPr>
            <a:r>
              <a:rPr sz="2175" b="0">
                <a:solidFill>
                  <a:srgbClr val="173D46"/>
                </a:solidFill>
                <a:latin typeface="Arial"/>
                <a:ea typeface="Arial"/>
                <a:cs typeface="Arial"/>
              </a:rPr>
              <a:t>Eu medi duas coisas: as previsões e o custo de executar.</a:t>
            </a:r>
          </a:p>
        </p:txBody>
      </p:sp>
      <p:sp>
        <p:nvSpPr>
          <p:cNvPr id="7" name="">
            <a:extLst xmlns:a="http://schemas.openxmlformats.org/drawingml/2006/main">
              <a:ext uri="{FF2B5EF4-FFF2-40B4-BE49-F238E27FC236}">
                <a16:creationId xmlns:a16="http://schemas.microsoft.com/office/drawing/2014/main" id="{3BDFE0C7-D7EB-4376-B75C-6D248CEC58CF}"/>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O objetivo é estudar execução local em poucos recursos</a:t>
            </a:r>
          </a:p>
        </p:txBody>
      </p:sp>
    </p:spTree>
    <p:extLst>
      <p:ext uri="{BB962C8B-B14F-4D97-AF65-F5344CB8AC3E}">
        <p14:creationId xmlns:p14="http://schemas.microsoft.com/office/powerpoint/2010/main" val="1603858285"/>
      </p:ext>
    </p:extLst>
  </p:cSld>
</p:sld>
</file>

<file path=ppt/slides/slide3.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183F2D-05EA-4CD6-AFAC-F81727A77F5E}"/>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43B77AF-5CB2-4A8C-BE0F-71FB50F6D531}"/>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Training no PC. Inference na placa</a:t>
            </a:r>
          </a:p>
        </p:txBody>
      </p:sp>
      <p:sp>
        <p:nvSpPr>
          <p:cNvPr id="4" name="">
            <a:extLst xmlns:a="http://schemas.openxmlformats.org/drawingml/2006/main">
              <a:ext uri="{FF2B5EF4-FFF2-40B4-BE49-F238E27FC236}">
                <a16:creationId xmlns:a16="http://schemas.microsoft.com/office/drawing/2014/main" id="{A696EE79-5268-4BB8-9D79-376122F523DD}"/>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F4036AD-1F63-4098-99CC-0CAADEB25061}"/>
              </a:ext>
            </a:extLst>
          </p:cNvPr>
          <p:cNvSpPr>
            <a:spLocks xmlns:a="http://schemas.openxmlformats.org/drawingml/2006/main" noGrp="1"/>
          </p:cNvSpPr>
          <p:nvPr/>
        </p:nvSpPr>
        <p:spPr>
          <a:xfrm xmlns:a="http://schemas.openxmlformats.org/drawingml/2006/main">
            <a:off x="619125" y="209550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66B"/>
                </a:solidFill>
                <a:latin typeface="Arial"/>
                <a:ea typeface="Arial"/>
                <a:cs typeface="Arial"/>
              </a:defRPr>
            </a:defPPr>
            <a:lvl1pPr>
              <a:defRPr sz="2250" b="1">
                <a:solidFill>
                  <a:srgbClr val="14766B"/>
                </a:solidFill>
                <a:latin typeface="Arial"/>
                <a:ea typeface="Arial"/>
                <a:cs typeface="Arial"/>
              </a:defRPr>
            </a:lvl1pPr>
            <a:lvl2pPr>
              <a:defRPr sz="2250" b="1">
                <a:solidFill>
                  <a:srgbClr val="14766B"/>
                </a:solidFill>
                <a:latin typeface="Arial"/>
                <a:ea typeface="Arial"/>
                <a:cs typeface="Arial"/>
              </a:defRPr>
            </a:lvl2pPr>
            <a:lvl3pPr>
              <a:defRPr sz="2250" b="1">
                <a:solidFill>
                  <a:srgbClr val="14766B"/>
                </a:solidFill>
                <a:latin typeface="Arial"/>
                <a:ea typeface="Arial"/>
                <a:cs typeface="Arial"/>
              </a:defRPr>
            </a:lvl3pPr>
            <a:lvl4pPr>
              <a:defRPr sz="2250" b="1">
                <a:solidFill>
                  <a:srgbClr val="14766B"/>
                </a:solidFill>
                <a:latin typeface="Arial"/>
                <a:ea typeface="Arial"/>
                <a:cs typeface="Arial"/>
              </a:defRPr>
            </a:lvl4pPr>
            <a:lvl5pPr>
              <a:defRPr sz="2250" b="1">
                <a:solidFill>
                  <a:srgbClr val="14766B"/>
                </a:solidFill>
                <a:latin typeface="Arial"/>
                <a:ea typeface="Arial"/>
                <a:cs typeface="Arial"/>
              </a:defRPr>
            </a:lvl5pPr>
            <a:lvl6pPr>
              <a:defRPr sz="2250" b="1">
                <a:solidFill>
                  <a:srgbClr val="14766B"/>
                </a:solidFill>
                <a:latin typeface="Arial"/>
                <a:ea typeface="Arial"/>
                <a:cs typeface="Arial"/>
              </a:defRPr>
            </a:lvl6pPr>
            <a:lvl7pPr>
              <a:defRPr sz="2250" b="1">
                <a:solidFill>
                  <a:srgbClr val="14766B"/>
                </a:solidFill>
                <a:latin typeface="Arial"/>
                <a:ea typeface="Arial"/>
                <a:cs typeface="Arial"/>
              </a:defRPr>
            </a:lvl7pPr>
            <a:lvl8pPr>
              <a:defRPr sz="2250" b="1">
                <a:solidFill>
                  <a:srgbClr val="14766B"/>
                </a:solidFill>
                <a:latin typeface="Arial"/>
                <a:ea typeface="Arial"/>
                <a:cs typeface="Arial"/>
              </a:defRPr>
            </a:lvl8pPr>
            <a:lvl9pPr>
              <a:defRPr sz="2250" b="1">
                <a:solidFill>
                  <a:srgbClr val="14766B"/>
                </a:solidFill>
                <a:latin typeface="Arial"/>
                <a:ea typeface="Arial"/>
                <a:cs typeface="Arial"/>
              </a:defRPr>
            </a:lvl9pPr>
          </a:lstStyle>
          <a:p xmlns:a="http://schemas.openxmlformats.org/drawingml/2006/main">
            <a:pPr>
              <a:defRPr sz="2250" b="1">
                <a:solidFill>
                  <a:srgbClr val="14766B"/>
                </a:solidFill>
                <a:latin typeface="Arial"/>
                <a:ea typeface="Arial"/>
                <a:cs typeface="Arial"/>
              </a:defRPr>
            </a:pPr>
            <a:r>
              <a:rPr sz="2250" b="1">
                <a:solidFill>
                  <a:srgbClr val="14766B"/>
                </a:solidFill>
                <a:latin typeface="Arial"/>
                <a:ea typeface="Arial"/>
                <a:cs typeface="Arial"/>
              </a:rPr>
              <a:t>TRAINING</a:t>
            </a:r>
          </a:p>
        </p:txBody>
      </p:sp>
      <p:sp>
        <p:nvSpPr>
          <p:cNvPr id="6" name="">
            <a:extLst xmlns:a="http://schemas.openxmlformats.org/drawingml/2006/main">
              <a:ext uri="{FF2B5EF4-FFF2-40B4-BE49-F238E27FC236}">
                <a16:creationId xmlns:a16="http://schemas.microsoft.com/office/drawing/2014/main" id="{287F7793-8E4D-44E7-9D0F-82148CF7D5DF}"/>
              </a:ext>
            </a:extLst>
          </p:cNvPr>
          <p:cNvSpPr>
            <a:spLocks xmlns:a="http://schemas.openxmlformats.org/drawingml/2006/main" noGrp="1"/>
          </p:cNvSpPr>
          <p:nvPr/>
        </p:nvSpPr>
        <p:spPr>
          <a:xfrm xmlns:a="http://schemas.openxmlformats.org/drawingml/2006/main">
            <a:off x="619125" y="2905125"/>
            <a:ext cx="4953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73D46"/>
                </a:solidFill>
                <a:latin typeface="Arial"/>
                <a:ea typeface="Arial"/>
                <a:cs typeface="Arial"/>
              </a:defRPr>
            </a:defPPr>
            <a:lvl1pPr>
              <a:defRPr sz="2475" b="0">
                <a:solidFill>
                  <a:srgbClr val="173D46"/>
                </a:solidFill>
                <a:latin typeface="Arial"/>
                <a:ea typeface="Arial"/>
                <a:cs typeface="Arial"/>
              </a:defRPr>
            </a:lvl1pPr>
            <a:lvl2pPr>
              <a:defRPr sz="2475" b="0">
                <a:solidFill>
                  <a:srgbClr val="173D46"/>
                </a:solidFill>
                <a:latin typeface="Arial"/>
                <a:ea typeface="Arial"/>
                <a:cs typeface="Arial"/>
              </a:defRPr>
            </a:lvl2pPr>
            <a:lvl3pPr>
              <a:defRPr sz="2475" b="0">
                <a:solidFill>
                  <a:srgbClr val="173D46"/>
                </a:solidFill>
                <a:latin typeface="Arial"/>
                <a:ea typeface="Arial"/>
                <a:cs typeface="Arial"/>
              </a:defRPr>
            </a:lvl3pPr>
            <a:lvl4pPr>
              <a:defRPr sz="2475" b="0">
                <a:solidFill>
                  <a:srgbClr val="173D46"/>
                </a:solidFill>
                <a:latin typeface="Arial"/>
                <a:ea typeface="Arial"/>
                <a:cs typeface="Arial"/>
              </a:defRPr>
            </a:lvl4pPr>
            <a:lvl5pPr>
              <a:defRPr sz="2475" b="0">
                <a:solidFill>
                  <a:srgbClr val="173D46"/>
                </a:solidFill>
                <a:latin typeface="Arial"/>
                <a:ea typeface="Arial"/>
                <a:cs typeface="Arial"/>
              </a:defRPr>
            </a:lvl5pPr>
            <a:lvl6pPr>
              <a:defRPr sz="2475" b="0">
                <a:solidFill>
                  <a:srgbClr val="173D46"/>
                </a:solidFill>
                <a:latin typeface="Arial"/>
                <a:ea typeface="Arial"/>
                <a:cs typeface="Arial"/>
              </a:defRPr>
            </a:lvl6pPr>
            <a:lvl7pPr>
              <a:defRPr sz="2475" b="0">
                <a:solidFill>
                  <a:srgbClr val="173D46"/>
                </a:solidFill>
                <a:latin typeface="Arial"/>
                <a:ea typeface="Arial"/>
                <a:cs typeface="Arial"/>
              </a:defRPr>
            </a:lvl7pPr>
            <a:lvl8pPr>
              <a:defRPr sz="2475" b="0">
                <a:solidFill>
                  <a:srgbClr val="173D46"/>
                </a:solidFill>
                <a:latin typeface="Arial"/>
                <a:ea typeface="Arial"/>
                <a:cs typeface="Arial"/>
              </a:defRPr>
            </a:lvl8pPr>
            <a:lvl9pPr>
              <a:defRPr sz="2475" b="0">
                <a:solidFill>
                  <a:srgbClr val="173D46"/>
                </a:solidFill>
                <a:latin typeface="Arial"/>
                <a:ea typeface="Arial"/>
                <a:cs typeface="Arial"/>
              </a:defRPr>
            </a:lvl9pPr>
          </a:lstStyle>
          <a:p xmlns:a="http://schemas.openxmlformats.org/drawingml/2006/main">
            <a:pPr>
              <a:defRPr sz="2475" b="0">
                <a:solidFill>
                  <a:srgbClr val="173D46"/>
                </a:solidFill>
                <a:latin typeface="Arial"/>
                <a:ea typeface="Arial"/>
                <a:cs typeface="Arial"/>
              </a:defRPr>
            </a:pPr>
            <a:r>
              <a:rPr sz="2475" b="0">
                <a:solidFill>
                  <a:srgbClr val="173D46"/>
                </a:solidFill>
                <a:latin typeface="Arial"/>
                <a:ea typeface="Arial"/>
                <a:cs typeface="Arial"/>
              </a:rPr>
              <a:t>Áudios com rótulos</a:t>
            </a:r>
          </a:p>
          <a:p xmlns:a="http://schemas.openxmlformats.org/drawingml/2006/main">
            <a:pPr>
              <a:defRPr sz="2475" b="0">
                <a:solidFill>
                  <a:srgbClr val="173D46"/>
                </a:solidFill>
                <a:latin typeface="Arial"/>
                <a:ea typeface="Arial"/>
                <a:cs typeface="Arial"/>
              </a:defRPr>
            </a:pPr>
            <a:r>
              <a:rPr sz="2475" b="0">
                <a:solidFill>
                  <a:srgbClr val="173D46"/>
                </a:solidFill>
                <a:latin typeface="Arial"/>
                <a:ea typeface="Arial"/>
                <a:cs typeface="Arial"/>
              </a:rPr>
              <a:t>Ajuste dos weights</a:t>
            </a:r>
          </a:p>
          <a:p xmlns:a="http://schemas.openxmlformats.org/drawingml/2006/main">
            <a:pPr>
              <a:defRPr sz="2475" b="0">
                <a:solidFill>
                  <a:srgbClr val="173D46"/>
                </a:solidFill>
                <a:latin typeface="Arial"/>
                <a:ea typeface="Arial"/>
                <a:cs typeface="Arial"/>
              </a:defRPr>
            </a:pPr>
            <a:r>
              <a:rPr sz="2475" b="0">
                <a:solidFill>
                  <a:srgbClr val="173D46"/>
                </a:solidFill>
                <a:latin typeface="Arial"/>
                <a:ea typeface="Arial"/>
                <a:cs typeface="Arial"/>
              </a:rPr>
              <a:t>RTX 5050 no Arch/WSL</a:t>
            </a:r>
          </a:p>
        </p:txBody>
      </p:sp>
      <p:sp>
        <p:nvSpPr>
          <p:cNvPr id="7" name="">
            <a:extLst xmlns:a="http://schemas.openxmlformats.org/drawingml/2006/main">
              <a:ext uri="{FF2B5EF4-FFF2-40B4-BE49-F238E27FC236}">
                <a16:creationId xmlns:a16="http://schemas.microsoft.com/office/drawing/2014/main" id="{9758E432-3488-462C-BE40-E8CDAAEBCD1E}"/>
              </a:ext>
            </a:extLst>
          </p:cNvPr>
          <p:cNvSpPr>
            <a:spLocks xmlns:a="http://schemas.openxmlformats.org/drawingml/2006/main" noGrp="1"/>
          </p:cNvSpPr>
          <p:nvPr/>
        </p:nvSpPr>
        <p:spPr>
          <a:xfrm xmlns:a="http://schemas.openxmlformats.org/drawingml/2006/main">
            <a:off x="6619875" y="209550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766B"/>
                </a:solidFill>
                <a:latin typeface="Arial"/>
                <a:ea typeface="Arial"/>
                <a:cs typeface="Arial"/>
              </a:defRPr>
            </a:defPPr>
            <a:lvl1pPr>
              <a:defRPr sz="2250" b="1">
                <a:solidFill>
                  <a:srgbClr val="14766B"/>
                </a:solidFill>
                <a:latin typeface="Arial"/>
                <a:ea typeface="Arial"/>
                <a:cs typeface="Arial"/>
              </a:defRPr>
            </a:lvl1pPr>
            <a:lvl2pPr>
              <a:defRPr sz="2250" b="1">
                <a:solidFill>
                  <a:srgbClr val="14766B"/>
                </a:solidFill>
                <a:latin typeface="Arial"/>
                <a:ea typeface="Arial"/>
                <a:cs typeface="Arial"/>
              </a:defRPr>
            </a:lvl2pPr>
            <a:lvl3pPr>
              <a:defRPr sz="2250" b="1">
                <a:solidFill>
                  <a:srgbClr val="14766B"/>
                </a:solidFill>
                <a:latin typeface="Arial"/>
                <a:ea typeface="Arial"/>
                <a:cs typeface="Arial"/>
              </a:defRPr>
            </a:lvl3pPr>
            <a:lvl4pPr>
              <a:defRPr sz="2250" b="1">
                <a:solidFill>
                  <a:srgbClr val="14766B"/>
                </a:solidFill>
                <a:latin typeface="Arial"/>
                <a:ea typeface="Arial"/>
                <a:cs typeface="Arial"/>
              </a:defRPr>
            </a:lvl4pPr>
            <a:lvl5pPr>
              <a:defRPr sz="2250" b="1">
                <a:solidFill>
                  <a:srgbClr val="14766B"/>
                </a:solidFill>
                <a:latin typeface="Arial"/>
                <a:ea typeface="Arial"/>
                <a:cs typeface="Arial"/>
              </a:defRPr>
            </a:lvl5pPr>
            <a:lvl6pPr>
              <a:defRPr sz="2250" b="1">
                <a:solidFill>
                  <a:srgbClr val="14766B"/>
                </a:solidFill>
                <a:latin typeface="Arial"/>
                <a:ea typeface="Arial"/>
                <a:cs typeface="Arial"/>
              </a:defRPr>
            </a:lvl6pPr>
            <a:lvl7pPr>
              <a:defRPr sz="2250" b="1">
                <a:solidFill>
                  <a:srgbClr val="14766B"/>
                </a:solidFill>
                <a:latin typeface="Arial"/>
                <a:ea typeface="Arial"/>
                <a:cs typeface="Arial"/>
              </a:defRPr>
            </a:lvl7pPr>
            <a:lvl8pPr>
              <a:defRPr sz="2250" b="1">
                <a:solidFill>
                  <a:srgbClr val="14766B"/>
                </a:solidFill>
                <a:latin typeface="Arial"/>
                <a:ea typeface="Arial"/>
                <a:cs typeface="Arial"/>
              </a:defRPr>
            </a:lvl8pPr>
            <a:lvl9pPr>
              <a:defRPr sz="2250" b="1">
                <a:solidFill>
                  <a:srgbClr val="14766B"/>
                </a:solidFill>
                <a:latin typeface="Arial"/>
                <a:ea typeface="Arial"/>
                <a:cs typeface="Arial"/>
              </a:defRPr>
            </a:lvl9pPr>
          </a:lstStyle>
          <a:p xmlns:a="http://schemas.openxmlformats.org/drawingml/2006/main">
            <a:pPr>
              <a:defRPr sz="2250" b="1">
                <a:solidFill>
                  <a:srgbClr val="14766B"/>
                </a:solidFill>
                <a:latin typeface="Arial"/>
                <a:ea typeface="Arial"/>
                <a:cs typeface="Arial"/>
              </a:defRPr>
            </a:pPr>
            <a:r>
              <a:rPr sz="2250" b="1">
                <a:solidFill>
                  <a:srgbClr val="14766B"/>
                </a:solidFill>
                <a:latin typeface="Arial"/>
                <a:ea typeface="Arial"/>
                <a:cs typeface="Arial"/>
              </a:rPr>
              <a:t>INFERENCE</a:t>
            </a:r>
          </a:p>
        </p:txBody>
      </p:sp>
      <p:sp>
        <p:nvSpPr>
          <p:cNvPr id="8" name="">
            <a:extLst xmlns:a="http://schemas.openxmlformats.org/drawingml/2006/main">
              <a:ext uri="{FF2B5EF4-FFF2-40B4-BE49-F238E27FC236}">
                <a16:creationId xmlns:a16="http://schemas.microsoft.com/office/drawing/2014/main" id="{0145FE32-EBC9-4FC2-9E34-CA9AC04F0522}"/>
              </a:ext>
            </a:extLst>
          </p:cNvPr>
          <p:cNvSpPr>
            <a:spLocks xmlns:a="http://schemas.openxmlformats.org/drawingml/2006/main" noGrp="1"/>
          </p:cNvSpPr>
          <p:nvPr/>
        </p:nvSpPr>
        <p:spPr>
          <a:xfrm xmlns:a="http://schemas.openxmlformats.org/drawingml/2006/main">
            <a:off x="6619875" y="2905125"/>
            <a:ext cx="4953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73D46"/>
                </a:solidFill>
                <a:latin typeface="Arial"/>
                <a:ea typeface="Arial"/>
                <a:cs typeface="Arial"/>
              </a:defRPr>
            </a:defPPr>
            <a:lvl1pPr>
              <a:defRPr sz="2475" b="0">
                <a:solidFill>
                  <a:srgbClr val="173D46"/>
                </a:solidFill>
                <a:latin typeface="Arial"/>
                <a:ea typeface="Arial"/>
                <a:cs typeface="Arial"/>
              </a:defRPr>
            </a:lvl1pPr>
            <a:lvl2pPr>
              <a:defRPr sz="2475" b="0">
                <a:solidFill>
                  <a:srgbClr val="173D46"/>
                </a:solidFill>
                <a:latin typeface="Arial"/>
                <a:ea typeface="Arial"/>
                <a:cs typeface="Arial"/>
              </a:defRPr>
            </a:lvl2pPr>
            <a:lvl3pPr>
              <a:defRPr sz="2475" b="0">
                <a:solidFill>
                  <a:srgbClr val="173D46"/>
                </a:solidFill>
                <a:latin typeface="Arial"/>
                <a:ea typeface="Arial"/>
                <a:cs typeface="Arial"/>
              </a:defRPr>
            </a:lvl3pPr>
            <a:lvl4pPr>
              <a:defRPr sz="2475" b="0">
                <a:solidFill>
                  <a:srgbClr val="173D46"/>
                </a:solidFill>
                <a:latin typeface="Arial"/>
                <a:ea typeface="Arial"/>
                <a:cs typeface="Arial"/>
              </a:defRPr>
            </a:lvl4pPr>
            <a:lvl5pPr>
              <a:defRPr sz="2475" b="0">
                <a:solidFill>
                  <a:srgbClr val="173D46"/>
                </a:solidFill>
                <a:latin typeface="Arial"/>
                <a:ea typeface="Arial"/>
                <a:cs typeface="Arial"/>
              </a:defRPr>
            </a:lvl5pPr>
            <a:lvl6pPr>
              <a:defRPr sz="2475" b="0">
                <a:solidFill>
                  <a:srgbClr val="173D46"/>
                </a:solidFill>
                <a:latin typeface="Arial"/>
                <a:ea typeface="Arial"/>
                <a:cs typeface="Arial"/>
              </a:defRPr>
            </a:lvl6pPr>
            <a:lvl7pPr>
              <a:defRPr sz="2475" b="0">
                <a:solidFill>
                  <a:srgbClr val="173D46"/>
                </a:solidFill>
                <a:latin typeface="Arial"/>
                <a:ea typeface="Arial"/>
                <a:cs typeface="Arial"/>
              </a:defRPr>
            </a:lvl7pPr>
            <a:lvl8pPr>
              <a:defRPr sz="2475" b="0">
                <a:solidFill>
                  <a:srgbClr val="173D46"/>
                </a:solidFill>
                <a:latin typeface="Arial"/>
                <a:ea typeface="Arial"/>
                <a:cs typeface="Arial"/>
              </a:defRPr>
            </a:lvl8pPr>
            <a:lvl9pPr>
              <a:defRPr sz="2475" b="0">
                <a:solidFill>
                  <a:srgbClr val="173D46"/>
                </a:solidFill>
                <a:latin typeface="Arial"/>
                <a:ea typeface="Arial"/>
                <a:cs typeface="Arial"/>
              </a:defRPr>
            </a:lvl9pPr>
          </a:lstStyle>
          <a:p xmlns:a="http://schemas.openxmlformats.org/drawingml/2006/main">
            <a:pPr>
              <a:defRPr sz="2475" b="0">
                <a:solidFill>
                  <a:srgbClr val="173D46"/>
                </a:solidFill>
                <a:latin typeface="Arial"/>
                <a:ea typeface="Arial"/>
                <a:cs typeface="Arial"/>
              </a:defRPr>
            </a:pPr>
            <a:r>
              <a:rPr sz="2475" b="0">
                <a:solidFill>
                  <a:srgbClr val="173D46"/>
                </a:solidFill>
                <a:latin typeface="Arial"/>
                <a:ea typeface="Arial"/>
                <a:cs typeface="Arial"/>
              </a:rPr>
              <a:t>Weights congelados</a:t>
            </a:r>
          </a:p>
          <a:p xmlns:a="http://schemas.openxmlformats.org/drawingml/2006/main">
            <a:pPr>
              <a:defRPr sz="2475" b="0">
                <a:solidFill>
                  <a:srgbClr val="173D46"/>
                </a:solidFill>
                <a:latin typeface="Arial"/>
                <a:ea typeface="Arial"/>
                <a:cs typeface="Arial"/>
              </a:defRPr>
            </a:pPr>
            <a:r>
              <a:rPr sz="2475" b="0">
                <a:solidFill>
                  <a:srgbClr val="173D46"/>
                </a:solidFill>
                <a:latin typeface="Arial"/>
                <a:ea typeface="Arial"/>
                <a:cs typeface="Arial"/>
              </a:rPr>
              <a:t>Novo áudio entra</a:t>
            </a:r>
          </a:p>
          <a:p xmlns:a="http://schemas.openxmlformats.org/drawingml/2006/main">
            <a:pPr>
              <a:defRPr sz="2475" b="0">
                <a:solidFill>
                  <a:srgbClr val="173D46"/>
                </a:solidFill>
                <a:latin typeface="Arial"/>
                <a:ea typeface="Arial"/>
                <a:cs typeface="Arial"/>
              </a:defRPr>
            </a:pPr>
            <a:r>
              <a:rPr sz="2475" b="0">
                <a:solidFill>
                  <a:srgbClr val="173D46"/>
                </a:solidFill>
                <a:latin typeface="Arial"/>
                <a:ea typeface="Arial"/>
                <a:cs typeface="Arial"/>
              </a:rPr>
              <a:t>Scores e uma decisão saem</a:t>
            </a:r>
          </a:p>
        </p:txBody>
      </p:sp>
      <p:sp>
        <p:nvSpPr>
          <p:cNvPr id="9" name="">
            <a:extLst xmlns:a="http://schemas.openxmlformats.org/drawingml/2006/main">
              <a:ext uri="{FF2B5EF4-FFF2-40B4-BE49-F238E27FC236}">
                <a16:creationId xmlns:a16="http://schemas.microsoft.com/office/drawing/2014/main" id="{F7A21646-B085-413E-BDCB-7A3BF1CED83F}"/>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O PC também faz inference. A placa não faz training neste projeto</a:t>
            </a:r>
          </a:p>
        </p:txBody>
      </p:sp>
    </p:spTree>
    <p:extLst>
      <p:ext uri="{BB962C8B-B14F-4D97-AF65-F5344CB8AC3E}">
        <p14:creationId xmlns:p14="http://schemas.microsoft.com/office/powerpoint/2010/main" val="400737959"/>
      </p:ext>
    </p:extLst>
  </p:cSld>
</p:sld>
</file>

<file path=ppt/slides/slide4.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77E3AC8-D1D7-4CCB-AE47-4AA315619D57}"/>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F49C190-836A-42FC-A1F0-E3A9DFF40F0B}"/>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O que chamo de “com sopro”?</a:t>
            </a:r>
          </a:p>
        </p:txBody>
      </p:sp>
      <p:sp>
        <p:nvSpPr>
          <p:cNvPr id="4" name="">
            <a:extLst xmlns:a="http://schemas.openxmlformats.org/drawingml/2006/main">
              <a:ext uri="{FF2B5EF4-FFF2-40B4-BE49-F238E27FC236}">
                <a16:creationId xmlns:a16="http://schemas.microsoft.com/office/drawing/2014/main" id="{4427CCAF-3AAE-4DE4-8CD0-C11631AAA4F5}"/>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04</a:t>
            </a:r>
          </a:p>
        </p:txBody>
      </p:sp>
      <p:pic>
        <p:nvPicPr>
          <p:cNvPr id="5" name="">
            <a:extLst xmlns:a="http://schemas.openxmlformats.org/drawingml/2006/main">
              <a:ext uri="{FF2B5EF4-FFF2-40B4-BE49-F238E27FC236}">
                <a16:creationId xmlns:a16="http://schemas.microsoft.com/office/drawing/2014/main" id="{2529F7DB-4072-42F9-94DB-E317564A38FB}"/>
              </a:ext>
            </a:extLst>
          </p:cNvPr>
          <p:cNvPicPr>
            <a:picLocks xmlns:a="http://schemas.openxmlformats.org/drawingml/2006/main" noChangeAspect="1"/>
          </p:cNvPicPr>
          <p:nvPr/>
        </p:nvPicPr>
        <p:blipFill>
          <a:blip xmlns:r="http://schemas.openxmlformats.org/officeDocument/2006/relationships" xmlns:a="http://schemas.openxmlformats.org/drawingml/2006/main" r:embed="R54e50094f1e64c7f"/>
          <a:stretch xmlns:a="http://schemas.openxmlformats.org/drawingml/2006/main"/>
        </p:blipFill>
        <p:spPr>
          <a:xfrm xmlns:a="http://schemas.openxmlformats.org/drawingml/2006/main">
            <a:off x="2837753" y="1809750"/>
            <a:ext cx="6516494" cy="2428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EFF8120-2277-49F2-BFB2-10CBD4CB8B89}"/>
              </a:ext>
            </a:extLst>
          </p:cNvPr>
          <p:cNvSpPr>
            <a:spLocks xmlns:a="http://schemas.openxmlformats.org/drawingml/2006/main" noGrp="1"/>
          </p:cNvSpPr>
          <p:nvPr/>
        </p:nvSpPr>
        <p:spPr>
          <a:xfrm xmlns:a="http://schemas.openxmlformats.org/drawingml/2006/main">
            <a:off x="619125" y="44291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D46"/>
                </a:solidFill>
                <a:latin typeface="Arial"/>
                <a:ea typeface="Arial"/>
                <a:cs typeface="Arial"/>
              </a:defRPr>
            </a:defPPr>
            <a:lvl1pPr>
              <a:defRPr sz="2325" b="0">
                <a:solidFill>
                  <a:srgbClr val="173D46"/>
                </a:solidFill>
                <a:latin typeface="Arial"/>
                <a:ea typeface="Arial"/>
                <a:cs typeface="Arial"/>
              </a:defRPr>
            </a:lvl1pPr>
            <a:lvl2pPr>
              <a:defRPr sz="2325" b="0">
                <a:solidFill>
                  <a:srgbClr val="173D46"/>
                </a:solidFill>
                <a:latin typeface="Arial"/>
                <a:ea typeface="Arial"/>
                <a:cs typeface="Arial"/>
              </a:defRPr>
            </a:lvl2pPr>
            <a:lvl3pPr>
              <a:defRPr sz="2325" b="0">
                <a:solidFill>
                  <a:srgbClr val="173D46"/>
                </a:solidFill>
                <a:latin typeface="Arial"/>
                <a:ea typeface="Arial"/>
                <a:cs typeface="Arial"/>
              </a:defRPr>
            </a:lvl3pPr>
            <a:lvl4pPr>
              <a:defRPr sz="2325" b="0">
                <a:solidFill>
                  <a:srgbClr val="173D46"/>
                </a:solidFill>
                <a:latin typeface="Arial"/>
                <a:ea typeface="Arial"/>
                <a:cs typeface="Arial"/>
              </a:defRPr>
            </a:lvl4pPr>
            <a:lvl5pPr>
              <a:defRPr sz="2325" b="0">
                <a:solidFill>
                  <a:srgbClr val="173D46"/>
                </a:solidFill>
                <a:latin typeface="Arial"/>
                <a:ea typeface="Arial"/>
                <a:cs typeface="Arial"/>
              </a:defRPr>
            </a:lvl5pPr>
            <a:lvl6pPr>
              <a:defRPr sz="2325" b="0">
                <a:solidFill>
                  <a:srgbClr val="173D46"/>
                </a:solidFill>
                <a:latin typeface="Arial"/>
                <a:ea typeface="Arial"/>
                <a:cs typeface="Arial"/>
              </a:defRPr>
            </a:lvl6pPr>
            <a:lvl7pPr>
              <a:defRPr sz="2325" b="0">
                <a:solidFill>
                  <a:srgbClr val="173D46"/>
                </a:solidFill>
                <a:latin typeface="Arial"/>
                <a:ea typeface="Arial"/>
                <a:cs typeface="Arial"/>
              </a:defRPr>
            </a:lvl7pPr>
            <a:lvl8pPr>
              <a:defRPr sz="2325" b="0">
                <a:solidFill>
                  <a:srgbClr val="173D46"/>
                </a:solidFill>
                <a:latin typeface="Arial"/>
                <a:ea typeface="Arial"/>
                <a:cs typeface="Arial"/>
              </a:defRPr>
            </a:lvl8pPr>
            <a:lvl9pPr>
              <a:defRPr sz="2325" b="0">
                <a:solidFill>
                  <a:srgbClr val="173D46"/>
                </a:solidFill>
                <a:latin typeface="Arial"/>
                <a:ea typeface="Arial"/>
                <a:cs typeface="Arial"/>
              </a:defRPr>
            </a:lvl9pPr>
          </a:lstStyle>
          <a:p xmlns:a="http://schemas.openxmlformats.org/drawingml/2006/main">
            <a:pPr>
              <a:defRPr sz="2325" b="0">
                <a:solidFill>
                  <a:srgbClr val="173D46"/>
                </a:solidFill>
                <a:latin typeface="Arial"/>
                <a:ea typeface="Arial"/>
                <a:cs typeface="Arial"/>
              </a:defRPr>
            </a:pPr>
            <a:r>
              <a:rPr sz="2325" b="0">
                <a:solidFill>
                  <a:srgbClr val="173D46"/>
                </a:solidFill>
                <a:latin typeface="Arial"/>
                <a:ea typeface="Arial"/>
                <a:cs typeface="Arial"/>
              </a:rPr>
              <a:t>Um heart murmur é um som adicional associado ao fluxo de sangue.</a:t>
            </a:r>
          </a:p>
        </p:txBody>
      </p:sp>
      <p:sp>
        <p:nvSpPr>
          <p:cNvPr id="7" name="">
            <a:extLst xmlns:a="http://schemas.openxmlformats.org/drawingml/2006/main">
              <a:ext uri="{FF2B5EF4-FFF2-40B4-BE49-F238E27FC236}">
                <a16:creationId xmlns:a16="http://schemas.microsoft.com/office/drawing/2014/main" id="{173BBEA9-1201-46E9-B827-D833419C6310}"/>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Esquema didático. As classes não equivalem a saudável/doente</a:t>
            </a:r>
          </a:p>
        </p:txBody>
      </p:sp>
    </p:spTree>
    <p:extLst>
      <p:ext uri="{BB962C8B-B14F-4D97-AF65-F5344CB8AC3E}">
        <p14:creationId xmlns:p14="http://schemas.microsoft.com/office/powerpoint/2010/main" val="1417882681"/>
      </p:ext>
    </p:extLst>
  </p:cSld>
</p:sld>
</file>

<file path=ppt/slides/slide5.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66F6FE-2631-42BF-A0C1-7C1A65C3DBA3}"/>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4D7C9B5-4794-4789-869D-91C2298176E4}"/>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Primeiro ouvir. Depois pedir a previsão</a:t>
            </a:r>
          </a:p>
        </p:txBody>
      </p:sp>
      <p:sp>
        <p:nvSpPr>
          <p:cNvPr id="4" name="">
            <a:extLst xmlns:a="http://schemas.openxmlformats.org/drawingml/2006/main">
              <a:ext uri="{FF2B5EF4-FFF2-40B4-BE49-F238E27FC236}">
                <a16:creationId xmlns:a16="http://schemas.microsoft.com/office/drawing/2014/main" id="{8F1DFC75-6CB7-44ED-B04C-3FA06E7E9854}"/>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0F45EBE4-AD27-4343-9115-9ADD318DE616}"/>
              </a:ext>
            </a:extLst>
          </p:cNvPr>
          <p:cNvSpPr>
            <a:spLocks xmlns:a="http://schemas.openxmlformats.org/drawingml/2006/main" noGrp="1"/>
          </p:cNvSpPr>
          <p:nvPr/>
        </p:nvSpPr>
        <p:spPr>
          <a:xfrm xmlns:a="http://schemas.openxmlformats.org/drawingml/2006/main">
            <a:off x="619125" y="223837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766B"/>
                </a:solidFill>
                <a:latin typeface="Arial"/>
                <a:ea typeface="Arial"/>
                <a:cs typeface="Arial"/>
              </a:defRPr>
            </a:defPPr>
            <a:lvl1pPr>
              <a:defRPr sz="3000" b="1">
                <a:solidFill>
                  <a:srgbClr val="14766B"/>
                </a:solidFill>
                <a:latin typeface="Arial"/>
                <a:ea typeface="Arial"/>
                <a:cs typeface="Arial"/>
              </a:defRPr>
            </a:lvl1pPr>
            <a:lvl2pPr>
              <a:defRPr sz="3000" b="1">
                <a:solidFill>
                  <a:srgbClr val="14766B"/>
                </a:solidFill>
                <a:latin typeface="Arial"/>
                <a:ea typeface="Arial"/>
                <a:cs typeface="Arial"/>
              </a:defRPr>
            </a:lvl2pPr>
            <a:lvl3pPr>
              <a:defRPr sz="3000" b="1">
                <a:solidFill>
                  <a:srgbClr val="14766B"/>
                </a:solidFill>
                <a:latin typeface="Arial"/>
                <a:ea typeface="Arial"/>
                <a:cs typeface="Arial"/>
              </a:defRPr>
            </a:lvl3pPr>
            <a:lvl4pPr>
              <a:defRPr sz="3000" b="1">
                <a:solidFill>
                  <a:srgbClr val="14766B"/>
                </a:solidFill>
                <a:latin typeface="Arial"/>
                <a:ea typeface="Arial"/>
                <a:cs typeface="Arial"/>
              </a:defRPr>
            </a:lvl4pPr>
            <a:lvl5pPr>
              <a:defRPr sz="3000" b="1">
                <a:solidFill>
                  <a:srgbClr val="14766B"/>
                </a:solidFill>
                <a:latin typeface="Arial"/>
                <a:ea typeface="Arial"/>
                <a:cs typeface="Arial"/>
              </a:defRPr>
            </a:lvl5pPr>
            <a:lvl6pPr>
              <a:defRPr sz="3000" b="1">
                <a:solidFill>
                  <a:srgbClr val="14766B"/>
                </a:solidFill>
                <a:latin typeface="Arial"/>
                <a:ea typeface="Arial"/>
                <a:cs typeface="Arial"/>
              </a:defRPr>
            </a:lvl6pPr>
            <a:lvl7pPr>
              <a:defRPr sz="3000" b="1">
                <a:solidFill>
                  <a:srgbClr val="14766B"/>
                </a:solidFill>
                <a:latin typeface="Arial"/>
                <a:ea typeface="Arial"/>
                <a:cs typeface="Arial"/>
              </a:defRPr>
            </a:lvl7pPr>
            <a:lvl8pPr>
              <a:defRPr sz="3000" b="1">
                <a:solidFill>
                  <a:srgbClr val="14766B"/>
                </a:solidFill>
                <a:latin typeface="Arial"/>
                <a:ea typeface="Arial"/>
                <a:cs typeface="Arial"/>
              </a:defRPr>
            </a:lvl8pPr>
            <a:lvl9pPr>
              <a:defRPr sz="3000" b="1">
                <a:solidFill>
                  <a:srgbClr val="14766B"/>
                </a:solidFill>
                <a:latin typeface="Arial"/>
                <a:ea typeface="Arial"/>
                <a:cs typeface="Arial"/>
              </a:defRPr>
            </a:lvl9pPr>
          </a:lstStyle>
          <a:p xmlns:a="http://schemas.openxmlformats.org/drawingml/2006/main">
            <a:pPr>
              <a:defRPr sz="3000" b="1">
                <a:solidFill>
                  <a:srgbClr val="14766B"/>
                </a:solidFill>
                <a:latin typeface="Arial"/>
                <a:ea typeface="Arial"/>
                <a:cs typeface="Arial"/>
              </a:defRPr>
            </a:pPr>
            <a:r>
              <a:rPr sz="3000" b="1">
                <a:solidFill>
                  <a:srgbClr val="14766B"/>
                </a:solidFill>
                <a:latin typeface="Arial"/>
                <a:ea typeface="Arial"/>
                <a:cs typeface="Arial"/>
              </a:rPr>
              <a:t>Áudio 1</a:t>
            </a:r>
          </a:p>
        </p:txBody>
      </p:sp>
      <p:sp>
        <p:nvSpPr>
          <p:cNvPr id="6" name="">
            <a:extLst xmlns:a="http://schemas.openxmlformats.org/drawingml/2006/main">
              <a:ext uri="{FF2B5EF4-FFF2-40B4-BE49-F238E27FC236}">
                <a16:creationId xmlns:a16="http://schemas.microsoft.com/office/drawing/2014/main" id="{0D82A50F-617E-4533-B150-8C5204E589A1}"/>
              </a:ext>
            </a:extLst>
          </p:cNvPr>
          <p:cNvSpPr>
            <a:spLocks xmlns:a="http://schemas.openxmlformats.org/drawingml/2006/main" noGrp="1"/>
          </p:cNvSpPr>
          <p:nvPr/>
        </p:nvSpPr>
        <p:spPr>
          <a:xfrm xmlns:a="http://schemas.openxmlformats.org/drawingml/2006/main">
            <a:off x="619125" y="319087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D46"/>
                </a:solidFill>
                <a:latin typeface="Arial"/>
                <a:ea typeface="Arial"/>
                <a:cs typeface="Arial"/>
              </a:defRPr>
            </a:defPPr>
            <a:lvl1pPr>
              <a:defRPr sz="2250" b="0">
                <a:solidFill>
                  <a:srgbClr val="173D46"/>
                </a:solidFill>
                <a:latin typeface="Arial"/>
                <a:ea typeface="Arial"/>
                <a:cs typeface="Arial"/>
              </a:defRPr>
            </a:lvl1pPr>
            <a:lvl2pPr>
              <a:defRPr sz="2250" b="0">
                <a:solidFill>
                  <a:srgbClr val="173D46"/>
                </a:solidFill>
                <a:latin typeface="Arial"/>
                <a:ea typeface="Arial"/>
                <a:cs typeface="Arial"/>
              </a:defRPr>
            </a:lvl2pPr>
            <a:lvl3pPr>
              <a:defRPr sz="2250" b="0">
                <a:solidFill>
                  <a:srgbClr val="173D46"/>
                </a:solidFill>
                <a:latin typeface="Arial"/>
                <a:ea typeface="Arial"/>
                <a:cs typeface="Arial"/>
              </a:defRPr>
            </a:lvl3pPr>
            <a:lvl4pPr>
              <a:defRPr sz="2250" b="0">
                <a:solidFill>
                  <a:srgbClr val="173D46"/>
                </a:solidFill>
                <a:latin typeface="Arial"/>
                <a:ea typeface="Arial"/>
                <a:cs typeface="Arial"/>
              </a:defRPr>
            </a:lvl4pPr>
            <a:lvl5pPr>
              <a:defRPr sz="2250" b="0">
                <a:solidFill>
                  <a:srgbClr val="173D46"/>
                </a:solidFill>
                <a:latin typeface="Arial"/>
                <a:ea typeface="Arial"/>
                <a:cs typeface="Arial"/>
              </a:defRPr>
            </a:lvl5pPr>
            <a:lvl6pPr>
              <a:defRPr sz="2250" b="0">
                <a:solidFill>
                  <a:srgbClr val="173D46"/>
                </a:solidFill>
                <a:latin typeface="Arial"/>
                <a:ea typeface="Arial"/>
                <a:cs typeface="Arial"/>
              </a:defRPr>
            </a:lvl6pPr>
            <a:lvl7pPr>
              <a:defRPr sz="2250" b="0">
                <a:solidFill>
                  <a:srgbClr val="173D46"/>
                </a:solidFill>
                <a:latin typeface="Arial"/>
                <a:ea typeface="Arial"/>
                <a:cs typeface="Arial"/>
              </a:defRPr>
            </a:lvl7pPr>
            <a:lvl8pPr>
              <a:defRPr sz="2250" b="0">
                <a:solidFill>
                  <a:srgbClr val="173D46"/>
                </a:solidFill>
                <a:latin typeface="Arial"/>
                <a:ea typeface="Arial"/>
                <a:cs typeface="Arial"/>
              </a:defRPr>
            </a:lvl8pPr>
            <a:lvl9pPr>
              <a:defRPr sz="2250" b="0">
                <a:solidFill>
                  <a:srgbClr val="173D46"/>
                </a:solidFill>
                <a:latin typeface="Arial"/>
                <a:ea typeface="Arial"/>
                <a:cs typeface="Arial"/>
              </a:defRPr>
            </a:lvl9pPr>
          </a:lstStyle>
          <a:p xmlns:a="http://schemas.openxmlformats.org/drawingml/2006/main">
            <a:pPr>
              <a:defRPr sz="2250" b="0">
                <a:solidFill>
                  <a:srgbClr val="173D46"/>
                </a:solidFill>
                <a:latin typeface="Arial"/>
                <a:ea typeface="Arial"/>
                <a:cs typeface="Arial"/>
              </a:defRPr>
            </a:pPr>
            <a:r>
              <a:rPr sz="2250" b="0">
                <a:solidFill>
                  <a:srgbClr val="173D46"/>
                </a:solidFill>
                <a:latin typeface="Arial"/>
                <a:ea typeface="Arial"/>
                <a:cs typeface="Arial"/>
              </a:rPr>
              <a:t>Grupo rotulado Absent</a:t>
            </a:r>
          </a:p>
          <a:p xmlns:a="http://schemas.openxmlformats.org/drawingml/2006/main">
            <a:pPr>
              <a:defRPr sz="2250" b="0">
                <a:solidFill>
                  <a:srgbClr val="173D46"/>
                </a:solidFill>
                <a:latin typeface="Arial"/>
                <a:ea typeface="Arial"/>
                <a:cs typeface="Arial"/>
              </a:defRPr>
            </a:pPr>
            <a:r>
              <a:rPr sz="2250" b="0">
                <a:solidFill>
                  <a:srgbClr val="173D46"/>
                </a:solidFill>
                <a:latin typeface="Arial"/>
                <a:ea typeface="Arial"/>
                <a:cs typeface="Arial"/>
              </a:rPr>
              <a:t>39043_AV • validation</a:t>
            </a:r>
          </a:p>
        </p:txBody>
      </p:sp>
      <p:sp>
        <p:nvSpPr>
          <p:cNvPr id="7" name="">
            <a:extLst xmlns:a="http://schemas.openxmlformats.org/drawingml/2006/main">
              <a:ext uri="{FF2B5EF4-FFF2-40B4-BE49-F238E27FC236}">
                <a16:creationId xmlns:a16="http://schemas.microsoft.com/office/drawing/2014/main" id="{B06E4A4C-30B8-44C7-8EC4-CA86BBB40905}"/>
              </a:ext>
            </a:extLst>
          </p:cNvPr>
          <p:cNvSpPr>
            <a:spLocks xmlns:a="http://schemas.openxmlformats.org/drawingml/2006/main" noGrp="1"/>
          </p:cNvSpPr>
          <p:nvPr/>
        </p:nvSpPr>
        <p:spPr>
          <a:xfrm xmlns:a="http://schemas.openxmlformats.org/drawingml/2006/main">
            <a:off x="6619875" y="223837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B34C3E"/>
                </a:solidFill>
                <a:latin typeface="Arial"/>
                <a:ea typeface="Arial"/>
                <a:cs typeface="Arial"/>
              </a:defRPr>
            </a:defPPr>
            <a:lvl1pPr>
              <a:defRPr sz="3000" b="1">
                <a:solidFill>
                  <a:srgbClr val="B34C3E"/>
                </a:solidFill>
                <a:latin typeface="Arial"/>
                <a:ea typeface="Arial"/>
                <a:cs typeface="Arial"/>
              </a:defRPr>
            </a:lvl1pPr>
            <a:lvl2pPr>
              <a:defRPr sz="3000" b="1">
                <a:solidFill>
                  <a:srgbClr val="B34C3E"/>
                </a:solidFill>
                <a:latin typeface="Arial"/>
                <a:ea typeface="Arial"/>
                <a:cs typeface="Arial"/>
              </a:defRPr>
            </a:lvl2pPr>
            <a:lvl3pPr>
              <a:defRPr sz="3000" b="1">
                <a:solidFill>
                  <a:srgbClr val="B34C3E"/>
                </a:solidFill>
                <a:latin typeface="Arial"/>
                <a:ea typeface="Arial"/>
                <a:cs typeface="Arial"/>
              </a:defRPr>
            </a:lvl3pPr>
            <a:lvl4pPr>
              <a:defRPr sz="3000" b="1">
                <a:solidFill>
                  <a:srgbClr val="B34C3E"/>
                </a:solidFill>
                <a:latin typeface="Arial"/>
                <a:ea typeface="Arial"/>
                <a:cs typeface="Arial"/>
              </a:defRPr>
            </a:lvl4pPr>
            <a:lvl5pPr>
              <a:defRPr sz="3000" b="1">
                <a:solidFill>
                  <a:srgbClr val="B34C3E"/>
                </a:solidFill>
                <a:latin typeface="Arial"/>
                <a:ea typeface="Arial"/>
                <a:cs typeface="Arial"/>
              </a:defRPr>
            </a:lvl5pPr>
            <a:lvl6pPr>
              <a:defRPr sz="3000" b="1">
                <a:solidFill>
                  <a:srgbClr val="B34C3E"/>
                </a:solidFill>
                <a:latin typeface="Arial"/>
                <a:ea typeface="Arial"/>
                <a:cs typeface="Arial"/>
              </a:defRPr>
            </a:lvl6pPr>
            <a:lvl7pPr>
              <a:defRPr sz="3000" b="1">
                <a:solidFill>
                  <a:srgbClr val="B34C3E"/>
                </a:solidFill>
                <a:latin typeface="Arial"/>
                <a:ea typeface="Arial"/>
                <a:cs typeface="Arial"/>
              </a:defRPr>
            </a:lvl7pPr>
            <a:lvl8pPr>
              <a:defRPr sz="3000" b="1">
                <a:solidFill>
                  <a:srgbClr val="B34C3E"/>
                </a:solidFill>
                <a:latin typeface="Arial"/>
                <a:ea typeface="Arial"/>
                <a:cs typeface="Arial"/>
              </a:defRPr>
            </a:lvl8pPr>
            <a:lvl9pPr>
              <a:defRPr sz="3000" b="1">
                <a:solidFill>
                  <a:srgbClr val="B34C3E"/>
                </a:solidFill>
                <a:latin typeface="Arial"/>
                <a:ea typeface="Arial"/>
                <a:cs typeface="Arial"/>
              </a:defRPr>
            </a:lvl9pPr>
          </a:lstStyle>
          <a:p xmlns:a="http://schemas.openxmlformats.org/drawingml/2006/main">
            <a:pPr>
              <a:defRPr sz="3000" b="1">
                <a:solidFill>
                  <a:srgbClr val="B34C3E"/>
                </a:solidFill>
                <a:latin typeface="Arial"/>
                <a:ea typeface="Arial"/>
                <a:cs typeface="Arial"/>
              </a:defRPr>
            </a:pPr>
            <a:r>
              <a:rPr sz="3000" b="1">
                <a:solidFill>
                  <a:srgbClr val="B34C3E"/>
                </a:solidFill>
                <a:latin typeface="Arial"/>
                <a:ea typeface="Arial"/>
                <a:cs typeface="Arial"/>
              </a:rPr>
              <a:t>Áudio 2</a:t>
            </a:r>
          </a:p>
        </p:txBody>
      </p:sp>
      <p:sp>
        <p:nvSpPr>
          <p:cNvPr id="8" name="">
            <a:extLst xmlns:a="http://schemas.openxmlformats.org/drawingml/2006/main">
              <a:ext uri="{FF2B5EF4-FFF2-40B4-BE49-F238E27FC236}">
                <a16:creationId xmlns:a16="http://schemas.microsoft.com/office/drawing/2014/main" id="{D432E07B-03F6-4B94-AF27-72B89A808F2A}"/>
              </a:ext>
            </a:extLst>
          </p:cNvPr>
          <p:cNvSpPr>
            <a:spLocks xmlns:a="http://schemas.openxmlformats.org/drawingml/2006/main" noGrp="1"/>
          </p:cNvSpPr>
          <p:nvPr/>
        </p:nvSpPr>
        <p:spPr>
          <a:xfrm xmlns:a="http://schemas.openxmlformats.org/drawingml/2006/main">
            <a:off x="6619875" y="319087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D46"/>
                </a:solidFill>
                <a:latin typeface="Arial"/>
                <a:ea typeface="Arial"/>
                <a:cs typeface="Arial"/>
              </a:defRPr>
            </a:defPPr>
            <a:lvl1pPr>
              <a:defRPr sz="2250" b="0">
                <a:solidFill>
                  <a:srgbClr val="173D46"/>
                </a:solidFill>
                <a:latin typeface="Arial"/>
                <a:ea typeface="Arial"/>
                <a:cs typeface="Arial"/>
              </a:defRPr>
            </a:lvl1pPr>
            <a:lvl2pPr>
              <a:defRPr sz="2250" b="0">
                <a:solidFill>
                  <a:srgbClr val="173D46"/>
                </a:solidFill>
                <a:latin typeface="Arial"/>
                <a:ea typeface="Arial"/>
                <a:cs typeface="Arial"/>
              </a:defRPr>
            </a:lvl2pPr>
            <a:lvl3pPr>
              <a:defRPr sz="2250" b="0">
                <a:solidFill>
                  <a:srgbClr val="173D46"/>
                </a:solidFill>
                <a:latin typeface="Arial"/>
                <a:ea typeface="Arial"/>
                <a:cs typeface="Arial"/>
              </a:defRPr>
            </a:lvl3pPr>
            <a:lvl4pPr>
              <a:defRPr sz="2250" b="0">
                <a:solidFill>
                  <a:srgbClr val="173D46"/>
                </a:solidFill>
                <a:latin typeface="Arial"/>
                <a:ea typeface="Arial"/>
                <a:cs typeface="Arial"/>
              </a:defRPr>
            </a:lvl4pPr>
            <a:lvl5pPr>
              <a:defRPr sz="2250" b="0">
                <a:solidFill>
                  <a:srgbClr val="173D46"/>
                </a:solidFill>
                <a:latin typeface="Arial"/>
                <a:ea typeface="Arial"/>
                <a:cs typeface="Arial"/>
              </a:defRPr>
            </a:lvl5pPr>
            <a:lvl6pPr>
              <a:defRPr sz="2250" b="0">
                <a:solidFill>
                  <a:srgbClr val="173D46"/>
                </a:solidFill>
                <a:latin typeface="Arial"/>
                <a:ea typeface="Arial"/>
                <a:cs typeface="Arial"/>
              </a:defRPr>
            </a:lvl6pPr>
            <a:lvl7pPr>
              <a:defRPr sz="2250" b="0">
                <a:solidFill>
                  <a:srgbClr val="173D46"/>
                </a:solidFill>
                <a:latin typeface="Arial"/>
                <a:ea typeface="Arial"/>
                <a:cs typeface="Arial"/>
              </a:defRPr>
            </a:lvl7pPr>
            <a:lvl8pPr>
              <a:defRPr sz="2250" b="0">
                <a:solidFill>
                  <a:srgbClr val="173D46"/>
                </a:solidFill>
                <a:latin typeface="Arial"/>
                <a:ea typeface="Arial"/>
                <a:cs typeface="Arial"/>
              </a:defRPr>
            </a:lvl8pPr>
            <a:lvl9pPr>
              <a:defRPr sz="2250" b="0">
                <a:solidFill>
                  <a:srgbClr val="173D46"/>
                </a:solidFill>
                <a:latin typeface="Arial"/>
                <a:ea typeface="Arial"/>
                <a:cs typeface="Arial"/>
              </a:defRPr>
            </a:lvl9pPr>
          </a:lstStyle>
          <a:p xmlns:a="http://schemas.openxmlformats.org/drawingml/2006/main">
            <a:pPr>
              <a:defRPr sz="2250" b="0">
                <a:solidFill>
                  <a:srgbClr val="173D46"/>
                </a:solidFill>
                <a:latin typeface="Arial"/>
                <a:ea typeface="Arial"/>
                <a:cs typeface="Arial"/>
              </a:defRPr>
            </a:pPr>
            <a:r>
              <a:rPr sz="2250" b="0">
                <a:solidFill>
                  <a:srgbClr val="173D46"/>
                </a:solidFill>
                <a:latin typeface="Arial"/>
                <a:ea typeface="Arial"/>
                <a:cs typeface="Arial"/>
              </a:rPr>
              <a:t>Grupo rotulado Present</a:t>
            </a:r>
          </a:p>
          <a:p xmlns:a="http://schemas.openxmlformats.org/drawingml/2006/main">
            <a:pPr>
              <a:defRPr sz="2250" b="0">
                <a:solidFill>
                  <a:srgbClr val="173D46"/>
                </a:solidFill>
                <a:latin typeface="Arial"/>
                <a:ea typeface="Arial"/>
                <a:cs typeface="Arial"/>
              </a:defRPr>
            </a:pPr>
            <a:r>
              <a:rPr sz="2250" b="0">
                <a:solidFill>
                  <a:srgbClr val="173D46"/>
                </a:solidFill>
                <a:latin typeface="Arial"/>
                <a:ea typeface="Arial"/>
                <a:cs typeface="Arial"/>
              </a:rPr>
              <a:t>49627_AV • validation</a:t>
            </a:r>
          </a:p>
        </p:txBody>
      </p:sp>
      <p:sp>
        <p:nvSpPr>
          <p:cNvPr id="9" name="">
            <a:extLst xmlns:a="http://schemas.openxmlformats.org/drawingml/2006/main">
              <a:ext uri="{FF2B5EF4-FFF2-40B4-BE49-F238E27FC236}">
                <a16:creationId xmlns:a16="http://schemas.microsoft.com/office/drawing/2014/main" id="{96F3A117-662A-46DB-A601-22007AF6F02F}"/>
              </a:ext>
            </a:extLst>
          </p:cNvPr>
          <p:cNvSpPr>
            <a:spLocks xmlns:a="http://schemas.openxmlformats.org/drawingml/2006/main" noGrp="1"/>
          </p:cNvSpPr>
          <p:nvPr/>
        </p:nvSpPr>
        <p:spPr>
          <a:xfrm xmlns:a="http://schemas.openxmlformats.org/drawingml/2006/main">
            <a:off x="619125" y="48768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D46"/>
                </a:solidFill>
                <a:latin typeface="Arial"/>
                <a:ea typeface="Arial"/>
                <a:cs typeface="Arial"/>
              </a:defRPr>
            </a:defPPr>
            <a:lvl1pPr>
              <a:defRPr sz="2325" b="0">
                <a:solidFill>
                  <a:srgbClr val="173D46"/>
                </a:solidFill>
                <a:latin typeface="Arial"/>
                <a:ea typeface="Arial"/>
                <a:cs typeface="Arial"/>
              </a:defRPr>
            </a:lvl1pPr>
            <a:lvl2pPr>
              <a:defRPr sz="2325" b="0">
                <a:solidFill>
                  <a:srgbClr val="173D46"/>
                </a:solidFill>
                <a:latin typeface="Arial"/>
                <a:ea typeface="Arial"/>
                <a:cs typeface="Arial"/>
              </a:defRPr>
            </a:lvl2pPr>
            <a:lvl3pPr>
              <a:defRPr sz="2325" b="0">
                <a:solidFill>
                  <a:srgbClr val="173D46"/>
                </a:solidFill>
                <a:latin typeface="Arial"/>
                <a:ea typeface="Arial"/>
                <a:cs typeface="Arial"/>
              </a:defRPr>
            </a:lvl3pPr>
            <a:lvl4pPr>
              <a:defRPr sz="2325" b="0">
                <a:solidFill>
                  <a:srgbClr val="173D46"/>
                </a:solidFill>
                <a:latin typeface="Arial"/>
                <a:ea typeface="Arial"/>
                <a:cs typeface="Arial"/>
              </a:defRPr>
            </a:lvl4pPr>
            <a:lvl5pPr>
              <a:defRPr sz="2325" b="0">
                <a:solidFill>
                  <a:srgbClr val="173D46"/>
                </a:solidFill>
                <a:latin typeface="Arial"/>
                <a:ea typeface="Arial"/>
                <a:cs typeface="Arial"/>
              </a:defRPr>
            </a:lvl5pPr>
            <a:lvl6pPr>
              <a:defRPr sz="2325" b="0">
                <a:solidFill>
                  <a:srgbClr val="173D46"/>
                </a:solidFill>
                <a:latin typeface="Arial"/>
                <a:ea typeface="Arial"/>
                <a:cs typeface="Arial"/>
              </a:defRPr>
            </a:lvl6pPr>
            <a:lvl7pPr>
              <a:defRPr sz="2325" b="0">
                <a:solidFill>
                  <a:srgbClr val="173D46"/>
                </a:solidFill>
                <a:latin typeface="Arial"/>
                <a:ea typeface="Arial"/>
                <a:cs typeface="Arial"/>
              </a:defRPr>
            </a:lvl7pPr>
            <a:lvl8pPr>
              <a:defRPr sz="2325" b="0">
                <a:solidFill>
                  <a:srgbClr val="173D46"/>
                </a:solidFill>
                <a:latin typeface="Arial"/>
                <a:ea typeface="Arial"/>
                <a:cs typeface="Arial"/>
              </a:defRPr>
            </a:lvl8pPr>
            <a:lvl9pPr>
              <a:defRPr sz="2325" b="0">
                <a:solidFill>
                  <a:srgbClr val="173D46"/>
                </a:solidFill>
                <a:latin typeface="Arial"/>
                <a:ea typeface="Arial"/>
                <a:cs typeface="Arial"/>
              </a:defRPr>
            </a:lvl9pPr>
          </a:lstStyle>
          <a:p xmlns:a="http://schemas.openxmlformats.org/drawingml/2006/main">
            <a:pPr>
              <a:defRPr sz="2325" b="0">
                <a:solidFill>
                  <a:srgbClr val="173D46"/>
                </a:solidFill>
                <a:latin typeface="Arial"/>
                <a:ea typeface="Arial"/>
                <a:cs typeface="Arial"/>
              </a:defRPr>
            </a:pPr>
            <a:r>
              <a:rPr sz="2325" b="0">
                <a:solidFill>
                  <a:srgbClr val="173D46"/>
                </a:solidFill>
                <a:latin typeface="Arial"/>
                <a:ea typeface="Arial"/>
                <a:cs typeface="Arial"/>
              </a:rPr>
              <a:t>O painel inclui seis exemplos reais.</a:t>
            </a:r>
          </a:p>
        </p:txBody>
      </p:sp>
      <p:sp>
        <p:nvSpPr>
          <p:cNvPr id="10" name="">
            <a:extLst xmlns:a="http://schemas.openxmlformats.org/drawingml/2006/main">
              <a:ext uri="{FF2B5EF4-FFF2-40B4-BE49-F238E27FC236}">
                <a16:creationId xmlns:a16="http://schemas.microsoft.com/office/drawing/2014/main" id="{37E6B198-591B-44D7-A80A-2BF20D53EA57}"/>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Um trecho pode não conter um sopro audível, mesmo herdando um rótulo Present</a:t>
            </a:r>
          </a:p>
        </p:txBody>
      </p:sp>
    </p:spTree>
    <p:extLst>
      <p:ext uri="{BB962C8B-B14F-4D97-AF65-F5344CB8AC3E}">
        <p14:creationId xmlns:p14="http://schemas.microsoft.com/office/powerpoint/2010/main" val="4961414"/>
      </p:ext>
    </p:extLst>
  </p:cSld>
</p:sld>
</file>

<file path=ppt/slides/slide6.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4B84C36-6F0C-4224-8F28-39AE3B89F817}"/>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416C2E-569E-44D6-9831-08CD2207FFB9}"/>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Antes do training, separei os grupos</a:t>
            </a:r>
          </a:p>
        </p:txBody>
      </p:sp>
      <p:sp>
        <p:nvSpPr>
          <p:cNvPr id="4" name="">
            <a:extLst xmlns:a="http://schemas.openxmlformats.org/drawingml/2006/main">
              <a:ext uri="{FF2B5EF4-FFF2-40B4-BE49-F238E27FC236}">
                <a16:creationId xmlns:a16="http://schemas.microsoft.com/office/drawing/2014/main" id="{75DE5F56-8A03-4101-8E16-F2867D4388DC}"/>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64AF7558-B62F-4047-A169-96CC0C1B85F1}"/>
              </a:ext>
            </a:extLst>
          </p:cNvPr>
          <p:cNvGraphicFramePr/>
          <p:nvPr/>
        </p:nvGraphicFramePr>
        <p:xfrm>
          <a:off xmlns:a="http://schemas.openxmlformats.org/drawingml/2006/main" x="619125" y="2095500"/>
          <a:ext xmlns:a="http://schemas.openxmlformats.org/drawingml/2006/main" cx="10953750" cy="2905125"/>
        </p:xfrm>
        <a:graphic xmlns:a="http://schemas.openxmlformats.org/drawingml/2006/main">
          <a:graphicData uri="http://schemas.openxmlformats.org/drawingml/2006/table">
            <a:tbl>
              <a:tblPr/>
              <a:tblGrid>
                <a:gridCol w="2667000"/>
                <a:gridCol w="1905000"/>
                <a:gridCol w="3429000"/>
                <a:gridCol w="2952750"/>
              </a:tblGrid>
              <a:tr h="726281">
                <a:tc>
                  <a:txBody>
                    <a:bodyPr/>
                    <a:lstStyle/>
                    <a:p>
                      <a:r>
                        <a:rPr sz="1725" b="1">
                          <a:solidFill>
                            <a:srgbClr val="FFFFFF"/>
                          </a:solidFill>
                          <a:latin typeface="Arial"/>
                          <a:ea typeface="Arial"/>
                          <a:cs typeface="Arial"/>
                        </a:rPr>
                        <a:t>Partição</a:t>
                      </a:r>
                    </a:p>
                  </a:txBody>
                  <a:tcPr marL="123825" marR="95250" marT="104775" marB="104775">
                    <a:lnL w="9525">
                      <a:solidFill>
                        <a:srgbClr val="CEDBD5"/>
                      </a:solidFill>
                    </a:lnL>
                    <a:lnR w="9525">
                      <a:solidFill>
                        <a:srgbClr val="CEDBD5"/>
                      </a:solidFill>
                    </a:lnR>
                    <a:lnT w="9525">
                      <a:solidFill>
                        <a:srgbClr val="CEDBD5"/>
                      </a:solidFill>
                    </a:lnT>
                    <a:lnB w="9525">
                      <a:solidFill>
                        <a:srgbClr val="CEDBD5"/>
                      </a:solidFill>
                    </a:lnB>
                    <a:solidFill>
                      <a:srgbClr val="173D46"/>
                    </a:solidFill>
                  </a:tcPr>
                </a:tc>
                <a:tc>
                  <a:txBody>
                    <a:bodyPr/>
                    <a:lstStyle/>
                    <a:p>
                      <a:r>
                        <a:rPr sz="1725" b="1">
                          <a:solidFill>
                            <a:srgbClr val="FFFFFF"/>
                          </a:solidFill>
                          <a:latin typeface="Arial"/>
                          <a:ea typeface="Arial"/>
                          <a:cs typeface="Arial"/>
                        </a:rPr>
                        <a:t>Grupos</a:t>
                      </a:r>
                    </a:p>
                  </a:txBody>
                  <a:tcPr marL="123825" marR="95250" marT="104775" marB="104775">
                    <a:lnR w="9525">
                      <a:solidFill>
                        <a:srgbClr val="CEDBD5"/>
                      </a:solidFill>
                    </a:lnR>
                    <a:lnT w="9525">
                      <a:solidFill>
                        <a:srgbClr val="CEDBD5"/>
                      </a:solidFill>
                    </a:lnT>
                    <a:lnB w="9525">
                      <a:solidFill>
                        <a:srgbClr val="CEDBD5"/>
                      </a:solidFill>
                    </a:lnB>
                    <a:solidFill>
                      <a:srgbClr val="173D46"/>
                    </a:solidFill>
                  </a:tcPr>
                </a:tc>
                <a:tc>
                  <a:txBody>
                    <a:bodyPr/>
                    <a:lstStyle/>
                    <a:p>
                      <a:r>
                        <a:rPr sz="1725" b="1">
                          <a:solidFill>
                            <a:srgbClr val="FFFFFF"/>
                          </a:solidFill>
                          <a:latin typeface="Arial"/>
                          <a:ea typeface="Arial"/>
                          <a:cs typeface="Arial"/>
                        </a:rPr>
                        <a:t>Present / Absent</a:t>
                      </a:r>
                    </a:p>
                  </a:txBody>
                  <a:tcPr marL="123825" marR="95250" marT="104775" marB="104775">
                    <a:lnR w="9525">
                      <a:solidFill>
                        <a:srgbClr val="CEDBD5"/>
                      </a:solidFill>
                    </a:lnR>
                    <a:lnT w="9525">
                      <a:solidFill>
                        <a:srgbClr val="CEDBD5"/>
                      </a:solidFill>
                    </a:lnT>
                    <a:lnB w="9525">
                      <a:solidFill>
                        <a:srgbClr val="CEDBD5"/>
                      </a:solidFill>
                    </a:lnB>
                    <a:solidFill>
                      <a:srgbClr val="173D46"/>
                    </a:solidFill>
                  </a:tcPr>
                </a:tc>
                <a:tc>
                  <a:txBody>
                    <a:bodyPr/>
                    <a:lstStyle/>
                    <a:p>
                      <a:r>
                        <a:rPr sz="1725" b="1">
                          <a:solidFill>
                            <a:srgbClr val="FFFFFF"/>
                          </a:solidFill>
                          <a:latin typeface="Arial"/>
                          <a:ea typeface="Arial"/>
                          <a:cs typeface="Arial"/>
                        </a:rPr>
                        <a:t>Recordings</a:t>
                      </a:r>
                    </a:p>
                  </a:txBody>
                  <a:tcPr marL="123825" marR="95250" marT="104775" marB="104775">
                    <a:lnR w="9525">
                      <a:solidFill>
                        <a:srgbClr val="CEDBD5"/>
                      </a:solidFill>
                    </a:lnR>
                    <a:lnT w="9525">
                      <a:solidFill>
                        <a:srgbClr val="CEDBD5"/>
                      </a:solidFill>
                    </a:lnT>
                    <a:lnB w="9525">
                      <a:solidFill>
                        <a:srgbClr val="CEDBD5"/>
                      </a:solidFill>
                    </a:lnB>
                    <a:solidFill>
                      <a:srgbClr val="173D46"/>
                    </a:solidFill>
                  </a:tcPr>
                </a:tc>
              </a:tr>
              <a:tr h="726281">
                <a:tc>
                  <a:txBody>
                    <a:bodyPr/>
                    <a:lstStyle/>
                    <a:p>
                      <a:r>
                        <a:rPr sz="1800">
                          <a:solidFill>
                            <a:srgbClr val="173D46"/>
                          </a:solidFill>
                          <a:latin typeface="Arial"/>
                          <a:ea typeface="Arial"/>
                          <a:cs typeface="Arial"/>
                        </a:rPr>
                        <a:t>Training</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568</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109 / 459</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2.066</a:t>
                      </a:r>
                    </a:p>
                  </a:txBody>
                  <a:tcPr marL="123825" marR="95250" marT="104775" marB="104775">
                    <a:lnR w="9525">
                      <a:solidFill>
                        <a:srgbClr val="CEDBD5"/>
                      </a:solidFill>
                    </a:lnR>
                    <a:lnB w="9525">
                      <a:solidFill>
                        <a:srgbClr val="CEDBD5"/>
                      </a:solidFill>
                    </a:lnB>
                    <a:solidFill>
                      <a:srgbClr val="FFFFFF"/>
                    </a:solidFill>
                  </a:tcPr>
                </a:tc>
              </a:tr>
              <a:tr h="726281">
                <a:tc>
                  <a:txBody>
                    <a:bodyPr/>
                    <a:lstStyle/>
                    <a:p>
                      <a:r>
                        <a:rPr sz="1800">
                          <a:solidFill>
                            <a:srgbClr val="173D46"/>
                          </a:solidFill>
                          <a:latin typeface="Arial"/>
                          <a:ea typeface="Arial"/>
                          <a:cs typeface="Arial"/>
                        </a:rPr>
                        <a:t>Validation</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122</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24 / 98</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439</a:t>
                      </a:r>
                    </a:p>
                  </a:txBody>
                  <a:tcPr marL="123825" marR="95250" marT="104775" marB="104775">
                    <a:lnR w="9525">
                      <a:solidFill>
                        <a:srgbClr val="CEDBD5"/>
                      </a:solidFill>
                    </a:lnR>
                    <a:lnB w="9525">
                      <a:solidFill>
                        <a:srgbClr val="CEDBD5"/>
                      </a:solidFill>
                    </a:lnB>
                    <a:solidFill>
                      <a:srgbClr val="FFFFFF"/>
                    </a:solidFill>
                  </a:tcPr>
                </a:tc>
              </a:tr>
              <a:tr h="726281">
                <a:tc>
                  <a:txBody>
                    <a:bodyPr/>
                    <a:lstStyle/>
                    <a:p>
                      <a:r>
                        <a:rPr sz="1800">
                          <a:solidFill>
                            <a:srgbClr val="173D46"/>
                          </a:solidFill>
                          <a:latin typeface="Arial"/>
                          <a:ea typeface="Arial"/>
                          <a:cs typeface="Arial"/>
                        </a:rPr>
                        <a:t>Test</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122</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24 / 98</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471</a:t>
                      </a:r>
                    </a:p>
                  </a:txBody>
                  <a:tcPr marL="123825" marR="95250" marT="104775" marB="104775">
                    <a:lnR w="9525">
                      <a:solidFill>
                        <a:srgbClr val="CEDBD5"/>
                      </a:solidFill>
                    </a:lnR>
                    <a:lnB w="9525">
                      <a:solidFill>
                        <a:srgbClr val="CEDBD5"/>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702BC4A-F68A-480E-A211-1425289B41C7}"/>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Os grupos são separados antes de criar as windows. Unknown foi excluído</a:t>
            </a:r>
          </a:p>
        </p:txBody>
      </p:sp>
    </p:spTree>
    <p:extLst>
      <p:ext uri="{BB962C8B-B14F-4D97-AF65-F5344CB8AC3E}">
        <p14:creationId xmlns:p14="http://schemas.microsoft.com/office/powerpoint/2010/main" val="912002244"/>
      </p:ext>
    </p:extLst>
  </p:cSld>
</p:sld>
</file>

<file path=ppt/slides/slide7.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71D287-D02F-4566-A10D-BADEDB074068}"/>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570039A-CDDE-4DE7-AE10-4D0792A67779}"/>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Do som aos números</a:t>
            </a:r>
          </a:p>
        </p:txBody>
      </p:sp>
      <p:sp>
        <p:nvSpPr>
          <p:cNvPr id="4" name="">
            <a:extLst xmlns:a="http://schemas.openxmlformats.org/drawingml/2006/main">
              <a:ext uri="{FF2B5EF4-FFF2-40B4-BE49-F238E27FC236}">
                <a16:creationId xmlns:a16="http://schemas.microsoft.com/office/drawing/2014/main" id="{44834BAE-AD5D-4323-B782-8438D6B83217}"/>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07</a:t>
            </a:r>
          </a:p>
        </p:txBody>
      </p:sp>
      <p:pic>
        <p:nvPicPr>
          <p:cNvPr id="5" name="">
            <a:extLst xmlns:a="http://schemas.openxmlformats.org/drawingml/2006/main">
              <a:ext uri="{FF2B5EF4-FFF2-40B4-BE49-F238E27FC236}">
                <a16:creationId xmlns:a16="http://schemas.microsoft.com/office/drawing/2014/main" id="{08D12372-7E5B-45D6-A4F2-DB92B336DFE1}"/>
              </a:ext>
            </a:extLst>
          </p:cNvPr>
          <p:cNvPicPr>
            <a:picLocks xmlns:a="http://schemas.openxmlformats.org/drawingml/2006/main" noChangeAspect="1"/>
          </p:cNvPicPr>
          <p:nvPr/>
        </p:nvPicPr>
        <p:blipFill>
          <a:blip xmlns:r="http://schemas.openxmlformats.org/officeDocument/2006/relationships" xmlns:a="http://schemas.openxmlformats.org/drawingml/2006/main" r:embed="R248eca5770af4871"/>
          <a:stretch xmlns:a="http://schemas.openxmlformats.org/drawingml/2006/main"/>
        </p:blipFill>
        <p:spPr>
          <a:xfrm xmlns:a="http://schemas.openxmlformats.org/drawingml/2006/main">
            <a:off x="1270836" y="1847850"/>
            <a:ext cx="9650329" cy="166687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27FF38F0-FB03-4CC8-8273-B42C99CEFD5B}"/>
              </a:ext>
            </a:extLst>
          </p:cNvPr>
          <p:cNvPicPr>
            <a:picLocks xmlns:a="http://schemas.openxmlformats.org/drawingml/2006/main" noChangeAspect="1"/>
          </p:cNvPicPr>
          <p:nvPr/>
        </p:nvPicPr>
        <p:blipFill>
          <a:blip xmlns:r="http://schemas.openxmlformats.org/officeDocument/2006/relationships" xmlns:a="http://schemas.openxmlformats.org/drawingml/2006/main" r:embed="R4c4a6abecef7402d"/>
          <a:stretch xmlns:a="http://schemas.openxmlformats.org/drawingml/2006/main"/>
        </p:blipFill>
        <p:spPr>
          <a:xfrm xmlns:a="http://schemas.openxmlformats.org/drawingml/2006/main">
            <a:off x="904875" y="3667125"/>
            <a:ext cx="10382250" cy="20764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DBB618A-3D97-4324-97F4-85B243256EE1}"/>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Waveform e log-MFE reais de uma window de validation</a:t>
            </a:r>
          </a:p>
        </p:txBody>
      </p:sp>
    </p:spTree>
    <p:extLst>
      <p:ext uri="{BB962C8B-B14F-4D97-AF65-F5344CB8AC3E}">
        <p14:creationId xmlns:p14="http://schemas.microsoft.com/office/powerpoint/2010/main" val="704541247"/>
      </p:ext>
    </p:extLst>
  </p:cSld>
</p:sld>
</file>

<file path=ppt/slides/slide8.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A7FD851-B6E2-4651-A709-C7B736C57EEF}"/>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BA598A0-9D24-4169-BD71-D9A9F063BC92}"/>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Quantas entradas a rede recebe?</a:t>
            </a:r>
          </a:p>
        </p:txBody>
      </p:sp>
      <p:sp>
        <p:nvSpPr>
          <p:cNvPr id="4" name="">
            <a:extLst xmlns:a="http://schemas.openxmlformats.org/drawingml/2006/main">
              <a:ext uri="{FF2B5EF4-FFF2-40B4-BE49-F238E27FC236}">
                <a16:creationId xmlns:a16="http://schemas.microsoft.com/office/drawing/2014/main" id="{78BB6BC0-93BD-45BD-B5BD-7290A9F90FD1}"/>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B96E1943-649B-4D10-B9F2-A399B1CA145B}"/>
              </a:ext>
            </a:extLst>
          </p:cNvPr>
          <p:cNvSpPr>
            <a:spLocks xmlns:a="http://schemas.openxmlformats.org/drawingml/2006/main" noGrp="1"/>
          </p:cNvSpPr>
          <p:nvPr/>
        </p:nvSpPr>
        <p:spPr>
          <a:xfrm xmlns:a="http://schemas.openxmlformats.org/drawingml/2006/main">
            <a:off x="619125" y="209550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4766B"/>
                </a:solidFill>
                <a:latin typeface="Arial"/>
                <a:ea typeface="Arial"/>
                <a:cs typeface="Arial"/>
              </a:defRPr>
            </a:defPPr>
            <a:lvl1pPr>
              <a:defRPr sz="2775" b="1">
                <a:solidFill>
                  <a:srgbClr val="14766B"/>
                </a:solidFill>
                <a:latin typeface="Arial"/>
                <a:ea typeface="Arial"/>
                <a:cs typeface="Arial"/>
              </a:defRPr>
            </a:lvl1pPr>
            <a:lvl2pPr>
              <a:defRPr sz="2775" b="1">
                <a:solidFill>
                  <a:srgbClr val="14766B"/>
                </a:solidFill>
                <a:latin typeface="Arial"/>
                <a:ea typeface="Arial"/>
                <a:cs typeface="Arial"/>
              </a:defRPr>
            </a:lvl2pPr>
            <a:lvl3pPr>
              <a:defRPr sz="2775" b="1">
                <a:solidFill>
                  <a:srgbClr val="14766B"/>
                </a:solidFill>
                <a:latin typeface="Arial"/>
                <a:ea typeface="Arial"/>
                <a:cs typeface="Arial"/>
              </a:defRPr>
            </a:lvl3pPr>
            <a:lvl4pPr>
              <a:defRPr sz="2775" b="1">
                <a:solidFill>
                  <a:srgbClr val="14766B"/>
                </a:solidFill>
                <a:latin typeface="Arial"/>
                <a:ea typeface="Arial"/>
                <a:cs typeface="Arial"/>
              </a:defRPr>
            </a:lvl4pPr>
            <a:lvl5pPr>
              <a:defRPr sz="2775" b="1">
                <a:solidFill>
                  <a:srgbClr val="14766B"/>
                </a:solidFill>
                <a:latin typeface="Arial"/>
                <a:ea typeface="Arial"/>
                <a:cs typeface="Arial"/>
              </a:defRPr>
            </a:lvl5pPr>
            <a:lvl6pPr>
              <a:defRPr sz="2775" b="1">
                <a:solidFill>
                  <a:srgbClr val="14766B"/>
                </a:solidFill>
                <a:latin typeface="Arial"/>
                <a:ea typeface="Arial"/>
                <a:cs typeface="Arial"/>
              </a:defRPr>
            </a:lvl6pPr>
            <a:lvl7pPr>
              <a:defRPr sz="2775" b="1">
                <a:solidFill>
                  <a:srgbClr val="14766B"/>
                </a:solidFill>
                <a:latin typeface="Arial"/>
                <a:ea typeface="Arial"/>
                <a:cs typeface="Arial"/>
              </a:defRPr>
            </a:lvl7pPr>
            <a:lvl8pPr>
              <a:defRPr sz="2775" b="1">
                <a:solidFill>
                  <a:srgbClr val="14766B"/>
                </a:solidFill>
                <a:latin typeface="Arial"/>
                <a:ea typeface="Arial"/>
                <a:cs typeface="Arial"/>
              </a:defRPr>
            </a:lvl8pPr>
            <a:lvl9pPr>
              <a:defRPr sz="2775" b="1">
                <a:solidFill>
                  <a:srgbClr val="14766B"/>
                </a:solidFill>
                <a:latin typeface="Arial"/>
                <a:ea typeface="Arial"/>
                <a:cs typeface="Arial"/>
              </a:defRPr>
            </a:lvl9pPr>
          </a:lstStyle>
          <a:p xmlns:a="http://schemas.openxmlformats.org/drawingml/2006/main">
            <a:pPr>
              <a:defRPr sz="2775" b="1">
                <a:solidFill>
                  <a:srgbClr val="14766B"/>
                </a:solidFill>
                <a:latin typeface="Arial"/>
                <a:ea typeface="Arial"/>
                <a:cs typeface="Arial"/>
              </a:defRPr>
            </a:pPr>
            <a:r>
              <a:rPr sz="2775" b="1">
                <a:solidFill>
                  <a:srgbClr val="14766B"/>
                </a:solidFill>
                <a:latin typeface="Arial"/>
                <a:ea typeface="Arial"/>
                <a:cs typeface="Arial"/>
              </a:rPr>
              <a:t>3 s × 4.000 samples/s = 12.000 samples</a:t>
            </a:r>
          </a:p>
        </p:txBody>
      </p:sp>
      <p:sp>
        <p:nvSpPr>
          <p:cNvPr id="6" name="">
            <a:extLst xmlns:a="http://schemas.openxmlformats.org/drawingml/2006/main">
              <a:ext uri="{FF2B5EF4-FFF2-40B4-BE49-F238E27FC236}">
                <a16:creationId xmlns:a16="http://schemas.microsoft.com/office/drawing/2014/main" id="{F69A13BC-67E3-47B7-A2BB-A6E02CFF2463}"/>
              </a:ext>
            </a:extLst>
          </p:cNvPr>
          <p:cNvSpPr>
            <a:spLocks xmlns:a="http://schemas.openxmlformats.org/drawingml/2006/main" noGrp="1"/>
          </p:cNvSpPr>
          <p:nvPr/>
        </p:nvSpPr>
        <p:spPr>
          <a:xfrm xmlns:a="http://schemas.openxmlformats.org/drawingml/2006/main">
            <a:off x="619125" y="31432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D46"/>
                </a:solidFill>
                <a:latin typeface="Arial"/>
                <a:ea typeface="Arial"/>
                <a:cs typeface="Arial"/>
              </a:defRPr>
            </a:defPPr>
            <a:lvl1pPr>
              <a:defRPr sz="2400" b="0">
                <a:solidFill>
                  <a:srgbClr val="173D46"/>
                </a:solidFill>
                <a:latin typeface="Arial"/>
                <a:ea typeface="Arial"/>
                <a:cs typeface="Arial"/>
              </a:defRPr>
            </a:lvl1pPr>
            <a:lvl2pPr>
              <a:defRPr sz="2400" b="0">
                <a:solidFill>
                  <a:srgbClr val="173D46"/>
                </a:solidFill>
                <a:latin typeface="Arial"/>
                <a:ea typeface="Arial"/>
                <a:cs typeface="Arial"/>
              </a:defRPr>
            </a:lvl2pPr>
            <a:lvl3pPr>
              <a:defRPr sz="2400" b="0">
                <a:solidFill>
                  <a:srgbClr val="173D46"/>
                </a:solidFill>
                <a:latin typeface="Arial"/>
                <a:ea typeface="Arial"/>
                <a:cs typeface="Arial"/>
              </a:defRPr>
            </a:lvl3pPr>
            <a:lvl4pPr>
              <a:defRPr sz="2400" b="0">
                <a:solidFill>
                  <a:srgbClr val="173D46"/>
                </a:solidFill>
                <a:latin typeface="Arial"/>
                <a:ea typeface="Arial"/>
                <a:cs typeface="Arial"/>
              </a:defRPr>
            </a:lvl4pPr>
            <a:lvl5pPr>
              <a:defRPr sz="2400" b="0">
                <a:solidFill>
                  <a:srgbClr val="173D46"/>
                </a:solidFill>
                <a:latin typeface="Arial"/>
                <a:ea typeface="Arial"/>
                <a:cs typeface="Arial"/>
              </a:defRPr>
            </a:lvl5pPr>
            <a:lvl6pPr>
              <a:defRPr sz="2400" b="0">
                <a:solidFill>
                  <a:srgbClr val="173D46"/>
                </a:solidFill>
                <a:latin typeface="Arial"/>
                <a:ea typeface="Arial"/>
                <a:cs typeface="Arial"/>
              </a:defRPr>
            </a:lvl6pPr>
            <a:lvl7pPr>
              <a:defRPr sz="2400" b="0">
                <a:solidFill>
                  <a:srgbClr val="173D46"/>
                </a:solidFill>
                <a:latin typeface="Arial"/>
                <a:ea typeface="Arial"/>
                <a:cs typeface="Arial"/>
              </a:defRPr>
            </a:lvl7pPr>
            <a:lvl8pPr>
              <a:defRPr sz="2400" b="0">
                <a:solidFill>
                  <a:srgbClr val="173D46"/>
                </a:solidFill>
                <a:latin typeface="Arial"/>
                <a:ea typeface="Arial"/>
                <a:cs typeface="Arial"/>
              </a:defRPr>
            </a:lvl8pPr>
            <a:lvl9pPr>
              <a:defRPr sz="2400" b="0">
                <a:solidFill>
                  <a:srgbClr val="173D46"/>
                </a:solidFill>
                <a:latin typeface="Arial"/>
                <a:ea typeface="Arial"/>
                <a:cs typeface="Arial"/>
              </a:defRPr>
            </a:lvl9pPr>
          </a:lstStyle>
          <a:p xmlns:a="http://schemas.openxmlformats.org/drawingml/2006/main">
            <a:pPr>
              <a:defRPr sz="2400" b="0">
                <a:solidFill>
                  <a:srgbClr val="173D46"/>
                </a:solidFill>
                <a:latin typeface="Arial"/>
                <a:ea typeface="Arial"/>
                <a:cs typeface="Arial"/>
              </a:defRPr>
            </a:pPr>
            <a:r>
              <a:rPr sz="2400" b="0">
                <a:solidFill>
                  <a:srgbClr val="173D46"/>
                </a:solidFill>
                <a:latin typeface="Arial"/>
                <a:ea typeface="Arial"/>
                <a:cs typeface="Arial"/>
              </a:rPr>
              <a:t>Hann window: 128 samples</a:t>
            </a:r>
          </a:p>
          <a:p xmlns:a="http://schemas.openxmlformats.org/drawingml/2006/main">
            <a:pPr>
              <a:defRPr sz="2400" b="0">
                <a:solidFill>
                  <a:srgbClr val="173D46"/>
                </a:solidFill>
                <a:latin typeface="Arial"/>
                <a:ea typeface="Arial"/>
                <a:cs typeface="Arial"/>
              </a:defRPr>
            </a:pPr>
            <a:r>
              <a:rPr sz="2400" b="0">
                <a:solidFill>
                  <a:srgbClr val="173D46"/>
                </a:solidFill>
                <a:latin typeface="Arial"/>
                <a:ea typeface="Arial"/>
                <a:cs typeface="Arial"/>
              </a:rPr>
              <a:t>Frame hop: 64 samples</a:t>
            </a:r>
          </a:p>
        </p:txBody>
      </p:sp>
      <p:sp>
        <p:nvSpPr>
          <p:cNvPr id="7" name="">
            <a:extLst xmlns:a="http://schemas.openxmlformats.org/drawingml/2006/main">
              <a:ext uri="{FF2B5EF4-FFF2-40B4-BE49-F238E27FC236}">
                <a16:creationId xmlns:a16="http://schemas.microsoft.com/office/drawing/2014/main" id="{D2AFC917-CE65-42F5-9EE5-2D0F886D42C7}"/>
              </a:ext>
            </a:extLst>
          </p:cNvPr>
          <p:cNvSpPr>
            <a:spLocks xmlns:a="http://schemas.openxmlformats.org/drawingml/2006/main" noGrp="1"/>
          </p:cNvSpPr>
          <p:nvPr/>
        </p:nvSpPr>
        <p:spPr>
          <a:xfrm xmlns:a="http://schemas.openxmlformats.org/drawingml/2006/main">
            <a:off x="619125" y="44481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173D46"/>
                </a:solidFill>
                <a:latin typeface="Arial"/>
                <a:ea typeface="Arial"/>
                <a:cs typeface="Arial"/>
              </a:defRPr>
            </a:defPPr>
            <a:lvl1pPr>
              <a:defRPr sz="2625" b="0">
                <a:solidFill>
                  <a:srgbClr val="173D46"/>
                </a:solidFill>
                <a:latin typeface="Arial"/>
                <a:ea typeface="Arial"/>
                <a:cs typeface="Arial"/>
              </a:defRPr>
            </a:lvl1pPr>
            <a:lvl2pPr>
              <a:defRPr sz="2625" b="0">
                <a:solidFill>
                  <a:srgbClr val="173D46"/>
                </a:solidFill>
                <a:latin typeface="Arial"/>
                <a:ea typeface="Arial"/>
                <a:cs typeface="Arial"/>
              </a:defRPr>
            </a:lvl2pPr>
            <a:lvl3pPr>
              <a:defRPr sz="2625" b="0">
                <a:solidFill>
                  <a:srgbClr val="173D46"/>
                </a:solidFill>
                <a:latin typeface="Arial"/>
                <a:ea typeface="Arial"/>
                <a:cs typeface="Arial"/>
              </a:defRPr>
            </a:lvl3pPr>
            <a:lvl4pPr>
              <a:defRPr sz="2625" b="0">
                <a:solidFill>
                  <a:srgbClr val="173D46"/>
                </a:solidFill>
                <a:latin typeface="Arial"/>
                <a:ea typeface="Arial"/>
                <a:cs typeface="Arial"/>
              </a:defRPr>
            </a:lvl4pPr>
            <a:lvl5pPr>
              <a:defRPr sz="2625" b="0">
                <a:solidFill>
                  <a:srgbClr val="173D46"/>
                </a:solidFill>
                <a:latin typeface="Arial"/>
                <a:ea typeface="Arial"/>
                <a:cs typeface="Arial"/>
              </a:defRPr>
            </a:lvl5pPr>
            <a:lvl6pPr>
              <a:defRPr sz="2625" b="0">
                <a:solidFill>
                  <a:srgbClr val="173D46"/>
                </a:solidFill>
                <a:latin typeface="Arial"/>
                <a:ea typeface="Arial"/>
                <a:cs typeface="Arial"/>
              </a:defRPr>
            </a:lvl6pPr>
            <a:lvl7pPr>
              <a:defRPr sz="2625" b="0">
                <a:solidFill>
                  <a:srgbClr val="173D46"/>
                </a:solidFill>
                <a:latin typeface="Arial"/>
                <a:ea typeface="Arial"/>
                <a:cs typeface="Arial"/>
              </a:defRPr>
            </a:lvl7pPr>
            <a:lvl8pPr>
              <a:defRPr sz="2625" b="0">
                <a:solidFill>
                  <a:srgbClr val="173D46"/>
                </a:solidFill>
                <a:latin typeface="Arial"/>
                <a:ea typeface="Arial"/>
                <a:cs typeface="Arial"/>
              </a:defRPr>
            </a:lvl8pPr>
            <a:lvl9pPr>
              <a:defRPr sz="2625" b="0">
                <a:solidFill>
                  <a:srgbClr val="173D46"/>
                </a:solidFill>
                <a:latin typeface="Arial"/>
                <a:ea typeface="Arial"/>
                <a:cs typeface="Arial"/>
              </a:defRPr>
            </a:lvl9pPr>
          </a:lstStyle>
          <a:p xmlns:a="http://schemas.openxmlformats.org/drawingml/2006/main">
            <a:pPr>
              <a:defRPr sz="2625" b="0">
                <a:solidFill>
                  <a:srgbClr val="173D46"/>
                </a:solidFill>
                <a:latin typeface="Arial"/>
                <a:ea typeface="Arial"/>
                <a:cs typeface="Arial"/>
              </a:defRPr>
            </a:pPr>
            <a:r>
              <a:rPr sz="2625" b="0">
                <a:solidFill>
                  <a:srgbClr val="173D46"/>
                </a:solidFill>
                <a:latin typeface="Arial"/>
                <a:ea typeface="Arial"/>
                <a:cs typeface="Arial"/>
              </a:rPr>
              <a:t>1 + floor((12.000 − 128) / 64) = 186 frames</a:t>
            </a:r>
          </a:p>
        </p:txBody>
      </p:sp>
      <p:sp>
        <p:nvSpPr>
          <p:cNvPr id="8" name="">
            <a:extLst xmlns:a="http://schemas.openxmlformats.org/drawingml/2006/main">
              <a:ext uri="{FF2B5EF4-FFF2-40B4-BE49-F238E27FC236}">
                <a16:creationId xmlns:a16="http://schemas.microsoft.com/office/drawing/2014/main" id="{1BD798B1-E308-4A3D-94FA-E940E562907F}"/>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186 frames × 24 Mel bands = 4.464 features por window</a:t>
            </a:r>
          </a:p>
        </p:txBody>
      </p:sp>
    </p:spTree>
    <p:extLst>
      <p:ext uri="{BB962C8B-B14F-4D97-AF65-F5344CB8AC3E}">
        <p14:creationId xmlns:p14="http://schemas.microsoft.com/office/powerpoint/2010/main" val="690853996"/>
      </p:ext>
    </p:extLst>
  </p:cSld>
</p:sld>
</file>

<file path=ppt/slides/slide9.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5C69D5A-18EA-4223-BB97-ECFEAB7D6447}"/>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6585C13-4520-4675-A9AE-5CBCE5E229D6}"/>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O MFE resume a energia em frequências</a:t>
            </a:r>
          </a:p>
        </p:txBody>
      </p:sp>
      <p:sp>
        <p:nvSpPr>
          <p:cNvPr id="4" name="">
            <a:extLst xmlns:a="http://schemas.openxmlformats.org/drawingml/2006/main">
              <a:ext uri="{FF2B5EF4-FFF2-40B4-BE49-F238E27FC236}">
                <a16:creationId xmlns:a16="http://schemas.microsoft.com/office/drawing/2014/main" id="{D72A1058-E126-46A5-97F0-92397CF9D098}"/>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91020ECB-F01D-4395-892C-4C734B87F295}"/>
              </a:ext>
            </a:extLst>
          </p:cNvPr>
          <p:cNvSpPr>
            <a:spLocks xmlns:a="http://schemas.openxmlformats.org/drawingml/2006/main" noGrp="1"/>
          </p:cNvSpPr>
          <p:nvPr/>
        </p:nvSpPr>
        <p:spPr>
          <a:xfrm xmlns:a="http://schemas.openxmlformats.org/drawingml/2006/main">
            <a:off x="619125" y="195262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4766B"/>
                </a:solidFill>
                <a:latin typeface="Arial"/>
                <a:ea typeface="Arial"/>
                <a:cs typeface="Arial"/>
              </a:defRPr>
            </a:defPPr>
            <a:lvl1pPr>
              <a:defRPr sz="2400" b="1">
                <a:solidFill>
                  <a:srgbClr val="14766B"/>
                </a:solidFill>
                <a:latin typeface="Arial"/>
                <a:ea typeface="Arial"/>
                <a:cs typeface="Arial"/>
              </a:defRPr>
            </a:lvl1pPr>
            <a:lvl2pPr>
              <a:defRPr sz="2400" b="1">
                <a:solidFill>
                  <a:srgbClr val="14766B"/>
                </a:solidFill>
                <a:latin typeface="Arial"/>
                <a:ea typeface="Arial"/>
                <a:cs typeface="Arial"/>
              </a:defRPr>
            </a:lvl2pPr>
            <a:lvl3pPr>
              <a:defRPr sz="2400" b="1">
                <a:solidFill>
                  <a:srgbClr val="14766B"/>
                </a:solidFill>
                <a:latin typeface="Arial"/>
                <a:ea typeface="Arial"/>
                <a:cs typeface="Arial"/>
              </a:defRPr>
            </a:lvl3pPr>
            <a:lvl4pPr>
              <a:defRPr sz="2400" b="1">
                <a:solidFill>
                  <a:srgbClr val="14766B"/>
                </a:solidFill>
                <a:latin typeface="Arial"/>
                <a:ea typeface="Arial"/>
                <a:cs typeface="Arial"/>
              </a:defRPr>
            </a:lvl4pPr>
            <a:lvl5pPr>
              <a:defRPr sz="2400" b="1">
                <a:solidFill>
                  <a:srgbClr val="14766B"/>
                </a:solidFill>
                <a:latin typeface="Arial"/>
                <a:ea typeface="Arial"/>
                <a:cs typeface="Arial"/>
              </a:defRPr>
            </a:lvl5pPr>
            <a:lvl6pPr>
              <a:defRPr sz="2400" b="1">
                <a:solidFill>
                  <a:srgbClr val="14766B"/>
                </a:solidFill>
                <a:latin typeface="Arial"/>
                <a:ea typeface="Arial"/>
                <a:cs typeface="Arial"/>
              </a:defRPr>
            </a:lvl6pPr>
            <a:lvl7pPr>
              <a:defRPr sz="2400" b="1">
                <a:solidFill>
                  <a:srgbClr val="14766B"/>
                </a:solidFill>
                <a:latin typeface="Arial"/>
                <a:ea typeface="Arial"/>
                <a:cs typeface="Arial"/>
              </a:defRPr>
            </a:lvl7pPr>
            <a:lvl8pPr>
              <a:defRPr sz="2400" b="1">
                <a:solidFill>
                  <a:srgbClr val="14766B"/>
                </a:solidFill>
                <a:latin typeface="Arial"/>
                <a:ea typeface="Arial"/>
                <a:cs typeface="Arial"/>
              </a:defRPr>
            </a:lvl8pPr>
            <a:lvl9pPr>
              <a:defRPr sz="2400" b="1">
                <a:solidFill>
                  <a:srgbClr val="14766B"/>
                </a:solidFill>
                <a:latin typeface="Arial"/>
                <a:ea typeface="Arial"/>
                <a:cs typeface="Arial"/>
              </a:defRPr>
            </a:lvl9pPr>
          </a:lstStyle>
          <a:p xmlns:a="http://schemas.openxmlformats.org/drawingml/2006/main">
            <a:pPr>
              <a:defRPr sz="2400" b="1">
                <a:solidFill>
                  <a:srgbClr val="14766B"/>
                </a:solidFill>
                <a:latin typeface="Arial"/>
                <a:ea typeface="Arial"/>
                <a:cs typeface="Arial"/>
              </a:defRPr>
            </a:pPr>
            <a:r>
              <a:rPr sz="2400" b="1">
                <a:solidFill>
                  <a:srgbClr val="14766B"/>
                </a:solidFill>
                <a:latin typeface="Arial"/>
                <a:ea typeface="Arial"/>
                <a:cs typeface="Arial"/>
              </a:rPr>
              <a:t>Hann → FFT → power spectrum</a:t>
            </a:r>
          </a:p>
          <a:p xmlns:a="http://schemas.openxmlformats.org/drawingml/2006/main">
            <a:pPr>
              <a:defRPr sz="2400" b="1">
                <a:solidFill>
                  <a:srgbClr val="14766B"/>
                </a:solidFill>
                <a:latin typeface="Arial"/>
                <a:ea typeface="Arial"/>
                <a:cs typeface="Arial"/>
              </a:defRPr>
            </a:pPr>
            <a:r>
              <a:rPr sz="2400" b="1">
                <a:solidFill>
                  <a:srgbClr val="14766B"/>
                </a:solidFill>
                <a:latin typeface="Arial"/>
                <a:ea typeface="Arial"/>
                <a:cs typeface="Arial"/>
              </a:rPr>
              <a:t>24 Mel filters → log-energy → normalization</a:t>
            </a:r>
          </a:p>
        </p:txBody>
      </p:sp>
      <p:sp>
        <p:nvSpPr>
          <p:cNvPr id="6" name="">
            <a:extLst xmlns:a="http://schemas.openxmlformats.org/drawingml/2006/main">
              <a:ext uri="{FF2B5EF4-FFF2-40B4-BE49-F238E27FC236}">
                <a16:creationId xmlns:a16="http://schemas.microsoft.com/office/drawing/2014/main" id="{DBBE7241-EB41-4E1D-9313-819167CE3DD7}"/>
              </a:ext>
            </a:extLst>
          </p:cNvPr>
          <p:cNvSpPr>
            <a:spLocks xmlns:a="http://schemas.openxmlformats.org/drawingml/2006/main" noGrp="1"/>
          </p:cNvSpPr>
          <p:nvPr/>
        </p:nvSpPr>
        <p:spPr>
          <a:xfrm xmlns:a="http://schemas.openxmlformats.org/drawingml/2006/main">
            <a:off x="619125" y="3476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73D46"/>
                </a:solidFill>
                <a:latin typeface="Arial"/>
                <a:ea typeface="Arial"/>
                <a:cs typeface="Arial"/>
              </a:defRPr>
            </a:defPPr>
            <a:lvl1pPr>
              <a:defRPr sz="2550" b="0">
                <a:solidFill>
                  <a:srgbClr val="173D46"/>
                </a:solidFill>
                <a:latin typeface="Arial"/>
                <a:ea typeface="Arial"/>
                <a:cs typeface="Arial"/>
              </a:defRPr>
            </a:lvl1pPr>
            <a:lvl2pPr>
              <a:defRPr sz="2550" b="0">
                <a:solidFill>
                  <a:srgbClr val="173D46"/>
                </a:solidFill>
                <a:latin typeface="Arial"/>
                <a:ea typeface="Arial"/>
                <a:cs typeface="Arial"/>
              </a:defRPr>
            </a:lvl2pPr>
            <a:lvl3pPr>
              <a:defRPr sz="2550" b="0">
                <a:solidFill>
                  <a:srgbClr val="173D46"/>
                </a:solidFill>
                <a:latin typeface="Arial"/>
                <a:ea typeface="Arial"/>
                <a:cs typeface="Arial"/>
              </a:defRPr>
            </a:lvl3pPr>
            <a:lvl4pPr>
              <a:defRPr sz="2550" b="0">
                <a:solidFill>
                  <a:srgbClr val="173D46"/>
                </a:solidFill>
                <a:latin typeface="Arial"/>
                <a:ea typeface="Arial"/>
                <a:cs typeface="Arial"/>
              </a:defRPr>
            </a:lvl4pPr>
            <a:lvl5pPr>
              <a:defRPr sz="2550" b="0">
                <a:solidFill>
                  <a:srgbClr val="173D46"/>
                </a:solidFill>
                <a:latin typeface="Arial"/>
                <a:ea typeface="Arial"/>
                <a:cs typeface="Arial"/>
              </a:defRPr>
            </a:lvl5pPr>
            <a:lvl6pPr>
              <a:defRPr sz="2550" b="0">
                <a:solidFill>
                  <a:srgbClr val="173D46"/>
                </a:solidFill>
                <a:latin typeface="Arial"/>
                <a:ea typeface="Arial"/>
                <a:cs typeface="Arial"/>
              </a:defRPr>
            </a:lvl6pPr>
            <a:lvl7pPr>
              <a:defRPr sz="2550" b="0">
                <a:solidFill>
                  <a:srgbClr val="173D46"/>
                </a:solidFill>
                <a:latin typeface="Arial"/>
                <a:ea typeface="Arial"/>
                <a:cs typeface="Arial"/>
              </a:defRPr>
            </a:lvl7pPr>
            <a:lvl8pPr>
              <a:defRPr sz="2550" b="0">
                <a:solidFill>
                  <a:srgbClr val="173D46"/>
                </a:solidFill>
                <a:latin typeface="Arial"/>
                <a:ea typeface="Arial"/>
                <a:cs typeface="Arial"/>
              </a:defRPr>
            </a:lvl8pPr>
            <a:lvl9pPr>
              <a:defRPr sz="2550" b="0">
                <a:solidFill>
                  <a:srgbClr val="173D46"/>
                </a:solidFill>
                <a:latin typeface="Arial"/>
                <a:ea typeface="Arial"/>
                <a:cs typeface="Arial"/>
              </a:defRPr>
            </a:lvl9pPr>
          </a:lstStyle>
          <a:p xmlns:a="http://schemas.openxmlformats.org/drawingml/2006/main">
            <a:pPr>
              <a:defRPr sz="2550" b="0">
                <a:solidFill>
                  <a:srgbClr val="173D46"/>
                </a:solidFill>
                <a:latin typeface="Arial"/>
                <a:ea typeface="Arial"/>
                <a:cs typeface="Arial"/>
              </a:defRPr>
            </a:pPr>
            <a:r>
              <a:rPr sz="2550" b="0">
                <a:solidFill>
                  <a:srgbClr val="173D46"/>
                </a:solidFill>
                <a:latin typeface="Arial"/>
                <a:ea typeface="Arial"/>
                <a:cs typeface="Arial"/>
              </a:rPr>
              <a:t>E(t, b) = Σ H(b, k) × |X(t, k)|²</a:t>
            </a:r>
          </a:p>
        </p:txBody>
      </p:sp>
      <p:sp>
        <p:nvSpPr>
          <p:cNvPr id="7" name="">
            <a:extLst xmlns:a="http://schemas.openxmlformats.org/drawingml/2006/main">
              <a:ext uri="{FF2B5EF4-FFF2-40B4-BE49-F238E27FC236}">
                <a16:creationId xmlns:a16="http://schemas.microsoft.com/office/drawing/2014/main" id="{429A2090-A797-489C-B235-3DF3333BCBCA}"/>
              </a:ext>
            </a:extLst>
          </p:cNvPr>
          <p:cNvSpPr>
            <a:spLocks xmlns:a="http://schemas.openxmlformats.org/drawingml/2006/main" noGrp="1"/>
          </p:cNvSpPr>
          <p:nvPr/>
        </p:nvSpPr>
        <p:spPr>
          <a:xfrm xmlns:a="http://schemas.openxmlformats.org/drawingml/2006/main">
            <a:off x="619125" y="442912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D46"/>
                </a:solidFill>
                <a:latin typeface="Arial"/>
                <a:ea typeface="Arial"/>
                <a:cs typeface="Arial"/>
              </a:defRPr>
            </a:defPPr>
            <a:lvl1pPr>
              <a:defRPr sz="2325" b="0">
                <a:solidFill>
                  <a:srgbClr val="173D46"/>
                </a:solidFill>
                <a:latin typeface="Arial"/>
                <a:ea typeface="Arial"/>
                <a:cs typeface="Arial"/>
              </a:defRPr>
            </a:lvl1pPr>
            <a:lvl2pPr>
              <a:defRPr sz="2325" b="0">
                <a:solidFill>
                  <a:srgbClr val="173D46"/>
                </a:solidFill>
                <a:latin typeface="Arial"/>
                <a:ea typeface="Arial"/>
                <a:cs typeface="Arial"/>
              </a:defRPr>
            </a:lvl2pPr>
            <a:lvl3pPr>
              <a:defRPr sz="2325" b="0">
                <a:solidFill>
                  <a:srgbClr val="173D46"/>
                </a:solidFill>
                <a:latin typeface="Arial"/>
                <a:ea typeface="Arial"/>
                <a:cs typeface="Arial"/>
              </a:defRPr>
            </a:lvl3pPr>
            <a:lvl4pPr>
              <a:defRPr sz="2325" b="0">
                <a:solidFill>
                  <a:srgbClr val="173D46"/>
                </a:solidFill>
                <a:latin typeface="Arial"/>
                <a:ea typeface="Arial"/>
                <a:cs typeface="Arial"/>
              </a:defRPr>
            </a:lvl4pPr>
            <a:lvl5pPr>
              <a:defRPr sz="2325" b="0">
                <a:solidFill>
                  <a:srgbClr val="173D46"/>
                </a:solidFill>
                <a:latin typeface="Arial"/>
                <a:ea typeface="Arial"/>
                <a:cs typeface="Arial"/>
              </a:defRPr>
            </a:lvl5pPr>
            <a:lvl6pPr>
              <a:defRPr sz="2325" b="0">
                <a:solidFill>
                  <a:srgbClr val="173D46"/>
                </a:solidFill>
                <a:latin typeface="Arial"/>
                <a:ea typeface="Arial"/>
                <a:cs typeface="Arial"/>
              </a:defRPr>
            </a:lvl6pPr>
            <a:lvl7pPr>
              <a:defRPr sz="2325" b="0">
                <a:solidFill>
                  <a:srgbClr val="173D46"/>
                </a:solidFill>
                <a:latin typeface="Arial"/>
                <a:ea typeface="Arial"/>
                <a:cs typeface="Arial"/>
              </a:defRPr>
            </a:lvl7pPr>
            <a:lvl8pPr>
              <a:defRPr sz="2325" b="0">
                <a:solidFill>
                  <a:srgbClr val="173D46"/>
                </a:solidFill>
                <a:latin typeface="Arial"/>
                <a:ea typeface="Arial"/>
                <a:cs typeface="Arial"/>
              </a:defRPr>
            </a:lvl8pPr>
            <a:lvl9pPr>
              <a:defRPr sz="2325" b="0">
                <a:solidFill>
                  <a:srgbClr val="173D46"/>
                </a:solidFill>
                <a:latin typeface="Arial"/>
                <a:ea typeface="Arial"/>
                <a:cs typeface="Arial"/>
              </a:defRPr>
            </a:lvl9pPr>
          </a:lstStyle>
          <a:p xmlns:a="http://schemas.openxmlformats.org/drawingml/2006/main">
            <a:pPr>
              <a:defRPr sz="2325" b="0">
                <a:solidFill>
                  <a:srgbClr val="173D46"/>
                </a:solidFill>
                <a:latin typeface="Arial"/>
                <a:ea typeface="Arial"/>
                <a:cs typeface="Arial"/>
              </a:defRPr>
            </a:pPr>
            <a:r>
              <a:rPr sz="2325" b="0">
                <a:solidFill>
                  <a:srgbClr val="173D46"/>
                </a:solidFill>
                <a:latin typeface="Arial"/>
                <a:ea typeface="Arial"/>
                <a:cs typeface="Arial"/>
              </a:rPr>
              <a:t>z(t, b) = [ln(max(E(t, b), 10⁻⁶)) − μ(b)] / σ(b)</a:t>
            </a:r>
          </a:p>
        </p:txBody>
      </p:sp>
      <p:sp>
        <p:nvSpPr>
          <p:cNvPr id="8" name="">
            <a:extLst xmlns:a="http://schemas.openxmlformats.org/drawingml/2006/main">
              <a:ext uri="{FF2B5EF4-FFF2-40B4-BE49-F238E27FC236}">
                <a16:creationId xmlns:a16="http://schemas.microsoft.com/office/drawing/2014/main" id="{9A8B116E-A3B0-49E2-8E1C-E5A196CAF3B2}"/>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Mean e standard deviation vieram apenas de training</a:t>
            </a:r>
          </a:p>
        </p:txBody>
      </p:sp>
    </p:spTree>
    <p:extLst>
      <p:ext uri="{BB962C8B-B14F-4D97-AF65-F5344CB8AC3E}">
        <p14:creationId xmlns:p14="http://schemas.microsoft.com/office/powerpoint/2010/main" val="736070997"/>
      </p:ext>
    </p:extLst>
  </p:cSld>
</p:sld>
</file>

<file path=ppt/slides/slide10.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82DF5AB-B807-4692-A9AB-58B2CA0BCB19}"/>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B2FFA2-88EA-423C-A16E-6B7156E64F54}"/>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Minha CNN tem 1.282 parâmetros</a:t>
            </a:r>
          </a:p>
        </p:txBody>
      </p:sp>
      <p:sp>
        <p:nvSpPr>
          <p:cNvPr id="4" name="">
            <a:extLst xmlns:a="http://schemas.openxmlformats.org/drawingml/2006/main">
              <a:ext uri="{FF2B5EF4-FFF2-40B4-BE49-F238E27FC236}">
                <a16:creationId xmlns:a16="http://schemas.microsoft.com/office/drawing/2014/main" id="{738F8F42-F131-4368-B61C-A373DEB6C15C}"/>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62838A0F-6B65-4B9F-8BDC-89B8FE3C726A}"/>
              </a:ext>
            </a:extLst>
          </p:cNvPr>
          <p:cNvGraphicFramePr/>
          <p:nvPr/>
        </p:nvGraphicFramePr>
        <p:xfrm>
          <a:off xmlns:a="http://schemas.openxmlformats.org/drawingml/2006/main" x="619125" y="2047875"/>
          <a:ext xmlns:a="http://schemas.openxmlformats.org/drawingml/2006/main" cx="10953750" cy="3095625"/>
        </p:xfrm>
        <a:graphic xmlns:a="http://schemas.openxmlformats.org/drawingml/2006/main">
          <a:graphicData uri="http://schemas.openxmlformats.org/drawingml/2006/table">
            <a:tbl>
              <a:tblPr/>
              <a:tblGrid>
                <a:gridCol w="4429125"/>
                <a:gridCol w="4524375"/>
                <a:gridCol w="2000250"/>
              </a:tblGrid>
              <a:tr h="619125">
                <a:tc>
                  <a:txBody>
                    <a:bodyPr/>
                    <a:lstStyle/>
                    <a:p>
                      <a:r>
                        <a:rPr sz="1725" b="1">
                          <a:solidFill>
                            <a:srgbClr val="FFFFFF"/>
                          </a:solidFill>
                          <a:latin typeface="Arial"/>
                          <a:ea typeface="Arial"/>
                          <a:cs typeface="Arial"/>
                        </a:rPr>
                        <a:t>Layer</a:t>
                      </a:r>
                    </a:p>
                  </a:txBody>
                  <a:tcPr marL="123825" marR="95250" marT="104775" marB="104775">
                    <a:lnL w="9525">
                      <a:solidFill>
                        <a:srgbClr val="CEDBD5"/>
                      </a:solidFill>
                    </a:lnL>
                    <a:lnR w="9525">
                      <a:solidFill>
                        <a:srgbClr val="CEDBD5"/>
                      </a:solidFill>
                    </a:lnR>
                    <a:lnT w="9525">
                      <a:solidFill>
                        <a:srgbClr val="CEDBD5"/>
                      </a:solidFill>
                    </a:lnT>
                    <a:lnB w="9525">
                      <a:solidFill>
                        <a:srgbClr val="CEDBD5"/>
                      </a:solidFill>
                    </a:lnB>
                    <a:solidFill>
                      <a:srgbClr val="173D46"/>
                    </a:solidFill>
                  </a:tcPr>
                </a:tc>
                <a:tc>
                  <a:txBody>
                    <a:bodyPr/>
                    <a:lstStyle/>
                    <a:p>
                      <a:r>
                        <a:rPr sz="1725" b="1">
                          <a:solidFill>
                            <a:srgbClr val="FFFFFF"/>
                          </a:solidFill>
                          <a:latin typeface="Arial"/>
                          <a:ea typeface="Arial"/>
                          <a:cs typeface="Arial"/>
                        </a:rPr>
                        <a:t>Conta dos parameters</a:t>
                      </a:r>
                    </a:p>
                  </a:txBody>
                  <a:tcPr marL="123825" marR="95250" marT="104775" marB="104775">
                    <a:lnR w="9525">
                      <a:solidFill>
                        <a:srgbClr val="CEDBD5"/>
                      </a:solidFill>
                    </a:lnR>
                    <a:lnT w="9525">
                      <a:solidFill>
                        <a:srgbClr val="CEDBD5"/>
                      </a:solidFill>
                    </a:lnT>
                    <a:lnB w="9525">
                      <a:solidFill>
                        <a:srgbClr val="CEDBD5"/>
                      </a:solidFill>
                    </a:lnB>
                    <a:solidFill>
                      <a:srgbClr val="173D46"/>
                    </a:solidFill>
                  </a:tcPr>
                </a:tc>
                <a:tc>
                  <a:txBody>
                    <a:bodyPr/>
                    <a:lstStyle/>
                    <a:p>
                      <a:r>
                        <a:rPr sz="1725" b="1">
                          <a:solidFill>
                            <a:srgbClr val="FFFFFF"/>
                          </a:solidFill>
                          <a:latin typeface="Arial"/>
                          <a:ea typeface="Arial"/>
                          <a:cs typeface="Arial"/>
                        </a:rPr>
                        <a:t>Total</a:t>
                      </a:r>
                    </a:p>
                  </a:txBody>
                  <a:tcPr marL="123825" marR="95250" marT="104775" marB="104775">
                    <a:lnR w="9525">
                      <a:solidFill>
                        <a:srgbClr val="CEDBD5"/>
                      </a:solidFill>
                    </a:lnR>
                    <a:lnT w="9525">
                      <a:solidFill>
                        <a:srgbClr val="CEDBD5"/>
                      </a:solidFill>
                    </a:lnT>
                    <a:lnB w="9525">
                      <a:solidFill>
                        <a:srgbClr val="CEDBD5"/>
                      </a:solidFill>
                    </a:lnB>
                    <a:solidFill>
                      <a:srgbClr val="173D46"/>
                    </a:solidFill>
                  </a:tcPr>
                </a:tc>
              </a:tr>
              <a:tr h="619125">
                <a:tc>
                  <a:txBody>
                    <a:bodyPr/>
                    <a:lstStyle/>
                    <a:p>
                      <a:r>
                        <a:rPr sz="1800">
                          <a:solidFill>
                            <a:srgbClr val="173D46"/>
                          </a:solidFill>
                          <a:latin typeface="Arial"/>
                          <a:ea typeface="Arial"/>
                          <a:cs typeface="Arial"/>
                        </a:rPr>
                        <a:t>Conv2D 3×3, 8 channels</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(3 × 3 × 1 + 1) × 8</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80</a:t>
                      </a:r>
                    </a:p>
                  </a:txBody>
                  <a:tcPr marL="123825" marR="95250" marT="104775" marB="104775">
                    <a:lnR w="9525">
                      <a:solidFill>
                        <a:srgbClr val="CEDBD5"/>
                      </a:solidFill>
                    </a:lnR>
                    <a:lnB w="9525">
                      <a:solidFill>
                        <a:srgbClr val="CEDBD5"/>
                      </a:solidFill>
                    </a:lnB>
                    <a:solidFill>
                      <a:srgbClr val="FFFFFF"/>
                    </a:solidFill>
                  </a:tcPr>
                </a:tc>
              </a:tr>
              <a:tr h="619125">
                <a:tc>
                  <a:txBody>
                    <a:bodyPr/>
                    <a:lstStyle/>
                    <a:p>
                      <a:r>
                        <a:rPr sz="1800">
                          <a:solidFill>
                            <a:srgbClr val="173D46"/>
                          </a:solidFill>
                          <a:latin typeface="Arial"/>
                          <a:ea typeface="Arial"/>
                          <a:cs typeface="Arial"/>
                        </a:rPr>
                        <a:t>Conv2D 3×3, 16 channels</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(3 × 3 × 8 + 1) × 16</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1.168</a:t>
                      </a:r>
                    </a:p>
                  </a:txBody>
                  <a:tcPr marL="123825" marR="95250" marT="104775" marB="104775">
                    <a:lnR w="9525">
                      <a:solidFill>
                        <a:srgbClr val="CEDBD5"/>
                      </a:solidFill>
                    </a:lnR>
                    <a:lnB w="9525">
                      <a:solidFill>
                        <a:srgbClr val="CEDBD5"/>
                      </a:solidFill>
                    </a:lnB>
                    <a:solidFill>
                      <a:srgbClr val="FFFFFF"/>
                    </a:solidFill>
                  </a:tcPr>
                </a:tc>
              </a:tr>
              <a:tr h="619125">
                <a:tc>
                  <a:txBody>
                    <a:bodyPr/>
                    <a:lstStyle/>
                    <a:p>
                      <a:r>
                        <a:rPr sz="1800">
                          <a:solidFill>
                            <a:srgbClr val="173D46"/>
                          </a:solidFill>
                          <a:latin typeface="Arial"/>
                          <a:ea typeface="Arial"/>
                          <a:cs typeface="Arial"/>
                        </a:rPr>
                        <a:t>Dense, 2 classes</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(16 + 1) × 2</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34</a:t>
                      </a:r>
                    </a:p>
                  </a:txBody>
                  <a:tcPr marL="123825" marR="95250" marT="104775" marB="104775">
                    <a:lnR w="9525">
                      <a:solidFill>
                        <a:srgbClr val="CEDBD5"/>
                      </a:solidFill>
                    </a:lnR>
                    <a:lnB w="9525">
                      <a:solidFill>
                        <a:srgbClr val="CEDBD5"/>
                      </a:solidFill>
                    </a:lnB>
                    <a:solidFill>
                      <a:srgbClr val="FFFFFF"/>
                    </a:solidFill>
                  </a:tcPr>
                </a:tc>
              </a:tr>
              <a:tr h="619125">
                <a:tc>
                  <a:txBody>
                    <a:bodyPr/>
                    <a:lstStyle/>
                    <a:p>
                      <a:r>
                        <a:rPr sz="1800">
                          <a:solidFill>
                            <a:srgbClr val="173D46"/>
                          </a:solidFill>
                          <a:latin typeface="Arial"/>
                          <a:ea typeface="Arial"/>
                          <a:cs typeface="Arial"/>
                        </a:rPr>
                        <a:t>Total</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80 + 1.168 + 34</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1.282</a:t>
                      </a:r>
                    </a:p>
                  </a:txBody>
                  <a:tcPr marL="123825" marR="95250" marT="104775" marB="104775">
                    <a:lnR w="9525">
                      <a:solidFill>
                        <a:srgbClr val="CEDBD5"/>
                      </a:solidFill>
                    </a:lnR>
                    <a:lnB w="9525">
                      <a:solidFill>
                        <a:srgbClr val="CEDBD5"/>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3383FE-B39C-4375-82C3-F345367E3D67}"/>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ReLU, MaxPool e Global Average Pooling não acrescentam parameters neste modelo</a:t>
            </a:r>
          </a:p>
        </p:txBody>
      </p:sp>
    </p:spTree>
    <p:extLst>
      <p:ext uri="{BB962C8B-B14F-4D97-AF65-F5344CB8AC3E}">
        <p14:creationId xmlns:p14="http://schemas.microsoft.com/office/powerpoint/2010/main" val="2035415542"/>
      </p:ext>
    </p:extLst>
  </p:cSld>
</p:sld>
</file>

<file path=ppt/slides/slide11.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A171742-3272-4D68-AA86-14858D930027}"/>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3FDDA4B-19A3-44F1-B102-099E12905028}"/>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Como o training escolheu os weights</a:t>
            </a:r>
          </a:p>
        </p:txBody>
      </p:sp>
      <p:sp>
        <p:nvSpPr>
          <p:cNvPr id="4" name="">
            <a:extLst xmlns:a="http://schemas.openxmlformats.org/drawingml/2006/main">
              <a:ext uri="{FF2B5EF4-FFF2-40B4-BE49-F238E27FC236}">
                <a16:creationId xmlns:a16="http://schemas.microsoft.com/office/drawing/2014/main" id="{89E2F8AF-95F1-4B19-967E-654B1A766929}"/>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11</a:t>
            </a:r>
          </a:p>
        </p:txBody>
      </p:sp>
      <p:pic>
        <p:nvPicPr>
          <p:cNvPr id="5" name="">
            <a:extLst xmlns:a="http://schemas.openxmlformats.org/drawingml/2006/main">
              <a:ext uri="{FF2B5EF4-FFF2-40B4-BE49-F238E27FC236}">
                <a16:creationId xmlns:a16="http://schemas.microsoft.com/office/drawing/2014/main" id="{C03FB097-5C94-4599-9161-5A29D9E1CEAA}"/>
              </a:ext>
            </a:extLst>
          </p:cNvPr>
          <p:cNvPicPr>
            <a:picLocks xmlns:a="http://schemas.openxmlformats.org/drawingml/2006/main" noChangeAspect="1"/>
          </p:cNvPicPr>
          <p:nvPr/>
        </p:nvPicPr>
        <p:blipFill>
          <a:blip xmlns:r="http://schemas.openxmlformats.org/officeDocument/2006/relationships" xmlns:a="http://schemas.openxmlformats.org/drawingml/2006/main" r:embed="R3180233488324e0a"/>
          <a:stretch xmlns:a="http://schemas.openxmlformats.org/drawingml/2006/main"/>
        </p:blipFill>
        <p:spPr>
          <a:xfrm xmlns:a="http://schemas.openxmlformats.org/drawingml/2006/main">
            <a:off x="1119188" y="1952625"/>
            <a:ext cx="9953625" cy="3619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8892A8F-FBBE-449A-AF4C-8A025B89FA51}"/>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Seed 43, epoch 66, escolhida por validation F1 = 0,711</a:t>
            </a:r>
          </a:p>
        </p:txBody>
      </p:sp>
    </p:spTree>
    <p:extLst>
      <p:ext uri="{BB962C8B-B14F-4D97-AF65-F5344CB8AC3E}">
        <p14:creationId xmlns:p14="http://schemas.microsoft.com/office/powerpoint/2010/main" val="1496446486"/>
      </p:ext>
    </p:extLst>
  </p:cSld>
</p:sld>
</file>

<file path=ppt/slides/slide12.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55354DC-D6C9-4A5F-9D6A-B2771E29B9D1}"/>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18B2BCD-8EE5-4A71-AEE3-4FE93DB36C74}"/>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O que é INT8?</a:t>
            </a:r>
          </a:p>
        </p:txBody>
      </p:sp>
      <p:sp>
        <p:nvSpPr>
          <p:cNvPr id="4" name="">
            <a:extLst xmlns:a="http://schemas.openxmlformats.org/drawingml/2006/main">
              <a:ext uri="{FF2B5EF4-FFF2-40B4-BE49-F238E27FC236}">
                <a16:creationId xmlns:a16="http://schemas.microsoft.com/office/drawing/2014/main" id="{53F3D27A-DC30-4BD5-B635-A882D18E45CD}"/>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D90CDF7F-AD3A-4E5A-B85D-D6BC3A9C98DD}"/>
              </a:ext>
            </a:extLst>
          </p:cNvPr>
          <p:cNvSpPr>
            <a:spLocks xmlns:a="http://schemas.openxmlformats.org/drawingml/2006/main" noGrp="1"/>
          </p:cNvSpPr>
          <p:nvPr/>
        </p:nvSpPr>
        <p:spPr>
          <a:xfrm xmlns:a="http://schemas.openxmlformats.org/drawingml/2006/main">
            <a:off x="619125" y="214312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536B70"/>
                </a:solidFill>
                <a:latin typeface="Arial"/>
                <a:ea typeface="Arial"/>
                <a:cs typeface="Arial"/>
              </a:defRPr>
            </a:defPPr>
            <a:lvl1pPr>
              <a:defRPr sz="3150" b="1">
                <a:solidFill>
                  <a:srgbClr val="536B70"/>
                </a:solidFill>
                <a:latin typeface="Arial"/>
                <a:ea typeface="Arial"/>
                <a:cs typeface="Arial"/>
              </a:defRPr>
            </a:lvl1pPr>
            <a:lvl2pPr>
              <a:defRPr sz="3150" b="1">
                <a:solidFill>
                  <a:srgbClr val="536B70"/>
                </a:solidFill>
                <a:latin typeface="Arial"/>
                <a:ea typeface="Arial"/>
                <a:cs typeface="Arial"/>
              </a:defRPr>
            </a:lvl2pPr>
            <a:lvl3pPr>
              <a:defRPr sz="3150" b="1">
                <a:solidFill>
                  <a:srgbClr val="536B70"/>
                </a:solidFill>
                <a:latin typeface="Arial"/>
                <a:ea typeface="Arial"/>
                <a:cs typeface="Arial"/>
              </a:defRPr>
            </a:lvl3pPr>
            <a:lvl4pPr>
              <a:defRPr sz="3150" b="1">
                <a:solidFill>
                  <a:srgbClr val="536B70"/>
                </a:solidFill>
                <a:latin typeface="Arial"/>
                <a:ea typeface="Arial"/>
                <a:cs typeface="Arial"/>
              </a:defRPr>
            </a:lvl4pPr>
            <a:lvl5pPr>
              <a:defRPr sz="3150" b="1">
                <a:solidFill>
                  <a:srgbClr val="536B70"/>
                </a:solidFill>
                <a:latin typeface="Arial"/>
                <a:ea typeface="Arial"/>
                <a:cs typeface="Arial"/>
              </a:defRPr>
            </a:lvl5pPr>
            <a:lvl6pPr>
              <a:defRPr sz="3150" b="1">
                <a:solidFill>
                  <a:srgbClr val="536B70"/>
                </a:solidFill>
                <a:latin typeface="Arial"/>
                <a:ea typeface="Arial"/>
                <a:cs typeface="Arial"/>
              </a:defRPr>
            </a:lvl6pPr>
            <a:lvl7pPr>
              <a:defRPr sz="3150" b="1">
                <a:solidFill>
                  <a:srgbClr val="536B70"/>
                </a:solidFill>
                <a:latin typeface="Arial"/>
                <a:ea typeface="Arial"/>
                <a:cs typeface="Arial"/>
              </a:defRPr>
            </a:lvl7pPr>
            <a:lvl8pPr>
              <a:defRPr sz="3150" b="1">
                <a:solidFill>
                  <a:srgbClr val="536B70"/>
                </a:solidFill>
                <a:latin typeface="Arial"/>
                <a:ea typeface="Arial"/>
                <a:cs typeface="Arial"/>
              </a:defRPr>
            </a:lvl8pPr>
            <a:lvl9pPr>
              <a:defRPr sz="3150" b="1">
                <a:solidFill>
                  <a:srgbClr val="536B70"/>
                </a:solidFill>
                <a:latin typeface="Arial"/>
                <a:ea typeface="Arial"/>
                <a:cs typeface="Arial"/>
              </a:defRPr>
            </a:lvl9pPr>
          </a:lstStyle>
          <a:p xmlns:a="http://schemas.openxmlformats.org/drawingml/2006/main">
            <a:pPr>
              <a:defRPr sz="3150" b="1">
                <a:solidFill>
                  <a:srgbClr val="536B70"/>
                </a:solidFill>
                <a:latin typeface="Arial"/>
                <a:ea typeface="Arial"/>
                <a:cs typeface="Arial"/>
              </a:defRPr>
            </a:pPr>
            <a:r>
              <a:rPr sz="3150" b="1">
                <a:solidFill>
                  <a:srgbClr val="536B70"/>
                </a:solidFill>
                <a:latin typeface="Arial"/>
                <a:ea typeface="Arial"/>
                <a:cs typeface="Arial"/>
              </a:rPr>
              <a:t>Float32</a:t>
            </a:r>
          </a:p>
        </p:txBody>
      </p:sp>
      <p:sp>
        <p:nvSpPr>
          <p:cNvPr id="6" name="">
            <a:extLst xmlns:a="http://schemas.openxmlformats.org/drawingml/2006/main">
              <a:ext uri="{FF2B5EF4-FFF2-40B4-BE49-F238E27FC236}">
                <a16:creationId xmlns:a16="http://schemas.microsoft.com/office/drawing/2014/main" id="{B40CBFA7-89E3-4A49-A065-85091429C306}"/>
              </a:ext>
            </a:extLst>
          </p:cNvPr>
          <p:cNvSpPr>
            <a:spLocks xmlns:a="http://schemas.openxmlformats.org/drawingml/2006/main" noGrp="1"/>
          </p:cNvSpPr>
          <p:nvPr/>
        </p:nvSpPr>
        <p:spPr>
          <a:xfrm xmlns:a="http://schemas.openxmlformats.org/drawingml/2006/main">
            <a:off x="619125" y="31432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73D46"/>
                </a:solidFill>
                <a:latin typeface="Arial"/>
                <a:ea typeface="Arial"/>
                <a:cs typeface="Arial"/>
              </a:defRPr>
            </a:defPPr>
            <a:lvl1pPr>
              <a:defRPr sz="2550" b="0">
                <a:solidFill>
                  <a:srgbClr val="173D46"/>
                </a:solidFill>
                <a:latin typeface="Arial"/>
                <a:ea typeface="Arial"/>
                <a:cs typeface="Arial"/>
              </a:defRPr>
            </a:lvl1pPr>
            <a:lvl2pPr>
              <a:defRPr sz="2550" b="0">
                <a:solidFill>
                  <a:srgbClr val="173D46"/>
                </a:solidFill>
                <a:latin typeface="Arial"/>
                <a:ea typeface="Arial"/>
                <a:cs typeface="Arial"/>
              </a:defRPr>
            </a:lvl2pPr>
            <a:lvl3pPr>
              <a:defRPr sz="2550" b="0">
                <a:solidFill>
                  <a:srgbClr val="173D46"/>
                </a:solidFill>
                <a:latin typeface="Arial"/>
                <a:ea typeface="Arial"/>
                <a:cs typeface="Arial"/>
              </a:defRPr>
            </a:lvl3pPr>
            <a:lvl4pPr>
              <a:defRPr sz="2550" b="0">
                <a:solidFill>
                  <a:srgbClr val="173D46"/>
                </a:solidFill>
                <a:latin typeface="Arial"/>
                <a:ea typeface="Arial"/>
                <a:cs typeface="Arial"/>
              </a:defRPr>
            </a:lvl4pPr>
            <a:lvl5pPr>
              <a:defRPr sz="2550" b="0">
                <a:solidFill>
                  <a:srgbClr val="173D46"/>
                </a:solidFill>
                <a:latin typeface="Arial"/>
                <a:ea typeface="Arial"/>
                <a:cs typeface="Arial"/>
              </a:defRPr>
            </a:lvl5pPr>
            <a:lvl6pPr>
              <a:defRPr sz="2550" b="0">
                <a:solidFill>
                  <a:srgbClr val="173D46"/>
                </a:solidFill>
                <a:latin typeface="Arial"/>
                <a:ea typeface="Arial"/>
                <a:cs typeface="Arial"/>
              </a:defRPr>
            </a:lvl6pPr>
            <a:lvl7pPr>
              <a:defRPr sz="2550" b="0">
                <a:solidFill>
                  <a:srgbClr val="173D46"/>
                </a:solidFill>
                <a:latin typeface="Arial"/>
                <a:ea typeface="Arial"/>
                <a:cs typeface="Arial"/>
              </a:defRPr>
            </a:lvl7pPr>
            <a:lvl8pPr>
              <a:defRPr sz="2550" b="0">
                <a:solidFill>
                  <a:srgbClr val="173D46"/>
                </a:solidFill>
                <a:latin typeface="Arial"/>
                <a:ea typeface="Arial"/>
                <a:cs typeface="Arial"/>
              </a:defRPr>
            </a:lvl8pPr>
            <a:lvl9pPr>
              <a:defRPr sz="2550" b="0">
                <a:solidFill>
                  <a:srgbClr val="173D46"/>
                </a:solidFill>
                <a:latin typeface="Arial"/>
                <a:ea typeface="Arial"/>
                <a:cs typeface="Arial"/>
              </a:defRPr>
            </a:lvl9pPr>
          </a:lstStyle>
          <a:p xmlns:a="http://schemas.openxmlformats.org/drawingml/2006/main">
            <a:pPr>
              <a:defRPr sz="2550" b="0">
                <a:solidFill>
                  <a:srgbClr val="173D46"/>
                </a:solidFill>
                <a:latin typeface="Arial"/>
                <a:ea typeface="Arial"/>
                <a:cs typeface="Arial"/>
              </a:defRPr>
            </a:pPr>
            <a:r>
              <a:rPr sz="2550" b="0">
                <a:solidFill>
                  <a:srgbClr val="173D46"/>
                </a:solidFill>
                <a:latin typeface="Arial"/>
                <a:ea typeface="Arial"/>
                <a:cs typeface="Arial"/>
              </a:rPr>
              <a:t>32 bits por valor</a:t>
            </a:r>
          </a:p>
        </p:txBody>
      </p:sp>
      <p:sp>
        <p:nvSpPr>
          <p:cNvPr id="7" name="">
            <a:extLst xmlns:a="http://schemas.openxmlformats.org/drawingml/2006/main">
              <a:ext uri="{FF2B5EF4-FFF2-40B4-BE49-F238E27FC236}">
                <a16:creationId xmlns:a16="http://schemas.microsoft.com/office/drawing/2014/main" id="{26A53112-EA6B-4AA2-9114-C4391983EC70}"/>
              </a:ext>
            </a:extLst>
          </p:cNvPr>
          <p:cNvSpPr>
            <a:spLocks xmlns:a="http://schemas.openxmlformats.org/drawingml/2006/main" noGrp="1"/>
          </p:cNvSpPr>
          <p:nvPr/>
        </p:nvSpPr>
        <p:spPr>
          <a:xfrm xmlns:a="http://schemas.openxmlformats.org/drawingml/2006/main">
            <a:off x="6619875" y="214312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4766B"/>
                </a:solidFill>
                <a:latin typeface="Arial"/>
                <a:ea typeface="Arial"/>
                <a:cs typeface="Arial"/>
              </a:defRPr>
            </a:defPPr>
            <a:lvl1pPr>
              <a:defRPr sz="3150" b="1">
                <a:solidFill>
                  <a:srgbClr val="14766B"/>
                </a:solidFill>
                <a:latin typeface="Arial"/>
                <a:ea typeface="Arial"/>
                <a:cs typeface="Arial"/>
              </a:defRPr>
            </a:lvl1pPr>
            <a:lvl2pPr>
              <a:defRPr sz="3150" b="1">
                <a:solidFill>
                  <a:srgbClr val="14766B"/>
                </a:solidFill>
                <a:latin typeface="Arial"/>
                <a:ea typeface="Arial"/>
                <a:cs typeface="Arial"/>
              </a:defRPr>
            </a:lvl2pPr>
            <a:lvl3pPr>
              <a:defRPr sz="3150" b="1">
                <a:solidFill>
                  <a:srgbClr val="14766B"/>
                </a:solidFill>
                <a:latin typeface="Arial"/>
                <a:ea typeface="Arial"/>
                <a:cs typeface="Arial"/>
              </a:defRPr>
            </a:lvl3pPr>
            <a:lvl4pPr>
              <a:defRPr sz="3150" b="1">
                <a:solidFill>
                  <a:srgbClr val="14766B"/>
                </a:solidFill>
                <a:latin typeface="Arial"/>
                <a:ea typeface="Arial"/>
                <a:cs typeface="Arial"/>
              </a:defRPr>
            </a:lvl4pPr>
            <a:lvl5pPr>
              <a:defRPr sz="3150" b="1">
                <a:solidFill>
                  <a:srgbClr val="14766B"/>
                </a:solidFill>
                <a:latin typeface="Arial"/>
                <a:ea typeface="Arial"/>
                <a:cs typeface="Arial"/>
              </a:defRPr>
            </a:lvl5pPr>
            <a:lvl6pPr>
              <a:defRPr sz="3150" b="1">
                <a:solidFill>
                  <a:srgbClr val="14766B"/>
                </a:solidFill>
                <a:latin typeface="Arial"/>
                <a:ea typeface="Arial"/>
                <a:cs typeface="Arial"/>
              </a:defRPr>
            </a:lvl6pPr>
            <a:lvl7pPr>
              <a:defRPr sz="3150" b="1">
                <a:solidFill>
                  <a:srgbClr val="14766B"/>
                </a:solidFill>
                <a:latin typeface="Arial"/>
                <a:ea typeface="Arial"/>
                <a:cs typeface="Arial"/>
              </a:defRPr>
            </a:lvl7pPr>
            <a:lvl8pPr>
              <a:defRPr sz="3150" b="1">
                <a:solidFill>
                  <a:srgbClr val="14766B"/>
                </a:solidFill>
                <a:latin typeface="Arial"/>
                <a:ea typeface="Arial"/>
                <a:cs typeface="Arial"/>
              </a:defRPr>
            </a:lvl8pPr>
            <a:lvl9pPr>
              <a:defRPr sz="3150" b="1">
                <a:solidFill>
                  <a:srgbClr val="14766B"/>
                </a:solidFill>
                <a:latin typeface="Arial"/>
                <a:ea typeface="Arial"/>
                <a:cs typeface="Arial"/>
              </a:defRPr>
            </a:lvl9pPr>
          </a:lstStyle>
          <a:p xmlns:a="http://schemas.openxmlformats.org/drawingml/2006/main">
            <a:pPr>
              <a:defRPr sz="3150" b="1">
                <a:solidFill>
                  <a:srgbClr val="14766B"/>
                </a:solidFill>
                <a:latin typeface="Arial"/>
                <a:ea typeface="Arial"/>
                <a:cs typeface="Arial"/>
              </a:defRPr>
            </a:pPr>
            <a:r>
              <a:rPr sz="3150" b="1">
                <a:solidFill>
                  <a:srgbClr val="14766B"/>
                </a:solidFill>
                <a:latin typeface="Arial"/>
                <a:ea typeface="Arial"/>
                <a:cs typeface="Arial"/>
              </a:rPr>
              <a:t>INT8</a:t>
            </a:r>
          </a:p>
        </p:txBody>
      </p:sp>
      <p:sp>
        <p:nvSpPr>
          <p:cNvPr id="8" name="">
            <a:extLst xmlns:a="http://schemas.openxmlformats.org/drawingml/2006/main">
              <a:ext uri="{FF2B5EF4-FFF2-40B4-BE49-F238E27FC236}">
                <a16:creationId xmlns:a16="http://schemas.microsoft.com/office/drawing/2014/main" id="{88760219-7360-412F-A0E8-E1E4AE3F2F79}"/>
              </a:ext>
            </a:extLst>
          </p:cNvPr>
          <p:cNvSpPr>
            <a:spLocks xmlns:a="http://schemas.openxmlformats.org/drawingml/2006/main" noGrp="1"/>
          </p:cNvSpPr>
          <p:nvPr/>
        </p:nvSpPr>
        <p:spPr>
          <a:xfrm xmlns:a="http://schemas.openxmlformats.org/drawingml/2006/main">
            <a:off x="6619875" y="314325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73D46"/>
                </a:solidFill>
                <a:latin typeface="Arial"/>
                <a:ea typeface="Arial"/>
                <a:cs typeface="Arial"/>
              </a:defRPr>
            </a:defPPr>
            <a:lvl1pPr>
              <a:defRPr sz="2550" b="0">
                <a:solidFill>
                  <a:srgbClr val="173D46"/>
                </a:solidFill>
                <a:latin typeface="Arial"/>
                <a:ea typeface="Arial"/>
                <a:cs typeface="Arial"/>
              </a:defRPr>
            </a:lvl1pPr>
            <a:lvl2pPr>
              <a:defRPr sz="2550" b="0">
                <a:solidFill>
                  <a:srgbClr val="173D46"/>
                </a:solidFill>
                <a:latin typeface="Arial"/>
                <a:ea typeface="Arial"/>
                <a:cs typeface="Arial"/>
              </a:defRPr>
            </a:lvl2pPr>
            <a:lvl3pPr>
              <a:defRPr sz="2550" b="0">
                <a:solidFill>
                  <a:srgbClr val="173D46"/>
                </a:solidFill>
                <a:latin typeface="Arial"/>
                <a:ea typeface="Arial"/>
                <a:cs typeface="Arial"/>
              </a:defRPr>
            </a:lvl3pPr>
            <a:lvl4pPr>
              <a:defRPr sz="2550" b="0">
                <a:solidFill>
                  <a:srgbClr val="173D46"/>
                </a:solidFill>
                <a:latin typeface="Arial"/>
                <a:ea typeface="Arial"/>
                <a:cs typeface="Arial"/>
              </a:defRPr>
            </a:lvl4pPr>
            <a:lvl5pPr>
              <a:defRPr sz="2550" b="0">
                <a:solidFill>
                  <a:srgbClr val="173D46"/>
                </a:solidFill>
                <a:latin typeface="Arial"/>
                <a:ea typeface="Arial"/>
                <a:cs typeface="Arial"/>
              </a:defRPr>
            </a:lvl5pPr>
            <a:lvl6pPr>
              <a:defRPr sz="2550" b="0">
                <a:solidFill>
                  <a:srgbClr val="173D46"/>
                </a:solidFill>
                <a:latin typeface="Arial"/>
                <a:ea typeface="Arial"/>
                <a:cs typeface="Arial"/>
              </a:defRPr>
            </a:lvl6pPr>
            <a:lvl7pPr>
              <a:defRPr sz="2550" b="0">
                <a:solidFill>
                  <a:srgbClr val="173D46"/>
                </a:solidFill>
                <a:latin typeface="Arial"/>
                <a:ea typeface="Arial"/>
                <a:cs typeface="Arial"/>
              </a:defRPr>
            </a:lvl7pPr>
            <a:lvl8pPr>
              <a:defRPr sz="2550" b="0">
                <a:solidFill>
                  <a:srgbClr val="173D46"/>
                </a:solidFill>
                <a:latin typeface="Arial"/>
                <a:ea typeface="Arial"/>
                <a:cs typeface="Arial"/>
              </a:defRPr>
            </a:lvl8pPr>
            <a:lvl9pPr>
              <a:defRPr sz="2550" b="0">
                <a:solidFill>
                  <a:srgbClr val="173D46"/>
                </a:solidFill>
                <a:latin typeface="Arial"/>
                <a:ea typeface="Arial"/>
                <a:cs typeface="Arial"/>
              </a:defRPr>
            </a:lvl9pPr>
          </a:lstStyle>
          <a:p xmlns:a="http://schemas.openxmlformats.org/drawingml/2006/main">
            <a:pPr>
              <a:defRPr sz="2550" b="0">
                <a:solidFill>
                  <a:srgbClr val="173D46"/>
                </a:solidFill>
                <a:latin typeface="Arial"/>
                <a:ea typeface="Arial"/>
                <a:cs typeface="Arial"/>
              </a:defRPr>
            </a:pPr>
            <a:r>
              <a:rPr sz="2550" b="0">
                <a:solidFill>
                  <a:srgbClr val="173D46"/>
                </a:solidFill>
                <a:latin typeface="Arial"/>
                <a:ea typeface="Arial"/>
                <a:cs typeface="Arial"/>
              </a:rPr>
              <a:t>8 bits por valor</a:t>
            </a:r>
          </a:p>
          <a:p xmlns:a="http://schemas.openxmlformats.org/drawingml/2006/main">
            <a:pPr>
              <a:defRPr sz="2550" b="0">
                <a:solidFill>
                  <a:srgbClr val="173D46"/>
                </a:solidFill>
                <a:latin typeface="Arial"/>
                <a:ea typeface="Arial"/>
                <a:cs typeface="Arial"/>
              </a:defRPr>
            </a:pPr>
            <a:r>
              <a:rPr sz="2550" b="0">
                <a:solidFill>
                  <a:srgbClr val="173D46"/>
                </a:solidFill>
                <a:latin typeface="Arial"/>
                <a:ea typeface="Arial"/>
                <a:cs typeface="Arial"/>
              </a:rPr>
              <a:t>256 códigos: −128 a 127</a:t>
            </a:r>
          </a:p>
        </p:txBody>
      </p:sp>
      <p:sp>
        <p:nvSpPr>
          <p:cNvPr id="9" name="">
            <a:extLst xmlns:a="http://schemas.openxmlformats.org/drawingml/2006/main">
              <a:ext uri="{FF2B5EF4-FFF2-40B4-BE49-F238E27FC236}">
                <a16:creationId xmlns:a16="http://schemas.microsoft.com/office/drawing/2014/main" id="{3A30A8C8-0F8D-485C-AE7F-09219F62A0AA}"/>
              </a:ext>
            </a:extLst>
          </p:cNvPr>
          <p:cNvSpPr>
            <a:spLocks xmlns:a="http://schemas.openxmlformats.org/drawingml/2006/main" noGrp="1"/>
          </p:cNvSpPr>
          <p:nvPr/>
        </p:nvSpPr>
        <p:spPr>
          <a:xfrm xmlns:a="http://schemas.openxmlformats.org/drawingml/2006/main">
            <a:off x="619125" y="47625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D46"/>
                </a:solidFill>
                <a:latin typeface="Arial"/>
                <a:ea typeface="Arial"/>
                <a:cs typeface="Arial"/>
              </a:defRPr>
            </a:defPPr>
            <a:lvl1pPr>
              <a:defRPr sz="2325" b="0">
                <a:solidFill>
                  <a:srgbClr val="173D46"/>
                </a:solidFill>
                <a:latin typeface="Arial"/>
                <a:ea typeface="Arial"/>
                <a:cs typeface="Arial"/>
              </a:defRPr>
            </a:lvl1pPr>
            <a:lvl2pPr>
              <a:defRPr sz="2325" b="0">
                <a:solidFill>
                  <a:srgbClr val="173D46"/>
                </a:solidFill>
                <a:latin typeface="Arial"/>
                <a:ea typeface="Arial"/>
                <a:cs typeface="Arial"/>
              </a:defRPr>
            </a:lvl2pPr>
            <a:lvl3pPr>
              <a:defRPr sz="2325" b="0">
                <a:solidFill>
                  <a:srgbClr val="173D46"/>
                </a:solidFill>
                <a:latin typeface="Arial"/>
                <a:ea typeface="Arial"/>
                <a:cs typeface="Arial"/>
              </a:defRPr>
            </a:lvl3pPr>
            <a:lvl4pPr>
              <a:defRPr sz="2325" b="0">
                <a:solidFill>
                  <a:srgbClr val="173D46"/>
                </a:solidFill>
                <a:latin typeface="Arial"/>
                <a:ea typeface="Arial"/>
                <a:cs typeface="Arial"/>
              </a:defRPr>
            </a:lvl4pPr>
            <a:lvl5pPr>
              <a:defRPr sz="2325" b="0">
                <a:solidFill>
                  <a:srgbClr val="173D46"/>
                </a:solidFill>
                <a:latin typeface="Arial"/>
                <a:ea typeface="Arial"/>
                <a:cs typeface="Arial"/>
              </a:defRPr>
            </a:lvl5pPr>
            <a:lvl6pPr>
              <a:defRPr sz="2325" b="0">
                <a:solidFill>
                  <a:srgbClr val="173D46"/>
                </a:solidFill>
                <a:latin typeface="Arial"/>
                <a:ea typeface="Arial"/>
                <a:cs typeface="Arial"/>
              </a:defRPr>
            </a:lvl6pPr>
            <a:lvl7pPr>
              <a:defRPr sz="2325" b="0">
                <a:solidFill>
                  <a:srgbClr val="173D46"/>
                </a:solidFill>
                <a:latin typeface="Arial"/>
                <a:ea typeface="Arial"/>
                <a:cs typeface="Arial"/>
              </a:defRPr>
            </a:lvl7pPr>
            <a:lvl8pPr>
              <a:defRPr sz="2325" b="0">
                <a:solidFill>
                  <a:srgbClr val="173D46"/>
                </a:solidFill>
                <a:latin typeface="Arial"/>
                <a:ea typeface="Arial"/>
                <a:cs typeface="Arial"/>
              </a:defRPr>
            </a:lvl8pPr>
            <a:lvl9pPr>
              <a:defRPr sz="2325" b="0">
                <a:solidFill>
                  <a:srgbClr val="173D46"/>
                </a:solidFill>
                <a:latin typeface="Arial"/>
                <a:ea typeface="Arial"/>
                <a:cs typeface="Arial"/>
              </a:defRPr>
            </a:lvl9pPr>
          </a:lstStyle>
          <a:p xmlns:a="http://schemas.openxmlformats.org/drawingml/2006/main">
            <a:pPr>
              <a:defRPr sz="2325" b="0">
                <a:solidFill>
                  <a:srgbClr val="173D46"/>
                </a:solidFill>
                <a:latin typeface="Arial"/>
                <a:ea typeface="Arial"/>
                <a:cs typeface="Arial"/>
              </a:defRPr>
            </a:pPr>
            <a:r>
              <a:rPr sz="2325" b="0">
                <a:solidFill>
                  <a:srgbClr val="173D46"/>
                </a:solidFill>
                <a:latin typeface="Arial"/>
                <a:ea typeface="Arial"/>
                <a:cs typeface="Arial"/>
              </a:rPr>
              <a:t>A rede aproxima valores reais usando scale e zero-point.</a:t>
            </a:r>
          </a:p>
        </p:txBody>
      </p:sp>
      <p:sp>
        <p:nvSpPr>
          <p:cNvPr id="10" name="">
            <a:extLst xmlns:a="http://schemas.openxmlformats.org/drawingml/2006/main">
              <a:ext uri="{FF2B5EF4-FFF2-40B4-BE49-F238E27FC236}">
                <a16:creationId xmlns:a16="http://schemas.microsoft.com/office/drawing/2014/main" id="{D6E64689-AC65-465B-B88B-9524025A58C6}"/>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Weights e activations menores; bias e accumulators podem usar INT32</a:t>
            </a:r>
          </a:p>
        </p:txBody>
      </p:sp>
    </p:spTree>
    <p:extLst>
      <p:ext uri="{BB962C8B-B14F-4D97-AF65-F5344CB8AC3E}">
        <p14:creationId xmlns:p14="http://schemas.microsoft.com/office/powerpoint/2010/main" val="1161549514"/>
      </p:ext>
    </p:extLst>
  </p:cSld>
</p:sld>
</file>

<file path=ppt/slides/slide13.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41E7E44-D608-4C69-8C3A-A770C2817B8C}"/>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6A9E78-1366-4353-9BCF-11A8434DDCA8}"/>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Uma conta com a scale real do modelo</a:t>
            </a:r>
          </a:p>
        </p:txBody>
      </p:sp>
      <p:sp>
        <p:nvSpPr>
          <p:cNvPr id="4" name="">
            <a:extLst xmlns:a="http://schemas.openxmlformats.org/drawingml/2006/main">
              <a:ext uri="{FF2B5EF4-FFF2-40B4-BE49-F238E27FC236}">
                <a16:creationId xmlns:a16="http://schemas.microsoft.com/office/drawing/2014/main" id="{61196066-95F3-4FA3-AAEF-5F59E505CF7D}"/>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E135FEBD-51AC-4EFD-BD63-93B0E55BB373}"/>
              </a:ext>
            </a:extLst>
          </p:cNvPr>
          <p:cNvSpPr>
            <a:spLocks xmlns:a="http://schemas.openxmlformats.org/drawingml/2006/main" noGrp="1"/>
          </p:cNvSpPr>
          <p:nvPr/>
        </p:nvSpPr>
        <p:spPr>
          <a:xfrm xmlns:a="http://schemas.openxmlformats.org/drawingml/2006/main">
            <a:off x="619125" y="20002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4766B"/>
                </a:solidFill>
                <a:latin typeface="Arial"/>
                <a:ea typeface="Arial"/>
                <a:cs typeface="Arial"/>
              </a:defRPr>
            </a:defPPr>
            <a:lvl1pPr>
              <a:defRPr sz="2400" b="1">
                <a:solidFill>
                  <a:srgbClr val="14766B"/>
                </a:solidFill>
                <a:latin typeface="Arial"/>
                <a:ea typeface="Arial"/>
                <a:cs typeface="Arial"/>
              </a:defRPr>
            </a:lvl1pPr>
            <a:lvl2pPr>
              <a:defRPr sz="2400" b="1">
                <a:solidFill>
                  <a:srgbClr val="14766B"/>
                </a:solidFill>
                <a:latin typeface="Arial"/>
                <a:ea typeface="Arial"/>
                <a:cs typeface="Arial"/>
              </a:defRPr>
            </a:lvl2pPr>
            <a:lvl3pPr>
              <a:defRPr sz="2400" b="1">
                <a:solidFill>
                  <a:srgbClr val="14766B"/>
                </a:solidFill>
                <a:latin typeface="Arial"/>
                <a:ea typeface="Arial"/>
                <a:cs typeface="Arial"/>
              </a:defRPr>
            </a:lvl3pPr>
            <a:lvl4pPr>
              <a:defRPr sz="2400" b="1">
                <a:solidFill>
                  <a:srgbClr val="14766B"/>
                </a:solidFill>
                <a:latin typeface="Arial"/>
                <a:ea typeface="Arial"/>
                <a:cs typeface="Arial"/>
              </a:defRPr>
            </a:lvl4pPr>
            <a:lvl5pPr>
              <a:defRPr sz="2400" b="1">
                <a:solidFill>
                  <a:srgbClr val="14766B"/>
                </a:solidFill>
                <a:latin typeface="Arial"/>
                <a:ea typeface="Arial"/>
                <a:cs typeface="Arial"/>
              </a:defRPr>
            </a:lvl5pPr>
            <a:lvl6pPr>
              <a:defRPr sz="2400" b="1">
                <a:solidFill>
                  <a:srgbClr val="14766B"/>
                </a:solidFill>
                <a:latin typeface="Arial"/>
                <a:ea typeface="Arial"/>
                <a:cs typeface="Arial"/>
              </a:defRPr>
            </a:lvl6pPr>
            <a:lvl7pPr>
              <a:defRPr sz="2400" b="1">
                <a:solidFill>
                  <a:srgbClr val="14766B"/>
                </a:solidFill>
                <a:latin typeface="Arial"/>
                <a:ea typeface="Arial"/>
                <a:cs typeface="Arial"/>
              </a:defRPr>
            </a:lvl7pPr>
            <a:lvl8pPr>
              <a:defRPr sz="2400" b="1">
                <a:solidFill>
                  <a:srgbClr val="14766B"/>
                </a:solidFill>
                <a:latin typeface="Arial"/>
                <a:ea typeface="Arial"/>
                <a:cs typeface="Arial"/>
              </a:defRPr>
            </a:lvl8pPr>
            <a:lvl9pPr>
              <a:defRPr sz="2400" b="1">
                <a:solidFill>
                  <a:srgbClr val="14766B"/>
                </a:solidFill>
                <a:latin typeface="Arial"/>
                <a:ea typeface="Arial"/>
                <a:cs typeface="Arial"/>
              </a:defRPr>
            </a:lvl9pPr>
          </a:lstStyle>
          <a:p xmlns:a="http://schemas.openxmlformats.org/drawingml/2006/main">
            <a:pPr>
              <a:defRPr sz="2400" b="1">
                <a:solidFill>
                  <a:srgbClr val="14766B"/>
                </a:solidFill>
                <a:latin typeface="Arial"/>
                <a:ea typeface="Arial"/>
                <a:cs typeface="Arial"/>
              </a:defRPr>
            </a:pPr>
            <a:r>
              <a:rPr sz="2400" b="1">
                <a:solidFill>
                  <a:srgbClr val="14766B"/>
                </a:solidFill>
                <a:latin typeface="Arial"/>
                <a:ea typeface="Arial"/>
                <a:cs typeface="Arial"/>
              </a:rPr>
              <a:t>scale = 0,04310979694      zero-point = −38</a:t>
            </a:r>
          </a:p>
        </p:txBody>
      </p:sp>
      <p:sp>
        <p:nvSpPr>
          <p:cNvPr id="6" name="">
            <a:extLst xmlns:a="http://schemas.openxmlformats.org/drawingml/2006/main">
              <a:ext uri="{FF2B5EF4-FFF2-40B4-BE49-F238E27FC236}">
                <a16:creationId xmlns:a16="http://schemas.microsoft.com/office/drawing/2014/main" id="{4475A647-8B2B-4AA5-8267-3F9188373F07}"/>
              </a:ext>
            </a:extLst>
          </p:cNvPr>
          <p:cNvSpPr>
            <a:spLocks xmlns:a="http://schemas.openxmlformats.org/drawingml/2006/main" noGrp="1"/>
          </p:cNvSpPr>
          <p:nvPr/>
        </p:nvSpPr>
        <p:spPr>
          <a:xfrm xmlns:a="http://schemas.openxmlformats.org/drawingml/2006/main">
            <a:off x="619125" y="2952750"/>
            <a:ext cx="10953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73D46"/>
                </a:solidFill>
                <a:latin typeface="Arial"/>
                <a:ea typeface="Arial"/>
                <a:cs typeface="Arial"/>
              </a:defRPr>
            </a:defPPr>
            <a:lvl1pPr>
              <a:defRPr sz="2475" b="0">
                <a:solidFill>
                  <a:srgbClr val="173D46"/>
                </a:solidFill>
                <a:latin typeface="Arial"/>
                <a:ea typeface="Arial"/>
                <a:cs typeface="Arial"/>
              </a:defRPr>
            </a:lvl1pPr>
            <a:lvl2pPr>
              <a:defRPr sz="2475" b="0">
                <a:solidFill>
                  <a:srgbClr val="173D46"/>
                </a:solidFill>
                <a:latin typeface="Arial"/>
                <a:ea typeface="Arial"/>
                <a:cs typeface="Arial"/>
              </a:defRPr>
            </a:lvl2pPr>
            <a:lvl3pPr>
              <a:defRPr sz="2475" b="0">
                <a:solidFill>
                  <a:srgbClr val="173D46"/>
                </a:solidFill>
                <a:latin typeface="Arial"/>
                <a:ea typeface="Arial"/>
                <a:cs typeface="Arial"/>
              </a:defRPr>
            </a:lvl3pPr>
            <a:lvl4pPr>
              <a:defRPr sz="2475" b="0">
                <a:solidFill>
                  <a:srgbClr val="173D46"/>
                </a:solidFill>
                <a:latin typeface="Arial"/>
                <a:ea typeface="Arial"/>
                <a:cs typeface="Arial"/>
              </a:defRPr>
            </a:lvl4pPr>
            <a:lvl5pPr>
              <a:defRPr sz="2475" b="0">
                <a:solidFill>
                  <a:srgbClr val="173D46"/>
                </a:solidFill>
                <a:latin typeface="Arial"/>
                <a:ea typeface="Arial"/>
                <a:cs typeface="Arial"/>
              </a:defRPr>
            </a:lvl5pPr>
            <a:lvl6pPr>
              <a:defRPr sz="2475" b="0">
                <a:solidFill>
                  <a:srgbClr val="173D46"/>
                </a:solidFill>
                <a:latin typeface="Arial"/>
                <a:ea typeface="Arial"/>
                <a:cs typeface="Arial"/>
              </a:defRPr>
            </a:lvl6pPr>
            <a:lvl7pPr>
              <a:defRPr sz="2475" b="0">
                <a:solidFill>
                  <a:srgbClr val="173D46"/>
                </a:solidFill>
                <a:latin typeface="Arial"/>
                <a:ea typeface="Arial"/>
                <a:cs typeface="Arial"/>
              </a:defRPr>
            </a:lvl7pPr>
            <a:lvl8pPr>
              <a:defRPr sz="2475" b="0">
                <a:solidFill>
                  <a:srgbClr val="173D46"/>
                </a:solidFill>
                <a:latin typeface="Arial"/>
                <a:ea typeface="Arial"/>
                <a:cs typeface="Arial"/>
              </a:defRPr>
            </a:lvl8pPr>
            <a:lvl9pPr>
              <a:defRPr sz="2475" b="0">
                <a:solidFill>
                  <a:srgbClr val="173D46"/>
                </a:solidFill>
                <a:latin typeface="Arial"/>
                <a:ea typeface="Arial"/>
                <a:cs typeface="Arial"/>
              </a:defRPr>
            </a:lvl9pPr>
          </a:lstStyle>
          <a:p xmlns:a="http://schemas.openxmlformats.org/drawingml/2006/main">
            <a:pPr>
              <a:defRPr sz="2475" b="0">
                <a:solidFill>
                  <a:srgbClr val="173D46"/>
                </a:solidFill>
                <a:latin typeface="Arial"/>
                <a:ea typeface="Arial"/>
                <a:cs typeface="Arial"/>
              </a:defRPr>
            </a:pPr>
            <a:r>
              <a:rPr sz="2475" b="0">
                <a:solidFill>
                  <a:srgbClr val="173D46"/>
                </a:solidFill>
                <a:latin typeface="Arial"/>
                <a:ea typeface="Arial"/>
                <a:cs typeface="Arial"/>
              </a:rPr>
              <a:t>Para z = 1:</a:t>
            </a:r>
          </a:p>
          <a:p xmlns:a="http://schemas.openxmlformats.org/drawingml/2006/main">
            <a:pPr>
              <a:defRPr sz="2475" b="0">
                <a:solidFill>
                  <a:srgbClr val="173D46"/>
                </a:solidFill>
                <a:latin typeface="Arial"/>
                <a:ea typeface="Arial"/>
                <a:cs typeface="Arial"/>
              </a:defRPr>
            </a:pPr>
            <a:r>
              <a:rPr sz="2475" b="0">
                <a:solidFill>
                  <a:srgbClr val="173D46"/>
                </a:solidFill>
                <a:latin typeface="Arial"/>
                <a:ea typeface="Arial"/>
                <a:cs typeface="Arial"/>
              </a:rPr>
              <a:t>q = round(1 / scale) − 38 = −15</a:t>
            </a:r>
          </a:p>
          <a:p xmlns:a="http://schemas.openxmlformats.org/drawingml/2006/main">
            <a:pPr>
              <a:defRPr sz="2475" b="0">
                <a:solidFill>
                  <a:srgbClr val="173D46"/>
                </a:solidFill>
                <a:latin typeface="Arial"/>
                <a:ea typeface="Arial"/>
                <a:cs typeface="Arial"/>
              </a:defRPr>
            </a:pPr>
            <a:r>
              <a:rPr sz="2475" b="0">
                <a:solidFill>
                  <a:srgbClr val="173D46"/>
                </a:solidFill>
                <a:latin typeface="Arial"/>
                <a:ea typeface="Arial"/>
                <a:cs typeface="Arial"/>
              </a:rPr>
              <a:t>z reconstruído = (−15 + 38) × scale ≈ 0,9915</a:t>
            </a:r>
          </a:p>
        </p:txBody>
      </p:sp>
      <p:sp>
        <p:nvSpPr>
          <p:cNvPr id="7" name="">
            <a:extLst xmlns:a="http://schemas.openxmlformats.org/drawingml/2006/main">
              <a:ext uri="{FF2B5EF4-FFF2-40B4-BE49-F238E27FC236}">
                <a16:creationId xmlns:a16="http://schemas.microsoft.com/office/drawing/2014/main" id="{AF4B8076-D03D-421B-A3B1-47863213019D}"/>
              </a:ext>
            </a:extLst>
          </p:cNvPr>
          <p:cNvSpPr>
            <a:spLocks xmlns:a="http://schemas.openxmlformats.org/drawingml/2006/main" noGrp="1"/>
          </p:cNvSpPr>
          <p:nvPr/>
        </p:nvSpPr>
        <p:spPr>
          <a:xfrm xmlns:a="http://schemas.openxmlformats.org/drawingml/2006/main">
            <a:off x="619125" y="50006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D46"/>
                </a:solidFill>
                <a:latin typeface="Arial"/>
                <a:ea typeface="Arial"/>
                <a:cs typeface="Arial"/>
              </a:defRPr>
            </a:defPPr>
            <a:lvl1pPr>
              <a:defRPr sz="2100" b="0">
                <a:solidFill>
                  <a:srgbClr val="173D46"/>
                </a:solidFill>
                <a:latin typeface="Arial"/>
                <a:ea typeface="Arial"/>
                <a:cs typeface="Arial"/>
              </a:defRPr>
            </a:lvl1pPr>
            <a:lvl2pPr>
              <a:defRPr sz="2100" b="0">
                <a:solidFill>
                  <a:srgbClr val="173D46"/>
                </a:solidFill>
                <a:latin typeface="Arial"/>
                <a:ea typeface="Arial"/>
                <a:cs typeface="Arial"/>
              </a:defRPr>
            </a:lvl2pPr>
            <a:lvl3pPr>
              <a:defRPr sz="2100" b="0">
                <a:solidFill>
                  <a:srgbClr val="173D46"/>
                </a:solidFill>
                <a:latin typeface="Arial"/>
                <a:ea typeface="Arial"/>
                <a:cs typeface="Arial"/>
              </a:defRPr>
            </a:lvl3pPr>
            <a:lvl4pPr>
              <a:defRPr sz="2100" b="0">
                <a:solidFill>
                  <a:srgbClr val="173D46"/>
                </a:solidFill>
                <a:latin typeface="Arial"/>
                <a:ea typeface="Arial"/>
                <a:cs typeface="Arial"/>
              </a:defRPr>
            </a:lvl4pPr>
            <a:lvl5pPr>
              <a:defRPr sz="2100" b="0">
                <a:solidFill>
                  <a:srgbClr val="173D46"/>
                </a:solidFill>
                <a:latin typeface="Arial"/>
                <a:ea typeface="Arial"/>
                <a:cs typeface="Arial"/>
              </a:defRPr>
            </a:lvl5pPr>
            <a:lvl6pPr>
              <a:defRPr sz="2100" b="0">
                <a:solidFill>
                  <a:srgbClr val="173D46"/>
                </a:solidFill>
                <a:latin typeface="Arial"/>
                <a:ea typeface="Arial"/>
                <a:cs typeface="Arial"/>
              </a:defRPr>
            </a:lvl6pPr>
            <a:lvl7pPr>
              <a:defRPr sz="2100" b="0">
                <a:solidFill>
                  <a:srgbClr val="173D46"/>
                </a:solidFill>
                <a:latin typeface="Arial"/>
                <a:ea typeface="Arial"/>
                <a:cs typeface="Arial"/>
              </a:defRPr>
            </a:lvl7pPr>
            <a:lvl8pPr>
              <a:defRPr sz="2100" b="0">
                <a:solidFill>
                  <a:srgbClr val="173D46"/>
                </a:solidFill>
                <a:latin typeface="Arial"/>
                <a:ea typeface="Arial"/>
                <a:cs typeface="Arial"/>
              </a:defRPr>
            </a:lvl8pPr>
            <a:lvl9pPr>
              <a:defRPr sz="2100" b="0">
                <a:solidFill>
                  <a:srgbClr val="173D46"/>
                </a:solidFill>
                <a:latin typeface="Arial"/>
                <a:ea typeface="Arial"/>
                <a:cs typeface="Arial"/>
              </a:defRPr>
            </a:lvl9pPr>
          </a:lstStyle>
          <a:p xmlns:a="http://schemas.openxmlformats.org/drawingml/2006/main">
            <a:pPr>
              <a:defRPr sz="2100" b="0">
                <a:solidFill>
                  <a:srgbClr val="173D46"/>
                </a:solidFill>
                <a:latin typeface="Arial"/>
                <a:ea typeface="Arial"/>
                <a:cs typeface="Arial"/>
              </a:defRPr>
            </a:pPr>
            <a:r>
              <a:rPr sz="2100" b="0">
                <a:solidFill>
                  <a:srgbClr val="173D46"/>
                </a:solidFill>
                <a:latin typeface="Arial"/>
                <a:ea typeface="Arial"/>
                <a:cs typeface="Arial"/>
              </a:rPr>
              <a:t>O arredondamento introduziu um erro de ≈ −0,0085.</a:t>
            </a:r>
          </a:p>
        </p:txBody>
      </p:sp>
      <p:sp>
        <p:nvSpPr>
          <p:cNvPr id="8" name="">
            <a:extLst xmlns:a="http://schemas.openxmlformats.org/drawingml/2006/main">
              <a:ext uri="{FF2B5EF4-FFF2-40B4-BE49-F238E27FC236}">
                <a16:creationId xmlns:a16="http://schemas.microsoft.com/office/drawing/2014/main" id="{EDA0140A-0A1B-44CD-89ED-B73305936468}"/>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q recebe saturation no intervalo INT8; zero real é representado por q = −38</a:t>
            </a:r>
          </a:p>
        </p:txBody>
      </p:sp>
    </p:spTree>
    <p:extLst>
      <p:ext uri="{BB962C8B-B14F-4D97-AF65-F5344CB8AC3E}">
        <p14:creationId xmlns:p14="http://schemas.microsoft.com/office/powerpoint/2010/main" val="1468548246"/>
      </p:ext>
    </p:extLst>
  </p:cSld>
</p:sld>
</file>

<file path=ppt/slides/slide14.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3AD8376-0418-406A-BA36-BB38766447B3}"/>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A5B8C65-F77C-4AB0-9EA1-6C95B2382C98}"/>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O que economizo e o que perco</a:t>
            </a:r>
          </a:p>
        </p:txBody>
      </p:sp>
      <p:sp>
        <p:nvSpPr>
          <p:cNvPr id="4" name="">
            <a:extLst xmlns:a="http://schemas.openxmlformats.org/drawingml/2006/main">
              <a:ext uri="{FF2B5EF4-FFF2-40B4-BE49-F238E27FC236}">
                <a16:creationId xmlns:a16="http://schemas.microsoft.com/office/drawing/2014/main" id="{C1806937-B05A-4AAB-BCA7-5ACDADBD7FE5}"/>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0DE19169-CAB0-4CAB-A9D3-C422FBBB9910}"/>
              </a:ext>
            </a:extLst>
          </p:cNvPr>
          <p:cNvGraphicFramePr/>
          <p:nvPr/>
        </p:nvGraphicFramePr>
        <p:xfrm>
          <a:off xmlns:a="http://schemas.openxmlformats.org/drawingml/2006/main" x="619125" y="2000250"/>
          <a:ext xmlns:a="http://schemas.openxmlformats.org/drawingml/2006/main" cx="6858000" cy="3381375"/>
        </p:xfrm>
        <a:graphic xmlns:a="http://schemas.openxmlformats.org/drawingml/2006/main">
          <a:graphicData uri="http://schemas.openxmlformats.org/drawingml/2006/chart">
            <c:chart xmlns:r="http://schemas.openxmlformats.org/officeDocument/2006/relationships" xmlns:c="http://schemas.openxmlformats.org/drawingml/2006/chart" r:id="R45691990e2cd4f9a"/>
          </a:graphicData>
        </a:graphic>
      </p:graphicFrame>
      <p:sp>
        <p:nvSpPr>
          <p:cNvPr id="6" name="">
            <a:extLst xmlns:a="http://schemas.openxmlformats.org/drawingml/2006/main">
              <a:ext uri="{FF2B5EF4-FFF2-40B4-BE49-F238E27FC236}">
                <a16:creationId xmlns:a16="http://schemas.microsoft.com/office/drawing/2014/main" id="{665002F6-BC90-418B-A941-B44E29BF2C2A}"/>
              </a:ext>
            </a:extLst>
          </p:cNvPr>
          <p:cNvSpPr>
            <a:spLocks xmlns:a="http://schemas.openxmlformats.org/drawingml/2006/main" noGrp="1"/>
          </p:cNvSpPr>
          <p:nvPr/>
        </p:nvSpPr>
        <p:spPr>
          <a:xfrm xmlns:a="http://schemas.openxmlformats.org/drawingml/2006/main">
            <a:off x="7905750" y="2333625"/>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4766B"/>
                </a:solidFill>
                <a:latin typeface="Arial"/>
                <a:ea typeface="Arial"/>
                <a:cs typeface="Arial"/>
              </a:defRPr>
            </a:defPPr>
            <a:lvl1pPr>
              <a:defRPr sz="2400" b="1">
                <a:solidFill>
                  <a:srgbClr val="14766B"/>
                </a:solidFill>
                <a:latin typeface="Arial"/>
                <a:ea typeface="Arial"/>
                <a:cs typeface="Arial"/>
              </a:defRPr>
            </a:lvl1pPr>
            <a:lvl2pPr>
              <a:defRPr sz="2400" b="1">
                <a:solidFill>
                  <a:srgbClr val="14766B"/>
                </a:solidFill>
                <a:latin typeface="Arial"/>
                <a:ea typeface="Arial"/>
                <a:cs typeface="Arial"/>
              </a:defRPr>
            </a:lvl2pPr>
            <a:lvl3pPr>
              <a:defRPr sz="2400" b="1">
                <a:solidFill>
                  <a:srgbClr val="14766B"/>
                </a:solidFill>
                <a:latin typeface="Arial"/>
                <a:ea typeface="Arial"/>
                <a:cs typeface="Arial"/>
              </a:defRPr>
            </a:lvl3pPr>
            <a:lvl4pPr>
              <a:defRPr sz="2400" b="1">
                <a:solidFill>
                  <a:srgbClr val="14766B"/>
                </a:solidFill>
                <a:latin typeface="Arial"/>
                <a:ea typeface="Arial"/>
                <a:cs typeface="Arial"/>
              </a:defRPr>
            </a:lvl4pPr>
            <a:lvl5pPr>
              <a:defRPr sz="2400" b="1">
                <a:solidFill>
                  <a:srgbClr val="14766B"/>
                </a:solidFill>
                <a:latin typeface="Arial"/>
                <a:ea typeface="Arial"/>
                <a:cs typeface="Arial"/>
              </a:defRPr>
            </a:lvl5pPr>
            <a:lvl6pPr>
              <a:defRPr sz="2400" b="1">
                <a:solidFill>
                  <a:srgbClr val="14766B"/>
                </a:solidFill>
                <a:latin typeface="Arial"/>
                <a:ea typeface="Arial"/>
                <a:cs typeface="Arial"/>
              </a:defRPr>
            </a:lvl6pPr>
            <a:lvl7pPr>
              <a:defRPr sz="2400" b="1">
                <a:solidFill>
                  <a:srgbClr val="14766B"/>
                </a:solidFill>
                <a:latin typeface="Arial"/>
                <a:ea typeface="Arial"/>
                <a:cs typeface="Arial"/>
              </a:defRPr>
            </a:lvl7pPr>
            <a:lvl8pPr>
              <a:defRPr sz="2400" b="1">
                <a:solidFill>
                  <a:srgbClr val="14766B"/>
                </a:solidFill>
                <a:latin typeface="Arial"/>
                <a:ea typeface="Arial"/>
                <a:cs typeface="Arial"/>
              </a:defRPr>
            </a:lvl8pPr>
            <a:lvl9pPr>
              <a:defRPr sz="2400" b="1">
                <a:solidFill>
                  <a:srgbClr val="14766B"/>
                </a:solidFill>
                <a:latin typeface="Arial"/>
                <a:ea typeface="Arial"/>
                <a:cs typeface="Arial"/>
              </a:defRPr>
            </a:lvl9pPr>
          </a:lstStyle>
          <a:p xmlns:a="http://schemas.openxmlformats.org/drawingml/2006/main">
            <a:pPr>
              <a:defRPr sz="2400" b="1">
                <a:solidFill>
                  <a:srgbClr val="14766B"/>
                </a:solidFill>
                <a:latin typeface="Arial"/>
                <a:ea typeface="Arial"/>
                <a:cs typeface="Arial"/>
              </a:defRPr>
            </a:pPr>
            <a:r>
              <a:rPr sz="2400" b="1">
                <a:solidFill>
                  <a:srgbClr val="14766B"/>
                </a:solidFill>
                <a:latin typeface="Arial"/>
                <a:ea typeface="Arial"/>
                <a:cs typeface="Arial"/>
              </a:rPr>
              <a:t>4.464 features</a:t>
            </a:r>
          </a:p>
          <a:p xmlns:a="http://schemas.openxmlformats.org/drawingml/2006/main">
            <a:pPr>
              <a:defRPr sz="2400" b="1">
                <a:solidFill>
                  <a:srgbClr val="14766B"/>
                </a:solidFill>
                <a:latin typeface="Arial"/>
                <a:ea typeface="Arial"/>
                <a:cs typeface="Arial"/>
              </a:defRPr>
            </a:pPr>
            <a:r>
              <a:rPr sz="2400" b="1">
                <a:solidFill>
                  <a:srgbClr val="14766B"/>
                </a:solidFill>
                <a:latin typeface="Arial"/>
                <a:ea typeface="Arial"/>
                <a:cs typeface="Arial"/>
              </a:rPr>
              <a:t>17.856 → 4.464 bytes</a:t>
            </a:r>
          </a:p>
        </p:txBody>
      </p:sp>
      <p:sp>
        <p:nvSpPr>
          <p:cNvPr id="7" name="">
            <a:extLst xmlns:a="http://schemas.openxmlformats.org/drawingml/2006/main">
              <a:ext uri="{FF2B5EF4-FFF2-40B4-BE49-F238E27FC236}">
                <a16:creationId xmlns:a16="http://schemas.microsoft.com/office/drawing/2014/main" id="{21EE7BEA-7918-4FB2-84C3-1B5F866FB989}"/>
              </a:ext>
            </a:extLst>
          </p:cNvPr>
          <p:cNvSpPr>
            <a:spLocks xmlns:a="http://schemas.openxmlformats.org/drawingml/2006/main" noGrp="1"/>
          </p:cNvSpPr>
          <p:nvPr/>
        </p:nvSpPr>
        <p:spPr>
          <a:xfrm xmlns:a="http://schemas.openxmlformats.org/drawingml/2006/main">
            <a:off x="7905750" y="4095750"/>
            <a:ext cx="361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D46"/>
                </a:solidFill>
                <a:latin typeface="Arial"/>
                <a:ea typeface="Arial"/>
                <a:cs typeface="Arial"/>
              </a:defRPr>
            </a:defPPr>
            <a:lvl1pPr>
              <a:defRPr sz="2175" b="0">
                <a:solidFill>
                  <a:srgbClr val="173D46"/>
                </a:solidFill>
                <a:latin typeface="Arial"/>
                <a:ea typeface="Arial"/>
                <a:cs typeface="Arial"/>
              </a:defRPr>
            </a:lvl1pPr>
            <a:lvl2pPr>
              <a:defRPr sz="2175" b="0">
                <a:solidFill>
                  <a:srgbClr val="173D46"/>
                </a:solidFill>
                <a:latin typeface="Arial"/>
                <a:ea typeface="Arial"/>
                <a:cs typeface="Arial"/>
              </a:defRPr>
            </a:lvl2pPr>
            <a:lvl3pPr>
              <a:defRPr sz="2175" b="0">
                <a:solidFill>
                  <a:srgbClr val="173D46"/>
                </a:solidFill>
                <a:latin typeface="Arial"/>
                <a:ea typeface="Arial"/>
                <a:cs typeface="Arial"/>
              </a:defRPr>
            </a:lvl3pPr>
            <a:lvl4pPr>
              <a:defRPr sz="2175" b="0">
                <a:solidFill>
                  <a:srgbClr val="173D46"/>
                </a:solidFill>
                <a:latin typeface="Arial"/>
                <a:ea typeface="Arial"/>
                <a:cs typeface="Arial"/>
              </a:defRPr>
            </a:lvl4pPr>
            <a:lvl5pPr>
              <a:defRPr sz="2175" b="0">
                <a:solidFill>
                  <a:srgbClr val="173D46"/>
                </a:solidFill>
                <a:latin typeface="Arial"/>
                <a:ea typeface="Arial"/>
                <a:cs typeface="Arial"/>
              </a:defRPr>
            </a:lvl5pPr>
            <a:lvl6pPr>
              <a:defRPr sz="2175" b="0">
                <a:solidFill>
                  <a:srgbClr val="173D46"/>
                </a:solidFill>
                <a:latin typeface="Arial"/>
                <a:ea typeface="Arial"/>
                <a:cs typeface="Arial"/>
              </a:defRPr>
            </a:lvl6pPr>
            <a:lvl7pPr>
              <a:defRPr sz="2175" b="0">
                <a:solidFill>
                  <a:srgbClr val="173D46"/>
                </a:solidFill>
                <a:latin typeface="Arial"/>
                <a:ea typeface="Arial"/>
                <a:cs typeface="Arial"/>
              </a:defRPr>
            </a:lvl7pPr>
            <a:lvl8pPr>
              <a:defRPr sz="2175" b="0">
                <a:solidFill>
                  <a:srgbClr val="173D46"/>
                </a:solidFill>
                <a:latin typeface="Arial"/>
                <a:ea typeface="Arial"/>
                <a:cs typeface="Arial"/>
              </a:defRPr>
            </a:lvl8pPr>
            <a:lvl9pPr>
              <a:defRPr sz="2175" b="0">
                <a:solidFill>
                  <a:srgbClr val="173D46"/>
                </a:solidFill>
                <a:latin typeface="Arial"/>
                <a:ea typeface="Arial"/>
                <a:cs typeface="Arial"/>
              </a:defRPr>
            </a:lvl9pPr>
          </a:lstStyle>
          <a:p xmlns:a="http://schemas.openxmlformats.org/drawingml/2006/main">
            <a:pPr>
              <a:defRPr sz="2175" b="0">
                <a:solidFill>
                  <a:srgbClr val="173D46"/>
                </a:solidFill>
                <a:latin typeface="Arial"/>
                <a:ea typeface="Arial"/>
                <a:cs typeface="Arial"/>
              </a:defRPr>
            </a:pPr>
            <a:r>
              <a:rPr sz="2175" b="0">
                <a:solidFill>
                  <a:srgbClr val="173D46"/>
                </a:solidFill>
                <a:latin typeface="Arial"/>
                <a:ea typeface="Arial"/>
                <a:cs typeface="Arial"/>
              </a:rPr>
              <a:t>Há rounding</a:t>
            </a:r>
          </a:p>
          <a:p xmlns:a="http://schemas.openxmlformats.org/drawingml/2006/main">
            <a:pPr>
              <a:defRPr sz="2175" b="0">
                <a:solidFill>
                  <a:srgbClr val="173D46"/>
                </a:solidFill>
                <a:latin typeface="Arial"/>
                <a:ea typeface="Arial"/>
                <a:cs typeface="Arial"/>
              </a:defRPr>
            </a:pPr>
            <a:r>
              <a:rPr sz="2175" b="0">
                <a:solidFill>
                  <a:srgbClr val="173D46"/>
                </a:solidFill>
                <a:latin typeface="Arial"/>
                <a:ea typeface="Arial"/>
                <a:cs typeface="Arial"/>
              </a:rPr>
              <a:t>e saturation</a:t>
            </a:r>
          </a:p>
        </p:txBody>
      </p:sp>
      <p:sp>
        <p:nvSpPr>
          <p:cNvPr id="8" name="">
            <a:extLst xmlns:a="http://schemas.openxmlformats.org/drawingml/2006/main">
              <a:ext uri="{FF2B5EF4-FFF2-40B4-BE49-F238E27FC236}">
                <a16:creationId xmlns:a16="http://schemas.microsoft.com/office/drawing/2014/main" id="{3807D7A1-AEBC-4F0A-9255-CD5DF3B808CA}"/>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É a conta do tensor de input. O arquivo completo INT8 tem 5.264 bytes</a:t>
            </a:r>
          </a:p>
        </p:txBody>
      </p:sp>
    </p:spTree>
    <p:extLst>
      <p:ext uri="{BB962C8B-B14F-4D97-AF65-F5344CB8AC3E}">
        <p14:creationId xmlns:p14="http://schemas.microsoft.com/office/powerpoint/2010/main" val="1236980917"/>
      </p:ext>
    </p:extLst>
  </p:cSld>
</p:sld>
</file>

<file path=ppt/slides/slide15.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2AD6E5-2A72-4C29-BE62-D0E8F02ADDB2}"/>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12227E1-0AF5-4D84-A86C-C823EF0F218E}"/>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Da window à decisão de um grupo</a:t>
            </a:r>
          </a:p>
        </p:txBody>
      </p:sp>
      <p:sp>
        <p:nvSpPr>
          <p:cNvPr id="4" name="">
            <a:extLst xmlns:a="http://schemas.openxmlformats.org/drawingml/2006/main">
              <a:ext uri="{FF2B5EF4-FFF2-40B4-BE49-F238E27FC236}">
                <a16:creationId xmlns:a16="http://schemas.microsoft.com/office/drawing/2014/main" id="{67903878-6793-4F50-8F2D-88B2E0D09B5E}"/>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4E583F63-98CE-46FB-BF49-E4FCA18BF4FB}"/>
              </a:ext>
            </a:extLst>
          </p:cNvPr>
          <p:cNvSpPr>
            <a:spLocks xmlns:a="http://schemas.openxmlformats.org/drawingml/2006/main" noGrp="1"/>
          </p:cNvSpPr>
          <p:nvPr/>
        </p:nvSpPr>
        <p:spPr>
          <a:xfrm xmlns:a="http://schemas.openxmlformats.org/drawingml/2006/main">
            <a:off x="619125" y="2143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4766B"/>
                </a:solidFill>
                <a:latin typeface="Arial"/>
                <a:ea typeface="Arial"/>
                <a:cs typeface="Arial"/>
              </a:defRPr>
            </a:defPPr>
            <a:lvl1pPr>
              <a:defRPr sz="2700" b="1">
                <a:solidFill>
                  <a:srgbClr val="14766B"/>
                </a:solidFill>
                <a:latin typeface="Arial"/>
                <a:ea typeface="Arial"/>
                <a:cs typeface="Arial"/>
              </a:defRPr>
            </a:lvl1pPr>
            <a:lvl2pPr>
              <a:defRPr sz="2700" b="1">
                <a:solidFill>
                  <a:srgbClr val="14766B"/>
                </a:solidFill>
                <a:latin typeface="Arial"/>
                <a:ea typeface="Arial"/>
                <a:cs typeface="Arial"/>
              </a:defRPr>
            </a:lvl2pPr>
            <a:lvl3pPr>
              <a:defRPr sz="2700" b="1">
                <a:solidFill>
                  <a:srgbClr val="14766B"/>
                </a:solidFill>
                <a:latin typeface="Arial"/>
                <a:ea typeface="Arial"/>
                <a:cs typeface="Arial"/>
              </a:defRPr>
            </a:lvl3pPr>
            <a:lvl4pPr>
              <a:defRPr sz="2700" b="1">
                <a:solidFill>
                  <a:srgbClr val="14766B"/>
                </a:solidFill>
                <a:latin typeface="Arial"/>
                <a:ea typeface="Arial"/>
                <a:cs typeface="Arial"/>
              </a:defRPr>
            </a:lvl4pPr>
            <a:lvl5pPr>
              <a:defRPr sz="2700" b="1">
                <a:solidFill>
                  <a:srgbClr val="14766B"/>
                </a:solidFill>
                <a:latin typeface="Arial"/>
                <a:ea typeface="Arial"/>
                <a:cs typeface="Arial"/>
              </a:defRPr>
            </a:lvl5pPr>
            <a:lvl6pPr>
              <a:defRPr sz="2700" b="1">
                <a:solidFill>
                  <a:srgbClr val="14766B"/>
                </a:solidFill>
                <a:latin typeface="Arial"/>
                <a:ea typeface="Arial"/>
                <a:cs typeface="Arial"/>
              </a:defRPr>
            </a:lvl6pPr>
            <a:lvl7pPr>
              <a:defRPr sz="2700" b="1">
                <a:solidFill>
                  <a:srgbClr val="14766B"/>
                </a:solidFill>
                <a:latin typeface="Arial"/>
                <a:ea typeface="Arial"/>
                <a:cs typeface="Arial"/>
              </a:defRPr>
            </a:lvl7pPr>
            <a:lvl8pPr>
              <a:defRPr sz="2700" b="1">
                <a:solidFill>
                  <a:srgbClr val="14766B"/>
                </a:solidFill>
                <a:latin typeface="Arial"/>
                <a:ea typeface="Arial"/>
                <a:cs typeface="Arial"/>
              </a:defRPr>
            </a:lvl8pPr>
            <a:lvl9pPr>
              <a:defRPr sz="2700" b="1">
                <a:solidFill>
                  <a:srgbClr val="14766B"/>
                </a:solidFill>
                <a:latin typeface="Arial"/>
                <a:ea typeface="Arial"/>
                <a:cs typeface="Arial"/>
              </a:defRPr>
            </a:lvl9pPr>
          </a:lstStyle>
          <a:p xmlns:a="http://schemas.openxmlformats.org/drawingml/2006/main">
            <a:pPr>
              <a:defRPr sz="2700" b="1">
                <a:solidFill>
                  <a:srgbClr val="14766B"/>
                </a:solidFill>
                <a:latin typeface="Arial"/>
                <a:ea typeface="Arial"/>
                <a:cs typeface="Arial"/>
              </a:defRPr>
            </a:pPr>
            <a:r>
              <a:rPr sz="2700" b="1">
                <a:solidFill>
                  <a:srgbClr val="14766B"/>
                </a:solidFill>
                <a:latin typeface="Arial"/>
                <a:ea typeface="Arial"/>
                <a:cs typeface="Arial"/>
              </a:rPr>
              <a:t>Window scores</a:t>
            </a:r>
          </a:p>
        </p:txBody>
      </p:sp>
      <p:sp>
        <p:nvSpPr>
          <p:cNvPr id="6" name="">
            <a:extLst xmlns:a="http://schemas.openxmlformats.org/drawingml/2006/main">
              <a:ext uri="{FF2B5EF4-FFF2-40B4-BE49-F238E27FC236}">
                <a16:creationId xmlns:a16="http://schemas.microsoft.com/office/drawing/2014/main" id="{BC015434-2B13-4537-9FDC-23C5E1EEB6E6}"/>
              </a:ext>
            </a:extLst>
          </p:cNvPr>
          <p:cNvSpPr>
            <a:spLocks xmlns:a="http://schemas.openxmlformats.org/drawingml/2006/main" noGrp="1"/>
          </p:cNvSpPr>
          <p:nvPr/>
        </p:nvSpPr>
        <p:spPr>
          <a:xfrm xmlns:a="http://schemas.openxmlformats.org/drawingml/2006/main">
            <a:off x="619125" y="3095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D46"/>
                </a:solidFill>
                <a:latin typeface="Arial"/>
                <a:ea typeface="Arial"/>
                <a:cs typeface="Arial"/>
              </a:defRPr>
            </a:defPPr>
            <a:lvl1pPr>
              <a:defRPr sz="2400" b="0">
                <a:solidFill>
                  <a:srgbClr val="173D46"/>
                </a:solidFill>
                <a:latin typeface="Arial"/>
                <a:ea typeface="Arial"/>
                <a:cs typeface="Arial"/>
              </a:defRPr>
            </a:lvl1pPr>
            <a:lvl2pPr>
              <a:defRPr sz="2400" b="0">
                <a:solidFill>
                  <a:srgbClr val="173D46"/>
                </a:solidFill>
                <a:latin typeface="Arial"/>
                <a:ea typeface="Arial"/>
                <a:cs typeface="Arial"/>
              </a:defRPr>
            </a:lvl2pPr>
            <a:lvl3pPr>
              <a:defRPr sz="2400" b="0">
                <a:solidFill>
                  <a:srgbClr val="173D46"/>
                </a:solidFill>
                <a:latin typeface="Arial"/>
                <a:ea typeface="Arial"/>
                <a:cs typeface="Arial"/>
              </a:defRPr>
            </a:lvl3pPr>
            <a:lvl4pPr>
              <a:defRPr sz="2400" b="0">
                <a:solidFill>
                  <a:srgbClr val="173D46"/>
                </a:solidFill>
                <a:latin typeface="Arial"/>
                <a:ea typeface="Arial"/>
                <a:cs typeface="Arial"/>
              </a:defRPr>
            </a:lvl4pPr>
            <a:lvl5pPr>
              <a:defRPr sz="2400" b="0">
                <a:solidFill>
                  <a:srgbClr val="173D46"/>
                </a:solidFill>
                <a:latin typeface="Arial"/>
                <a:ea typeface="Arial"/>
                <a:cs typeface="Arial"/>
              </a:defRPr>
            </a:lvl5pPr>
            <a:lvl6pPr>
              <a:defRPr sz="2400" b="0">
                <a:solidFill>
                  <a:srgbClr val="173D46"/>
                </a:solidFill>
                <a:latin typeface="Arial"/>
                <a:ea typeface="Arial"/>
                <a:cs typeface="Arial"/>
              </a:defRPr>
            </a:lvl6pPr>
            <a:lvl7pPr>
              <a:defRPr sz="2400" b="0">
                <a:solidFill>
                  <a:srgbClr val="173D46"/>
                </a:solidFill>
                <a:latin typeface="Arial"/>
                <a:ea typeface="Arial"/>
                <a:cs typeface="Arial"/>
              </a:defRPr>
            </a:lvl7pPr>
            <a:lvl8pPr>
              <a:defRPr sz="2400" b="0">
                <a:solidFill>
                  <a:srgbClr val="173D46"/>
                </a:solidFill>
                <a:latin typeface="Arial"/>
                <a:ea typeface="Arial"/>
                <a:cs typeface="Arial"/>
              </a:defRPr>
            </a:lvl8pPr>
            <a:lvl9pPr>
              <a:defRPr sz="2400" b="0">
                <a:solidFill>
                  <a:srgbClr val="173D46"/>
                </a:solidFill>
                <a:latin typeface="Arial"/>
                <a:ea typeface="Arial"/>
                <a:cs typeface="Arial"/>
              </a:defRPr>
            </a:lvl9pPr>
          </a:lstStyle>
          <a:p xmlns:a="http://schemas.openxmlformats.org/drawingml/2006/main">
            <a:pPr>
              <a:defRPr sz="2400" b="0">
                <a:solidFill>
                  <a:srgbClr val="173D46"/>
                </a:solidFill>
                <a:latin typeface="Arial"/>
                <a:ea typeface="Arial"/>
                <a:cs typeface="Arial"/>
              </a:defRPr>
            </a:pPr>
            <a:r>
              <a:rPr sz="2400" b="0">
                <a:solidFill>
                  <a:srgbClr val="173D46"/>
                </a:solidFill>
                <a:latin typeface="Arial"/>
                <a:ea typeface="Arial"/>
                <a:cs typeface="Arial"/>
              </a:rPr>
              <a:t>mean por recording → maximum entre recordings do grupo</a:t>
            </a:r>
          </a:p>
        </p:txBody>
      </p:sp>
      <p:sp>
        <p:nvSpPr>
          <p:cNvPr id="7" name="">
            <a:extLst xmlns:a="http://schemas.openxmlformats.org/drawingml/2006/main">
              <a:ext uri="{FF2B5EF4-FFF2-40B4-BE49-F238E27FC236}">
                <a16:creationId xmlns:a16="http://schemas.microsoft.com/office/drawing/2014/main" id="{250B0399-F139-4754-96A3-A3F574B0BC69}"/>
              </a:ext>
            </a:extLst>
          </p:cNvPr>
          <p:cNvSpPr>
            <a:spLocks xmlns:a="http://schemas.openxmlformats.org/drawingml/2006/main" noGrp="1"/>
          </p:cNvSpPr>
          <p:nvPr/>
        </p:nvSpPr>
        <p:spPr>
          <a:xfrm xmlns:a="http://schemas.openxmlformats.org/drawingml/2006/main">
            <a:off x="619125" y="43338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173D46"/>
                </a:solidFill>
                <a:latin typeface="Arial"/>
                <a:ea typeface="Arial"/>
                <a:cs typeface="Arial"/>
              </a:defRPr>
            </a:defPPr>
            <a:lvl1pPr>
              <a:defRPr sz="2625" b="0">
                <a:solidFill>
                  <a:srgbClr val="173D46"/>
                </a:solidFill>
                <a:latin typeface="Arial"/>
                <a:ea typeface="Arial"/>
                <a:cs typeface="Arial"/>
              </a:defRPr>
            </a:lvl1pPr>
            <a:lvl2pPr>
              <a:defRPr sz="2625" b="0">
                <a:solidFill>
                  <a:srgbClr val="173D46"/>
                </a:solidFill>
                <a:latin typeface="Arial"/>
                <a:ea typeface="Arial"/>
                <a:cs typeface="Arial"/>
              </a:defRPr>
            </a:lvl2pPr>
            <a:lvl3pPr>
              <a:defRPr sz="2625" b="0">
                <a:solidFill>
                  <a:srgbClr val="173D46"/>
                </a:solidFill>
                <a:latin typeface="Arial"/>
                <a:ea typeface="Arial"/>
                <a:cs typeface="Arial"/>
              </a:defRPr>
            </a:lvl3pPr>
            <a:lvl4pPr>
              <a:defRPr sz="2625" b="0">
                <a:solidFill>
                  <a:srgbClr val="173D46"/>
                </a:solidFill>
                <a:latin typeface="Arial"/>
                <a:ea typeface="Arial"/>
                <a:cs typeface="Arial"/>
              </a:defRPr>
            </a:lvl4pPr>
            <a:lvl5pPr>
              <a:defRPr sz="2625" b="0">
                <a:solidFill>
                  <a:srgbClr val="173D46"/>
                </a:solidFill>
                <a:latin typeface="Arial"/>
                <a:ea typeface="Arial"/>
                <a:cs typeface="Arial"/>
              </a:defRPr>
            </a:lvl5pPr>
            <a:lvl6pPr>
              <a:defRPr sz="2625" b="0">
                <a:solidFill>
                  <a:srgbClr val="173D46"/>
                </a:solidFill>
                <a:latin typeface="Arial"/>
                <a:ea typeface="Arial"/>
                <a:cs typeface="Arial"/>
              </a:defRPr>
            </a:lvl6pPr>
            <a:lvl7pPr>
              <a:defRPr sz="2625" b="0">
                <a:solidFill>
                  <a:srgbClr val="173D46"/>
                </a:solidFill>
                <a:latin typeface="Arial"/>
                <a:ea typeface="Arial"/>
                <a:cs typeface="Arial"/>
              </a:defRPr>
            </a:lvl7pPr>
            <a:lvl8pPr>
              <a:defRPr sz="2625" b="0">
                <a:solidFill>
                  <a:srgbClr val="173D46"/>
                </a:solidFill>
                <a:latin typeface="Arial"/>
                <a:ea typeface="Arial"/>
                <a:cs typeface="Arial"/>
              </a:defRPr>
            </a:lvl8pPr>
            <a:lvl9pPr>
              <a:defRPr sz="2625" b="0">
                <a:solidFill>
                  <a:srgbClr val="173D46"/>
                </a:solidFill>
                <a:latin typeface="Arial"/>
                <a:ea typeface="Arial"/>
                <a:cs typeface="Arial"/>
              </a:defRPr>
            </a:lvl9pPr>
          </a:lstStyle>
          <a:p xmlns:a="http://schemas.openxmlformats.org/drawingml/2006/main">
            <a:pPr>
              <a:defRPr sz="2625" b="0">
                <a:solidFill>
                  <a:srgbClr val="173D46"/>
                </a:solidFill>
                <a:latin typeface="Arial"/>
                <a:ea typeface="Arial"/>
                <a:cs typeface="Arial"/>
              </a:defRPr>
            </a:pPr>
            <a:r>
              <a:rPr sz="2625" b="0">
                <a:solidFill>
                  <a:srgbClr val="173D46"/>
                </a:solidFill>
                <a:latin typeface="Arial"/>
                <a:ea typeface="Arial"/>
                <a:cs typeface="Arial"/>
              </a:rPr>
              <a:t>Score do grupo ≥ threshold → Present</a:t>
            </a:r>
          </a:p>
        </p:txBody>
      </p:sp>
      <p:sp>
        <p:nvSpPr>
          <p:cNvPr id="8" name="">
            <a:extLst xmlns:a="http://schemas.openxmlformats.org/drawingml/2006/main">
              <a:ext uri="{FF2B5EF4-FFF2-40B4-BE49-F238E27FC236}">
                <a16:creationId xmlns:a16="http://schemas.microsoft.com/office/drawing/2014/main" id="{7A061D25-3558-4E30-A50D-32F0A8DBC9CF}"/>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INT8 threshold = 0,734675480769, escolhido em validation</a:t>
            </a:r>
          </a:p>
        </p:txBody>
      </p:sp>
    </p:spTree>
    <p:extLst>
      <p:ext uri="{BB962C8B-B14F-4D97-AF65-F5344CB8AC3E}">
        <p14:creationId xmlns:p14="http://schemas.microsoft.com/office/powerpoint/2010/main" val="2049477319"/>
      </p:ext>
    </p:extLst>
  </p:cSld>
</p:sld>
</file>

<file path=ppt/slides/slide16.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BFF7893-E1D0-46AC-BEA8-8FBDA85BEED8}"/>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EB53EE-81DD-40B0-AAF5-03FEEA7C3F0E}"/>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Como conferi a execução na placa</a:t>
            </a:r>
          </a:p>
        </p:txBody>
      </p:sp>
      <p:sp>
        <p:nvSpPr>
          <p:cNvPr id="4" name="">
            <a:extLst xmlns:a="http://schemas.openxmlformats.org/drawingml/2006/main">
              <a:ext uri="{FF2B5EF4-FFF2-40B4-BE49-F238E27FC236}">
                <a16:creationId xmlns:a16="http://schemas.microsoft.com/office/drawing/2014/main" id="{BD5A3CFE-D9F7-4994-9B8B-10CB6310D391}"/>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697541F0-9C12-44DA-925A-A6BF147DB783}"/>
              </a:ext>
            </a:extLst>
          </p:cNvPr>
          <p:cNvSpPr>
            <a:spLocks xmlns:a="http://schemas.openxmlformats.org/drawingml/2006/main" noGrp="1"/>
          </p:cNvSpPr>
          <p:nvPr/>
        </p:nvSpPr>
        <p:spPr>
          <a:xfrm xmlns:a="http://schemas.openxmlformats.org/drawingml/2006/main">
            <a:off x="619125" y="20478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4766B"/>
                </a:solidFill>
                <a:latin typeface="Arial"/>
                <a:ea typeface="Arial"/>
                <a:cs typeface="Arial"/>
              </a:defRPr>
            </a:defPPr>
            <a:lvl1pPr>
              <a:defRPr sz="2625" b="1">
                <a:solidFill>
                  <a:srgbClr val="14766B"/>
                </a:solidFill>
                <a:latin typeface="Arial"/>
                <a:ea typeface="Arial"/>
                <a:cs typeface="Arial"/>
              </a:defRPr>
            </a:lvl1pPr>
            <a:lvl2pPr>
              <a:defRPr sz="2625" b="1">
                <a:solidFill>
                  <a:srgbClr val="14766B"/>
                </a:solidFill>
                <a:latin typeface="Arial"/>
                <a:ea typeface="Arial"/>
                <a:cs typeface="Arial"/>
              </a:defRPr>
            </a:lvl2pPr>
            <a:lvl3pPr>
              <a:defRPr sz="2625" b="1">
                <a:solidFill>
                  <a:srgbClr val="14766B"/>
                </a:solidFill>
                <a:latin typeface="Arial"/>
                <a:ea typeface="Arial"/>
                <a:cs typeface="Arial"/>
              </a:defRPr>
            </a:lvl3pPr>
            <a:lvl4pPr>
              <a:defRPr sz="2625" b="1">
                <a:solidFill>
                  <a:srgbClr val="14766B"/>
                </a:solidFill>
                <a:latin typeface="Arial"/>
                <a:ea typeface="Arial"/>
                <a:cs typeface="Arial"/>
              </a:defRPr>
            </a:lvl4pPr>
            <a:lvl5pPr>
              <a:defRPr sz="2625" b="1">
                <a:solidFill>
                  <a:srgbClr val="14766B"/>
                </a:solidFill>
                <a:latin typeface="Arial"/>
                <a:ea typeface="Arial"/>
                <a:cs typeface="Arial"/>
              </a:defRPr>
            </a:lvl5pPr>
            <a:lvl6pPr>
              <a:defRPr sz="2625" b="1">
                <a:solidFill>
                  <a:srgbClr val="14766B"/>
                </a:solidFill>
                <a:latin typeface="Arial"/>
                <a:ea typeface="Arial"/>
                <a:cs typeface="Arial"/>
              </a:defRPr>
            </a:lvl6pPr>
            <a:lvl7pPr>
              <a:defRPr sz="2625" b="1">
                <a:solidFill>
                  <a:srgbClr val="14766B"/>
                </a:solidFill>
                <a:latin typeface="Arial"/>
                <a:ea typeface="Arial"/>
                <a:cs typeface="Arial"/>
              </a:defRPr>
            </a:lvl7pPr>
            <a:lvl8pPr>
              <a:defRPr sz="2625" b="1">
                <a:solidFill>
                  <a:srgbClr val="14766B"/>
                </a:solidFill>
                <a:latin typeface="Arial"/>
                <a:ea typeface="Arial"/>
                <a:cs typeface="Arial"/>
              </a:defRPr>
            </a:lvl8pPr>
            <a:lvl9pPr>
              <a:defRPr sz="2625" b="1">
                <a:solidFill>
                  <a:srgbClr val="14766B"/>
                </a:solidFill>
                <a:latin typeface="Arial"/>
                <a:ea typeface="Arial"/>
                <a:cs typeface="Arial"/>
              </a:defRPr>
            </a:lvl9pPr>
          </a:lstStyle>
          <a:p xmlns:a="http://schemas.openxmlformats.org/drawingml/2006/main">
            <a:pPr>
              <a:defRPr sz="2625" b="1">
                <a:solidFill>
                  <a:srgbClr val="14766B"/>
                </a:solidFill>
                <a:latin typeface="Arial"/>
                <a:ea typeface="Arial"/>
                <a:cs typeface="Arial"/>
              </a:defRPr>
            </a:pPr>
            <a:r>
              <a:rPr sz="2625" b="1">
                <a:solidFill>
                  <a:srgbClr val="14766B"/>
                </a:solidFill>
                <a:latin typeface="Arial"/>
                <a:ea typeface="Arial"/>
                <a:cs typeface="Arial"/>
              </a:rPr>
              <a:t>PC envia o mesmo PCM por USB</a:t>
            </a:r>
          </a:p>
        </p:txBody>
      </p:sp>
      <p:sp>
        <p:nvSpPr>
          <p:cNvPr id="6" name="">
            <a:extLst xmlns:a="http://schemas.openxmlformats.org/drawingml/2006/main">
              <a:ext uri="{FF2B5EF4-FFF2-40B4-BE49-F238E27FC236}">
                <a16:creationId xmlns:a16="http://schemas.microsoft.com/office/drawing/2014/main" id="{760FBAC0-0669-47C2-9E9F-10FB7AE26D74}"/>
              </a:ext>
            </a:extLst>
          </p:cNvPr>
          <p:cNvSpPr>
            <a:spLocks xmlns:a="http://schemas.openxmlformats.org/drawingml/2006/main" noGrp="1"/>
          </p:cNvSpPr>
          <p:nvPr/>
        </p:nvSpPr>
        <p:spPr>
          <a:xfrm xmlns:a="http://schemas.openxmlformats.org/drawingml/2006/main">
            <a:off x="619125" y="31432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173D46"/>
                </a:solidFill>
                <a:latin typeface="Arial"/>
                <a:ea typeface="Arial"/>
                <a:cs typeface="Arial"/>
              </a:defRPr>
            </a:defPPr>
            <a:lvl1pPr>
              <a:defRPr sz="2625" b="0">
                <a:solidFill>
                  <a:srgbClr val="173D46"/>
                </a:solidFill>
                <a:latin typeface="Arial"/>
                <a:ea typeface="Arial"/>
                <a:cs typeface="Arial"/>
              </a:defRPr>
            </a:lvl1pPr>
            <a:lvl2pPr>
              <a:defRPr sz="2625" b="0">
                <a:solidFill>
                  <a:srgbClr val="173D46"/>
                </a:solidFill>
                <a:latin typeface="Arial"/>
                <a:ea typeface="Arial"/>
                <a:cs typeface="Arial"/>
              </a:defRPr>
            </a:lvl2pPr>
            <a:lvl3pPr>
              <a:defRPr sz="2625" b="0">
                <a:solidFill>
                  <a:srgbClr val="173D46"/>
                </a:solidFill>
                <a:latin typeface="Arial"/>
                <a:ea typeface="Arial"/>
                <a:cs typeface="Arial"/>
              </a:defRPr>
            </a:lvl3pPr>
            <a:lvl4pPr>
              <a:defRPr sz="2625" b="0">
                <a:solidFill>
                  <a:srgbClr val="173D46"/>
                </a:solidFill>
                <a:latin typeface="Arial"/>
                <a:ea typeface="Arial"/>
                <a:cs typeface="Arial"/>
              </a:defRPr>
            </a:lvl4pPr>
            <a:lvl5pPr>
              <a:defRPr sz="2625" b="0">
                <a:solidFill>
                  <a:srgbClr val="173D46"/>
                </a:solidFill>
                <a:latin typeface="Arial"/>
                <a:ea typeface="Arial"/>
                <a:cs typeface="Arial"/>
              </a:defRPr>
            </a:lvl5pPr>
            <a:lvl6pPr>
              <a:defRPr sz="2625" b="0">
                <a:solidFill>
                  <a:srgbClr val="173D46"/>
                </a:solidFill>
                <a:latin typeface="Arial"/>
                <a:ea typeface="Arial"/>
                <a:cs typeface="Arial"/>
              </a:defRPr>
            </a:lvl6pPr>
            <a:lvl7pPr>
              <a:defRPr sz="2625" b="0">
                <a:solidFill>
                  <a:srgbClr val="173D46"/>
                </a:solidFill>
                <a:latin typeface="Arial"/>
                <a:ea typeface="Arial"/>
                <a:cs typeface="Arial"/>
              </a:defRPr>
            </a:lvl7pPr>
            <a:lvl8pPr>
              <a:defRPr sz="2625" b="0">
                <a:solidFill>
                  <a:srgbClr val="173D46"/>
                </a:solidFill>
                <a:latin typeface="Arial"/>
                <a:ea typeface="Arial"/>
                <a:cs typeface="Arial"/>
              </a:defRPr>
            </a:lvl8pPr>
            <a:lvl9pPr>
              <a:defRPr sz="2625" b="0">
                <a:solidFill>
                  <a:srgbClr val="173D46"/>
                </a:solidFill>
                <a:latin typeface="Arial"/>
                <a:ea typeface="Arial"/>
                <a:cs typeface="Arial"/>
              </a:defRPr>
            </a:lvl9pPr>
          </a:lstStyle>
          <a:p xmlns:a="http://schemas.openxmlformats.org/drawingml/2006/main">
            <a:pPr>
              <a:defRPr sz="2625" b="0">
                <a:solidFill>
                  <a:srgbClr val="173D46"/>
                </a:solidFill>
                <a:latin typeface="Arial"/>
                <a:ea typeface="Arial"/>
                <a:cs typeface="Arial"/>
              </a:defRPr>
            </a:pPr>
            <a:r>
              <a:rPr sz="2625" b="0">
                <a:solidFill>
                  <a:srgbClr val="173D46"/>
                </a:solidFill>
                <a:latin typeface="Arial"/>
                <a:ea typeface="Arial"/>
                <a:cs typeface="Arial"/>
              </a:rPr>
              <a:t>RP2040 calcula MFE + TFLite Micro inference</a:t>
            </a:r>
          </a:p>
        </p:txBody>
      </p:sp>
      <p:sp>
        <p:nvSpPr>
          <p:cNvPr id="7" name="">
            <a:extLst xmlns:a="http://schemas.openxmlformats.org/drawingml/2006/main">
              <a:ext uri="{FF2B5EF4-FFF2-40B4-BE49-F238E27FC236}">
                <a16:creationId xmlns:a16="http://schemas.microsoft.com/office/drawing/2014/main" id="{8E5CCFA9-2271-472C-8376-12BC338706D8}"/>
              </a:ext>
            </a:extLst>
          </p:cNvPr>
          <p:cNvSpPr>
            <a:spLocks xmlns:a="http://schemas.openxmlformats.org/drawingml/2006/main" noGrp="1"/>
          </p:cNvSpPr>
          <p:nvPr/>
        </p:nvSpPr>
        <p:spPr>
          <a:xfrm xmlns:a="http://schemas.openxmlformats.org/drawingml/2006/main">
            <a:off x="619125" y="423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173D46"/>
                </a:solidFill>
                <a:latin typeface="Arial"/>
                <a:ea typeface="Arial"/>
                <a:cs typeface="Arial"/>
              </a:defRPr>
            </a:defPPr>
            <a:lvl1pPr>
              <a:defRPr sz="2625" b="0">
                <a:solidFill>
                  <a:srgbClr val="173D46"/>
                </a:solidFill>
                <a:latin typeface="Arial"/>
                <a:ea typeface="Arial"/>
                <a:cs typeface="Arial"/>
              </a:defRPr>
            </a:lvl1pPr>
            <a:lvl2pPr>
              <a:defRPr sz="2625" b="0">
                <a:solidFill>
                  <a:srgbClr val="173D46"/>
                </a:solidFill>
                <a:latin typeface="Arial"/>
                <a:ea typeface="Arial"/>
                <a:cs typeface="Arial"/>
              </a:defRPr>
            </a:lvl2pPr>
            <a:lvl3pPr>
              <a:defRPr sz="2625" b="0">
                <a:solidFill>
                  <a:srgbClr val="173D46"/>
                </a:solidFill>
                <a:latin typeface="Arial"/>
                <a:ea typeface="Arial"/>
                <a:cs typeface="Arial"/>
              </a:defRPr>
            </a:lvl3pPr>
            <a:lvl4pPr>
              <a:defRPr sz="2625" b="0">
                <a:solidFill>
                  <a:srgbClr val="173D46"/>
                </a:solidFill>
                <a:latin typeface="Arial"/>
                <a:ea typeface="Arial"/>
                <a:cs typeface="Arial"/>
              </a:defRPr>
            </a:lvl4pPr>
            <a:lvl5pPr>
              <a:defRPr sz="2625" b="0">
                <a:solidFill>
                  <a:srgbClr val="173D46"/>
                </a:solidFill>
                <a:latin typeface="Arial"/>
                <a:ea typeface="Arial"/>
                <a:cs typeface="Arial"/>
              </a:defRPr>
            </a:lvl5pPr>
            <a:lvl6pPr>
              <a:defRPr sz="2625" b="0">
                <a:solidFill>
                  <a:srgbClr val="173D46"/>
                </a:solidFill>
                <a:latin typeface="Arial"/>
                <a:ea typeface="Arial"/>
                <a:cs typeface="Arial"/>
              </a:defRPr>
            </a:lvl6pPr>
            <a:lvl7pPr>
              <a:defRPr sz="2625" b="0">
                <a:solidFill>
                  <a:srgbClr val="173D46"/>
                </a:solidFill>
                <a:latin typeface="Arial"/>
                <a:ea typeface="Arial"/>
                <a:cs typeface="Arial"/>
              </a:defRPr>
            </a:lvl7pPr>
            <a:lvl8pPr>
              <a:defRPr sz="2625" b="0">
                <a:solidFill>
                  <a:srgbClr val="173D46"/>
                </a:solidFill>
                <a:latin typeface="Arial"/>
                <a:ea typeface="Arial"/>
                <a:cs typeface="Arial"/>
              </a:defRPr>
            </a:lvl8pPr>
            <a:lvl9pPr>
              <a:defRPr sz="2625" b="0">
                <a:solidFill>
                  <a:srgbClr val="173D46"/>
                </a:solidFill>
                <a:latin typeface="Arial"/>
                <a:ea typeface="Arial"/>
                <a:cs typeface="Arial"/>
              </a:defRPr>
            </a:lvl9pPr>
          </a:lstStyle>
          <a:p xmlns:a="http://schemas.openxmlformats.org/drawingml/2006/main">
            <a:pPr>
              <a:defRPr sz="2625" b="0">
                <a:solidFill>
                  <a:srgbClr val="173D46"/>
                </a:solidFill>
                <a:latin typeface="Arial"/>
                <a:ea typeface="Arial"/>
                <a:cs typeface="Arial"/>
              </a:defRPr>
            </a:pPr>
            <a:r>
              <a:rPr sz="2625" b="0">
                <a:solidFill>
                  <a:srgbClr val="173D46"/>
                </a:solidFill>
                <a:latin typeface="Arial"/>
                <a:ea typeface="Arial"/>
                <a:cs typeface="Arial"/>
              </a:rPr>
              <a:t>PC registra scores, tempos e hashes</a:t>
            </a:r>
          </a:p>
        </p:txBody>
      </p:sp>
      <p:sp>
        <p:nvSpPr>
          <p:cNvPr id="8" name="">
            <a:extLst xmlns:a="http://schemas.openxmlformats.org/drawingml/2006/main">
              <a:ext uri="{FF2B5EF4-FFF2-40B4-BE49-F238E27FC236}">
                <a16:creationId xmlns:a16="http://schemas.microsoft.com/office/drawing/2014/main" id="{159B5FF3-324B-4A65-ACEE-E7B69CD2A743}"/>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Test completo: 6.512 windows • 471 recordings • 122 grupos</a:t>
            </a:r>
          </a:p>
        </p:txBody>
      </p:sp>
    </p:spTree>
    <p:extLst>
      <p:ext uri="{BB962C8B-B14F-4D97-AF65-F5344CB8AC3E}">
        <p14:creationId xmlns:p14="http://schemas.microsoft.com/office/powerpoint/2010/main" val="1492674262"/>
      </p:ext>
    </p:extLst>
  </p:cSld>
</p:sld>
</file>

<file path=ppt/slides/slide17.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FD0E4C3-FAAC-4CE3-8099-469B69E43CE1}"/>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15C023-9DC4-4183-8A14-4F79E87B7ADE}"/>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O que obtive no test set</a:t>
            </a:r>
          </a:p>
        </p:txBody>
      </p:sp>
      <p:sp>
        <p:nvSpPr>
          <p:cNvPr id="4" name="">
            <a:extLst xmlns:a="http://schemas.openxmlformats.org/drawingml/2006/main">
              <a:ext uri="{FF2B5EF4-FFF2-40B4-BE49-F238E27FC236}">
                <a16:creationId xmlns:a16="http://schemas.microsoft.com/office/drawing/2014/main" id="{70CF4F9E-9841-40D6-8E13-35C8BB4E3F27}"/>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17</a:t>
            </a:r>
          </a:p>
        </p:txBody>
      </p:sp>
      <p:graphicFrame>
        <p:nvGraphicFramePr>
          <p:cNvPr id="5" name="">
            <a:extLst xmlns:a="http://schemas.openxmlformats.org/drawingml/2006/main">
              <a:ext uri="{FF2B5EF4-FFF2-40B4-BE49-F238E27FC236}">
                <a16:creationId xmlns:a16="http://schemas.microsoft.com/office/drawing/2014/main" id="{294A0855-A753-4A0E-9D78-4E311971C530}"/>
              </a:ext>
            </a:extLst>
          </p:cNvPr>
          <p:cNvGraphicFramePr/>
          <p:nvPr/>
        </p:nvGraphicFramePr>
        <p:xfrm>
          <a:off xmlns:a="http://schemas.openxmlformats.org/drawingml/2006/main" x="619125" y="1952625"/>
          <a:ext xmlns:a="http://schemas.openxmlformats.org/drawingml/2006/main" cx="10953750" cy="3524250"/>
        </p:xfrm>
        <a:graphic xmlns:a="http://schemas.openxmlformats.org/drawingml/2006/main">
          <a:graphicData uri="http://schemas.openxmlformats.org/drawingml/2006/table">
            <a:tbl>
              <a:tblPr/>
              <a:tblGrid>
                <a:gridCol w="4572000"/>
                <a:gridCol w="2047875"/>
                <a:gridCol w="2143125"/>
                <a:gridCol w="2190750"/>
              </a:tblGrid>
              <a:tr h="587375">
                <a:tc>
                  <a:txBody>
                    <a:bodyPr/>
                    <a:lstStyle/>
                    <a:p>
                      <a:r>
                        <a:rPr sz="1725" b="1">
                          <a:solidFill>
                            <a:srgbClr val="FFFFFF"/>
                          </a:solidFill>
                          <a:latin typeface="Arial"/>
                          <a:ea typeface="Arial"/>
                          <a:cs typeface="Arial"/>
                        </a:rPr>
                        <a:t>Execução</a:t>
                      </a:r>
                    </a:p>
                  </a:txBody>
                  <a:tcPr marL="123825" marR="95250" marT="104775" marB="104775">
                    <a:lnL w="9525">
                      <a:solidFill>
                        <a:srgbClr val="CEDBD5"/>
                      </a:solidFill>
                    </a:lnL>
                    <a:lnR w="9525">
                      <a:solidFill>
                        <a:srgbClr val="CEDBD5"/>
                      </a:solidFill>
                    </a:lnR>
                    <a:lnT w="9525">
                      <a:solidFill>
                        <a:srgbClr val="CEDBD5"/>
                      </a:solidFill>
                    </a:lnT>
                    <a:lnB w="9525">
                      <a:solidFill>
                        <a:srgbClr val="CEDBD5"/>
                      </a:solidFill>
                    </a:lnB>
                    <a:solidFill>
                      <a:srgbClr val="173D46"/>
                    </a:solidFill>
                  </a:tcPr>
                </a:tc>
                <a:tc>
                  <a:txBody>
                    <a:bodyPr/>
                    <a:lstStyle/>
                    <a:p>
                      <a:r>
                        <a:rPr sz="1725" b="1">
                          <a:solidFill>
                            <a:srgbClr val="FFFFFF"/>
                          </a:solidFill>
                          <a:latin typeface="Arial"/>
                          <a:ea typeface="Arial"/>
                          <a:cs typeface="Arial"/>
                        </a:rPr>
                        <a:t>F1</a:t>
                      </a:r>
                    </a:p>
                  </a:txBody>
                  <a:tcPr marL="123825" marR="95250" marT="104775" marB="104775">
                    <a:lnR w="9525">
                      <a:solidFill>
                        <a:srgbClr val="CEDBD5"/>
                      </a:solidFill>
                    </a:lnR>
                    <a:lnT w="9525">
                      <a:solidFill>
                        <a:srgbClr val="CEDBD5"/>
                      </a:solidFill>
                    </a:lnT>
                    <a:lnB w="9525">
                      <a:solidFill>
                        <a:srgbClr val="CEDBD5"/>
                      </a:solidFill>
                    </a:lnB>
                    <a:solidFill>
                      <a:srgbClr val="173D46"/>
                    </a:solidFill>
                  </a:tcPr>
                </a:tc>
                <a:tc>
                  <a:txBody>
                    <a:bodyPr/>
                    <a:lstStyle/>
                    <a:p>
                      <a:r>
                        <a:rPr sz="1725" b="1">
                          <a:solidFill>
                            <a:srgbClr val="FFFFFF"/>
                          </a:solidFill>
                          <a:latin typeface="Arial"/>
                          <a:ea typeface="Arial"/>
                          <a:cs typeface="Arial"/>
                        </a:rPr>
                        <a:t>Recall</a:t>
                      </a:r>
                    </a:p>
                  </a:txBody>
                  <a:tcPr marL="123825" marR="95250" marT="104775" marB="104775">
                    <a:lnR w="9525">
                      <a:solidFill>
                        <a:srgbClr val="CEDBD5"/>
                      </a:solidFill>
                    </a:lnR>
                    <a:lnT w="9525">
                      <a:solidFill>
                        <a:srgbClr val="CEDBD5"/>
                      </a:solidFill>
                    </a:lnT>
                    <a:lnB w="9525">
                      <a:solidFill>
                        <a:srgbClr val="CEDBD5"/>
                      </a:solidFill>
                    </a:lnB>
                    <a:solidFill>
                      <a:srgbClr val="173D46"/>
                    </a:solidFill>
                  </a:tcPr>
                </a:tc>
                <a:tc>
                  <a:txBody>
                    <a:bodyPr/>
                    <a:lstStyle/>
                    <a:p>
                      <a:r>
                        <a:rPr sz="1725" b="1">
                          <a:solidFill>
                            <a:srgbClr val="FFFFFF"/>
                          </a:solidFill>
                          <a:latin typeface="Arial"/>
                          <a:ea typeface="Arial"/>
                          <a:cs typeface="Arial"/>
                        </a:rPr>
                        <a:t>Accuracy</a:t>
                      </a:r>
                    </a:p>
                  </a:txBody>
                  <a:tcPr marL="123825" marR="95250" marT="104775" marB="104775">
                    <a:lnR w="9525">
                      <a:solidFill>
                        <a:srgbClr val="CEDBD5"/>
                      </a:solidFill>
                    </a:lnR>
                    <a:lnT w="9525">
                      <a:solidFill>
                        <a:srgbClr val="CEDBD5"/>
                      </a:solidFill>
                    </a:lnT>
                    <a:lnB w="9525">
                      <a:solidFill>
                        <a:srgbClr val="CEDBD5"/>
                      </a:solidFill>
                    </a:lnB>
                    <a:solidFill>
                      <a:srgbClr val="173D46"/>
                    </a:solidFill>
                  </a:tcPr>
                </a:tc>
              </a:tr>
              <a:tr h="587375">
                <a:tc>
                  <a:txBody>
                    <a:bodyPr/>
                    <a:lstStyle/>
                    <a:p>
                      <a:r>
                        <a:rPr sz="1800">
                          <a:solidFill>
                            <a:srgbClr val="173D46"/>
                          </a:solidFill>
                          <a:latin typeface="Arial"/>
                          <a:ea typeface="Arial"/>
                          <a:cs typeface="Arial"/>
                        </a:rPr>
                        <a:t>Always Absent</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0,000</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0,0%</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80,3%</a:t>
                      </a:r>
                    </a:p>
                  </a:txBody>
                  <a:tcPr marL="123825" marR="95250" marT="104775" marB="104775">
                    <a:lnR w="9525">
                      <a:solidFill>
                        <a:srgbClr val="CEDBD5"/>
                      </a:solidFill>
                    </a:lnR>
                    <a:lnB w="9525">
                      <a:solidFill>
                        <a:srgbClr val="CEDBD5"/>
                      </a:solidFill>
                    </a:lnB>
                    <a:solidFill>
                      <a:srgbClr val="FFFFFF"/>
                    </a:solidFill>
                  </a:tcPr>
                </a:tc>
              </a:tr>
              <a:tr h="587375">
                <a:tc>
                  <a:txBody>
                    <a:bodyPr/>
                    <a:lstStyle/>
                    <a:p>
                      <a:r>
                        <a:rPr sz="1800">
                          <a:solidFill>
                            <a:srgbClr val="173D46"/>
                          </a:solidFill>
                          <a:latin typeface="Arial"/>
                          <a:ea typeface="Arial"/>
                          <a:cs typeface="Arial"/>
                        </a:rPr>
                        <a:t>Float32 CNN / PC</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0,694</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70,8%</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87,7%</a:t>
                      </a:r>
                    </a:p>
                  </a:txBody>
                  <a:tcPr marL="123825" marR="95250" marT="104775" marB="104775">
                    <a:lnR w="9525">
                      <a:solidFill>
                        <a:srgbClr val="CEDBD5"/>
                      </a:solidFill>
                    </a:lnR>
                    <a:lnB w="9525">
                      <a:solidFill>
                        <a:srgbClr val="CEDBD5"/>
                      </a:solidFill>
                    </a:lnB>
                    <a:solidFill>
                      <a:srgbClr val="FFFFFF"/>
                    </a:solidFill>
                  </a:tcPr>
                </a:tc>
              </a:tr>
              <a:tr h="587375">
                <a:tc>
                  <a:txBody>
                    <a:bodyPr/>
                    <a:lstStyle/>
                    <a:p>
                      <a:r>
                        <a:rPr sz="1800">
                          <a:solidFill>
                            <a:srgbClr val="173D46"/>
                          </a:solidFill>
                          <a:latin typeface="Arial"/>
                          <a:ea typeface="Arial"/>
                          <a:cs typeface="Arial"/>
                        </a:rPr>
                        <a:t>INT8 / PC optimized</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0,680</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70,8%</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86,9%</a:t>
                      </a:r>
                    </a:p>
                  </a:txBody>
                  <a:tcPr marL="123825" marR="95250" marT="104775" marB="104775">
                    <a:lnR w="9525">
                      <a:solidFill>
                        <a:srgbClr val="CEDBD5"/>
                      </a:solidFill>
                    </a:lnR>
                    <a:lnB w="9525">
                      <a:solidFill>
                        <a:srgbClr val="CEDBD5"/>
                      </a:solidFill>
                    </a:lnB>
                    <a:solidFill>
                      <a:srgbClr val="FFFFFF"/>
                    </a:solidFill>
                  </a:tcPr>
                </a:tc>
              </a:tr>
              <a:tr h="587375">
                <a:tc>
                  <a:txBody>
                    <a:bodyPr/>
                    <a:lstStyle/>
                    <a:p>
                      <a:r>
                        <a:rPr sz="1800">
                          <a:solidFill>
                            <a:srgbClr val="173D46"/>
                          </a:solidFill>
                          <a:latin typeface="Arial"/>
                          <a:ea typeface="Arial"/>
                          <a:cs typeface="Arial"/>
                        </a:rPr>
                        <a:t>INT8 / PC reference</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0,694</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70,8%</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87,7%</a:t>
                      </a:r>
                    </a:p>
                  </a:txBody>
                  <a:tcPr marL="123825" marR="95250" marT="104775" marB="104775">
                    <a:lnR w="9525">
                      <a:solidFill>
                        <a:srgbClr val="CEDBD5"/>
                      </a:solidFill>
                    </a:lnR>
                    <a:lnB w="9525">
                      <a:solidFill>
                        <a:srgbClr val="CEDBD5"/>
                      </a:solidFill>
                    </a:lnB>
                    <a:solidFill>
                      <a:srgbClr val="FFFFFF"/>
                    </a:solidFill>
                  </a:tcPr>
                </a:tc>
              </a:tr>
              <a:tr h="587375">
                <a:tc>
                  <a:txBody>
                    <a:bodyPr/>
                    <a:lstStyle/>
                    <a:p>
                      <a:r>
                        <a:rPr sz="1800">
                          <a:solidFill>
                            <a:srgbClr val="173D46"/>
                          </a:solidFill>
                          <a:latin typeface="Arial"/>
                          <a:ea typeface="Arial"/>
                          <a:cs typeface="Arial"/>
                        </a:rPr>
                        <a:t>INT8 / RP2040</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0,694</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70,8%</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87,7%</a:t>
                      </a:r>
                    </a:p>
                  </a:txBody>
                  <a:tcPr marL="123825" marR="95250" marT="104775" marB="104775">
                    <a:lnR w="9525">
                      <a:solidFill>
                        <a:srgbClr val="CEDBD5"/>
                      </a:solidFill>
                    </a:lnR>
                    <a:lnB w="9525">
                      <a:solidFill>
                        <a:srgbClr val="CEDBD5"/>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C62C913-AA00-4959-94A0-0A9879098C0F}"/>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Resultados por grupo, com as mesmas 122 unidades de test</a:t>
            </a:r>
          </a:p>
        </p:txBody>
      </p:sp>
    </p:spTree>
    <p:extLst>
      <p:ext uri="{BB962C8B-B14F-4D97-AF65-F5344CB8AC3E}">
        <p14:creationId xmlns:p14="http://schemas.microsoft.com/office/powerpoint/2010/main" val="626654478"/>
      </p:ext>
    </p:extLst>
  </p:cSld>
</p:sld>
</file>

<file path=ppt/slides/slide18.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8104FF2-3891-4CFF-B39F-768320D44115}"/>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94FA68A-89D5-43B6-9C35-855AD58CE981}"/>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Onde a rede errou</a:t>
            </a:r>
          </a:p>
        </p:txBody>
      </p:sp>
      <p:sp>
        <p:nvSpPr>
          <p:cNvPr id="4" name="">
            <a:extLst xmlns:a="http://schemas.openxmlformats.org/drawingml/2006/main">
              <a:ext uri="{FF2B5EF4-FFF2-40B4-BE49-F238E27FC236}">
                <a16:creationId xmlns:a16="http://schemas.microsoft.com/office/drawing/2014/main" id="{FE92308F-CEE3-4CF7-9130-42FA25F6E341}"/>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ABF7EE4C-7092-4EC0-A3AF-1DABC4F79E85}"/>
              </a:ext>
            </a:extLst>
          </p:cNvPr>
          <p:cNvGraphicFramePr/>
          <p:nvPr/>
        </p:nvGraphicFramePr>
        <p:xfrm>
          <a:off xmlns:a="http://schemas.openxmlformats.org/drawingml/2006/main" x="619125" y="2095500"/>
          <a:ext xmlns:a="http://schemas.openxmlformats.org/drawingml/2006/main" cx="10953750" cy="2667000"/>
        </p:xfrm>
        <a:graphic xmlns:a="http://schemas.openxmlformats.org/drawingml/2006/main">
          <a:graphicData uri="http://schemas.openxmlformats.org/drawingml/2006/table">
            <a:tbl>
              <a:tblPr/>
              <a:tblGrid>
                <a:gridCol w="4286250"/>
                <a:gridCol w="3333750"/>
                <a:gridCol w="3333750"/>
              </a:tblGrid>
              <a:tr h="889000">
                <a:tc>
                  <a:txBody>
                    <a:bodyPr/>
                    <a:lstStyle/>
                    <a:p>
                      <a:r>
                        <a:rPr sz="1725" b="1">
                          <a:solidFill>
                            <a:srgbClr val="FFFFFF"/>
                          </a:solidFill>
                          <a:latin typeface="Arial"/>
                          <a:ea typeface="Arial"/>
                          <a:cs typeface="Arial"/>
                        </a:rPr>
                        <a:t>Rótulo do grupo</a:t>
                      </a:r>
                    </a:p>
                  </a:txBody>
                  <a:tcPr marL="123825" marR="95250" marT="104775" marB="104775">
                    <a:lnL w="9525">
                      <a:solidFill>
                        <a:srgbClr val="CEDBD5"/>
                      </a:solidFill>
                    </a:lnL>
                    <a:lnR w="9525">
                      <a:solidFill>
                        <a:srgbClr val="CEDBD5"/>
                      </a:solidFill>
                    </a:lnR>
                    <a:lnT w="9525">
                      <a:solidFill>
                        <a:srgbClr val="CEDBD5"/>
                      </a:solidFill>
                    </a:lnT>
                    <a:lnB w="9525">
                      <a:solidFill>
                        <a:srgbClr val="CEDBD5"/>
                      </a:solidFill>
                    </a:lnB>
                    <a:solidFill>
                      <a:srgbClr val="173D46"/>
                    </a:solidFill>
                  </a:tcPr>
                </a:tc>
                <a:tc>
                  <a:txBody>
                    <a:bodyPr/>
                    <a:lstStyle/>
                    <a:p>
                      <a:r>
                        <a:rPr sz="1725" b="1">
                          <a:solidFill>
                            <a:srgbClr val="FFFFFF"/>
                          </a:solidFill>
                          <a:latin typeface="Arial"/>
                          <a:ea typeface="Arial"/>
                          <a:cs typeface="Arial"/>
                        </a:rPr>
                        <a:t>Previsto Present</a:t>
                      </a:r>
                    </a:p>
                  </a:txBody>
                  <a:tcPr marL="123825" marR="95250" marT="104775" marB="104775">
                    <a:lnR w="9525">
                      <a:solidFill>
                        <a:srgbClr val="CEDBD5"/>
                      </a:solidFill>
                    </a:lnR>
                    <a:lnT w="9525">
                      <a:solidFill>
                        <a:srgbClr val="CEDBD5"/>
                      </a:solidFill>
                    </a:lnT>
                    <a:lnB w="9525">
                      <a:solidFill>
                        <a:srgbClr val="CEDBD5"/>
                      </a:solidFill>
                    </a:lnB>
                    <a:solidFill>
                      <a:srgbClr val="173D46"/>
                    </a:solidFill>
                  </a:tcPr>
                </a:tc>
                <a:tc>
                  <a:txBody>
                    <a:bodyPr/>
                    <a:lstStyle/>
                    <a:p>
                      <a:r>
                        <a:rPr sz="1725" b="1">
                          <a:solidFill>
                            <a:srgbClr val="FFFFFF"/>
                          </a:solidFill>
                          <a:latin typeface="Arial"/>
                          <a:ea typeface="Arial"/>
                          <a:cs typeface="Arial"/>
                        </a:rPr>
                        <a:t>Previsto Absent</a:t>
                      </a:r>
                    </a:p>
                  </a:txBody>
                  <a:tcPr marL="123825" marR="95250" marT="104775" marB="104775">
                    <a:lnR w="9525">
                      <a:solidFill>
                        <a:srgbClr val="CEDBD5"/>
                      </a:solidFill>
                    </a:lnR>
                    <a:lnT w="9525">
                      <a:solidFill>
                        <a:srgbClr val="CEDBD5"/>
                      </a:solidFill>
                    </a:lnT>
                    <a:lnB w="9525">
                      <a:solidFill>
                        <a:srgbClr val="CEDBD5"/>
                      </a:solidFill>
                    </a:lnB>
                    <a:solidFill>
                      <a:srgbClr val="173D46"/>
                    </a:solidFill>
                  </a:tcPr>
                </a:tc>
              </a:tr>
              <a:tr h="889000">
                <a:tc>
                  <a:txBody>
                    <a:bodyPr/>
                    <a:lstStyle/>
                    <a:p>
                      <a:r>
                        <a:rPr sz="1800">
                          <a:solidFill>
                            <a:srgbClr val="173D46"/>
                          </a:solidFill>
                          <a:latin typeface="Arial"/>
                          <a:ea typeface="Arial"/>
                          <a:cs typeface="Arial"/>
                        </a:rPr>
                        <a:t>Present</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17 TP</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7 FN</a:t>
                      </a:r>
                    </a:p>
                  </a:txBody>
                  <a:tcPr marL="123825" marR="95250" marT="104775" marB="104775">
                    <a:lnR w="9525">
                      <a:solidFill>
                        <a:srgbClr val="CEDBD5"/>
                      </a:solidFill>
                    </a:lnR>
                    <a:lnB w="9525">
                      <a:solidFill>
                        <a:srgbClr val="CEDBD5"/>
                      </a:solidFill>
                    </a:lnB>
                    <a:solidFill>
                      <a:srgbClr val="FFFFFF"/>
                    </a:solidFill>
                  </a:tcPr>
                </a:tc>
              </a:tr>
              <a:tr h="889000">
                <a:tc>
                  <a:txBody>
                    <a:bodyPr/>
                    <a:lstStyle/>
                    <a:p>
                      <a:r>
                        <a:rPr sz="1800">
                          <a:solidFill>
                            <a:srgbClr val="173D46"/>
                          </a:solidFill>
                          <a:latin typeface="Arial"/>
                          <a:ea typeface="Arial"/>
                          <a:cs typeface="Arial"/>
                        </a:rPr>
                        <a:t>Absent</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8 FP</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90 TN</a:t>
                      </a:r>
                    </a:p>
                  </a:txBody>
                  <a:tcPr marL="123825" marR="95250" marT="104775" marB="104775">
                    <a:lnR w="9525">
                      <a:solidFill>
                        <a:srgbClr val="CEDBD5"/>
                      </a:solidFill>
                    </a:lnR>
                    <a:lnB w="9525">
                      <a:solidFill>
                        <a:srgbClr val="CEDBD5"/>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27B5F8D-AA41-4F67-B753-4EAEE5F62CED}"/>
              </a:ext>
            </a:extLst>
          </p:cNvPr>
          <p:cNvSpPr>
            <a:spLocks xmlns:a="http://schemas.openxmlformats.org/drawingml/2006/main" noGrp="1"/>
          </p:cNvSpPr>
          <p:nvPr/>
        </p:nvSpPr>
        <p:spPr>
          <a:xfrm xmlns:a="http://schemas.openxmlformats.org/drawingml/2006/main">
            <a:off x="619125" y="51911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34C3E"/>
                </a:solidFill>
                <a:latin typeface="Arial"/>
                <a:ea typeface="Arial"/>
                <a:cs typeface="Arial"/>
              </a:defRPr>
            </a:defPPr>
            <a:lvl1pPr>
              <a:defRPr sz="2400" b="1">
                <a:solidFill>
                  <a:srgbClr val="B34C3E"/>
                </a:solidFill>
                <a:latin typeface="Arial"/>
                <a:ea typeface="Arial"/>
                <a:cs typeface="Arial"/>
              </a:defRPr>
            </a:lvl1pPr>
            <a:lvl2pPr>
              <a:defRPr sz="2400" b="1">
                <a:solidFill>
                  <a:srgbClr val="B34C3E"/>
                </a:solidFill>
                <a:latin typeface="Arial"/>
                <a:ea typeface="Arial"/>
                <a:cs typeface="Arial"/>
              </a:defRPr>
            </a:lvl2pPr>
            <a:lvl3pPr>
              <a:defRPr sz="2400" b="1">
                <a:solidFill>
                  <a:srgbClr val="B34C3E"/>
                </a:solidFill>
                <a:latin typeface="Arial"/>
                <a:ea typeface="Arial"/>
                <a:cs typeface="Arial"/>
              </a:defRPr>
            </a:lvl3pPr>
            <a:lvl4pPr>
              <a:defRPr sz="2400" b="1">
                <a:solidFill>
                  <a:srgbClr val="B34C3E"/>
                </a:solidFill>
                <a:latin typeface="Arial"/>
                <a:ea typeface="Arial"/>
                <a:cs typeface="Arial"/>
              </a:defRPr>
            </a:lvl4pPr>
            <a:lvl5pPr>
              <a:defRPr sz="2400" b="1">
                <a:solidFill>
                  <a:srgbClr val="B34C3E"/>
                </a:solidFill>
                <a:latin typeface="Arial"/>
                <a:ea typeface="Arial"/>
                <a:cs typeface="Arial"/>
              </a:defRPr>
            </a:lvl5pPr>
            <a:lvl6pPr>
              <a:defRPr sz="2400" b="1">
                <a:solidFill>
                  <a:srgbClr val="B34C3E"/>
                </a:solidFill>
                <a:latin typeface="Arial"/>
                <a:ea typeface="Arial"/>
                <a:cs typeface="Arial"/>
              </a:defRPr>
            </a:lvl6pPr>
            <a:lvl7pPr>
              <a:defRPr sz="2400" b="1">
                <a:solidFill>
                  <a:srgbClr val="B34C3E"/>
                </a:solidFill>
                <a:latin typeface="Arial"/>
                <a:ea typeface="Arial"/>
                <a:cs typeface="Arial"/>
              </a:defRPr>
            </a:lvl7pPr>
            <a:lvl8pPr>
              <a:defRPr sz="2400" b="1">
                <a:solidFill>
                  <a:srgbClr val="B34C3E"/>
                </a:solidFill>
                <a:latin typeface="Arial"/>
                <a:ea typeface="Arial"/>
                <a:cs typeface="Arial"/>
              </a:defRPr>
            </a:lvl8pPr>
            <a:lvl9pPr>
              <a:defRPr sz="2400" b="1">
                <a:solidFill>
                  <a:srgbClr val="B34C3E"/>
                </a:solidFill>
                <a:latin typeface="Arial"/>
                <a:ea typeface="Arial"/>
                <a:cs typeface="Arial"/>
              </a:defRPr>
            </a:lvl9pPr>
          </a:lstStyle>
          <a:p xmlns:a="http://schemas.openxmlformats.org/drawingml/2006/main">
            <a:pPr>
              <a:defRPr sz="2400" b="1">
                <a:solidFill>
                  <a:srgbClr val="B34C3E"/>
                </a:solidFill>
                <a:latin typeface="Arial"/>
                <a:ea typeface="Arial"/>
                <a:cs typeface="Arial"/>
              </a:defRPr>
            </a:pPr>
            <a:r>
              <a:rPr sz="2400" b="1">
                <a:solidFill>
                  <a:srgbClr val="B34C3E"/>
                </a:solidFill>
                <a:latin typeface="Arial"/>
                <a:ea typeface="Arial"/>
                <a:cs typeface="Arial"/>
              </a:rPr>
              <a:t>A placa identificou 17 dos 24 positivos. Perdeu 7.</a:t>
            </a:r>
          </a:p>
        </p:txBody>
      </p:sp>
    </p:spTree>
    <p:extLst>
      <p:ext uri="{BB962C8B-B14F-4D97-AF65-F5344CB8AC3E}">
        <p14:creationId xmlns:p14="http://schemas.microsoft.com/office/powerpoint/2010/main" val="760388513"/>
      </p:ext>
    </p:extLst>
  </p:cSld>
</p:sld>
</file>

<file path=ppt/slides/slide19.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A3762B6-C1D8-48C2-A215-561485452E21}"/>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FF6CFF8-8170-4B6E-B1FA-C6BE3D8F2F23}"/>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Como calculei F1 e Recall</a:t>
            </a:r>
          </a:p>
        </p:txBody>
      </p:sp>
      <p:sp>
        <p:nvSpPr>
          <p:cNvPr id="4" name="">
            <a:extLst xmlns:a="http://schemas.openxmlformats.org/drawingml/2006/main">
              <a:ext uri="{FF2B5EF4-FFF2-40B4-BE49-F238E27FC236}">
                <a16:creationId xmlns:a16="http://schemas.microsoft.com/office/drawing/2014/main" id="{5DB0651E-75FA-4A4E-88FF-3ABE95BF5318}"/>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D970C12A-1BCA-451F-8C3A-C5A055BCEF72}"/>
              </a:ext>
            </a:extLst>
          </p:cNvPr>
          <p:cNvSpPr>
            <a:spLocks xmlns:a="http://schemas.openxmlformats.org/drawingml/2006/main" noGrp="1"/>
          </p:cNvSpPr>
          <p:nvPr/>
        </p:nvSpPr>
        <p:spPr>
          <a:xfrm xmlns:a="http://schemas.openxmlformats.org/drawingml/2006/main">
            <a:off x="619125" y="20955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766B"/>
                </a:solidFill>
                <a:latin typeface="Arial"/>
                <a:ea typeface="Arial"/>
                <a:cs typeface="Arial"/>
              </a:defRPr>
            </a:defPPr>
            <a:lvl1pPr>
              <a:defRPr sz="2850" b="1">
                <a:solidFill>
                  <a:srgbClr val="14766B"/>
                </a:solidFill>
                <a:latin typeface="Arial"/>
                <a:ea typeface="Arial"/>
                <a:cs typeface="Arial"/>
              </a:defRPr>
            </a:lvl1pPr>
            <a:lvl2pPr>
              <a:defRPr sz="2850" b="1">
                <a:solidFill>
                  <a:srgbClr val="14766B"/>
                </a:solidFill>
                <a:latin typeface="Arial"/>
                <a:ea typeface="Arial"/>
                <a:cs typeface="Arial"/>
              </a:defRPr>
            </a:lvl2pPr>
            <a:lvl3pPr>
              <a:defRPr sz="2850" b="1">
                <a:solidFill>
                  <a:srgbClr val="14766B"/>
                </a:solidFill>
                <a:latin typeface="Arial"/>
                <a:ea typeface="Arial"/>
                <a:cs typeface="Arial"/>
              </a:defRPr>
            </a:lvl3pPr>
            <a:lvl4pPr>
              <a:defRPr sz="2850" b="1">
                <a:solidFill>
                  <a:srgbClr val="14766B"/>
                </a:solidFill>
                <a:latin typeface="Arial"/>
                <a:ea typeface="Arial"/>
                <a:cs typeface="Arial"/>
              </a:defRPr>
            </a:lvl4pPr>
            <a:lvl5pPr>
              <a:defRPr sz="2850" b="1">
                <a:solidFill>
                  <a:srgbClr val="14766B"/>
                </a:solidFill>
                <a:latin typeface="Arial"/>
                <a:ea typeface="Arial"/>
                <a:cs typeface="Arial"/>
              </a:defRPr>
            </a:lvl5pPr>
            <a:lvl6pPr>
              <a:defRPr sz="2850" b="1">
                <a:solidFill>
                  <a:srgbClr val="14766B"/>
                </a:solidFill>
                <a:latin typeface="Arial"/>
                <a:ea typeface="Arial"/>
                <a:cs typeface="Arial"/>
              </a:defRPr>
            </a:lvl6pPr>
            <a:lvl7pPr>
              <a:defRPr sz="2850" b="1">
                <a:solidFill>
                  <a:srgbClr val="14766B"/>
                </a:solidFill>
                <a:latin typeface="Arial"/>
                <a:ea typeface="Arial"/>
                <a:cs typeface="Arial"/>
              </a:defRPr>
            </a:lvl7pPr>
            <a:lvl8pPr>
              <a:defRPr sz="2850" b="1">
                <a:solidFill>
                  <a:srgbClr val="14766B"/>
                </a:solidFill>
                <a:latin typeface="Arial"/>
                <a:ea typeface="Arial"/>
                <a:cs typeface="Arial"/>
              </a:defRPr>
            </a:lvl8pPr>
            <a:lvl9pPr>
              <a:defRPr sz="2850" b="1">
                <a:solidFill>
                  <a:srgbClr val="14766B"/>
                </a:solidFill>
                <a:latin typeface="Arial"/>
                <a:ea typeface="Arial"/>
                <a:cs typeface="Arial"/>
              </a:defRPr>
            </a:lvl9pPr>
          </a:lstStyle>
          <a:p xmlns:a="http://schemas.openxmlformats.org/drawingml/2006/main">
            <a:pPr>
              <a:defRPr sz="2850" b="1">
                <a:solidFill>
                  <a:srgbClr val="14766B"/>
                </a:solidFill>
                <a:latin typeface="Arial"/>
                <a:ea typeface="Arial"/>
                <a:cs typeface="Arial"/>
              </a:defRPr>
            </a:pPr>
            <a:r>
              <a:rPr sz="2850" b="1">
                <a:solidFill>
                  <a:srgbClr val="14766B"/>
                </a:solidFill>
                <a:latin typeface="Arial"/>
                <a:ea typeface="Arial"/>
                <a:cs typeface="Arial"/>
              </a:rPr>
              <a:t>Recall = 17 / (17 + 7) = 70,8%</a:t>
            </a:r>
          </a:p>
        </p:txBody>
      </p:sp>
      <p:sp>
        <p:nvSpPr>
          <p:cNvPr id="6" name="">
            <a:extLst xmlns:a="http://schemas.openxmlformats.org/drawingml/2006/main">
              <a:ext uri="{FF2B5EF4-FFF2-40B4-BE49-F238E27FC236}">
                <a16:creationId xmlns:a16="http://schemas.microsoft.com/office/drawing/2014/main" id="{D57B69A6-D558-4B6B-8C86-CF021EE7F386}"/>
              </a:ext>
            </a:extLst>
          </p:cNvPr>
          <p:cNvSpPr>
            <a:spLocks xmlns:a="http://schemas.openxmlformats.org/drawingml/2006/main" noGrp="1"/>
          </p:cNvSpPr>
          <p:nvPr/>
        </p:nvSpPr>
        <p:spPr>
          <a:xfrm xmlns:a="http://schemas.openxmlformats.org/drawingml/2006/main">
            <a:off x="619125" y="328612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173D46"/>
                </a:solidFill>
                <a:latin typeface="Arial"/>
                <a:ea typeface="Arial"/>
                <a:cs typeface="Arial"/>
              </a:defRPr>
            </a:defPPr>
            <a:lvl1pPr>
              <a:defRPr sz="2625" b="0">
                <a:solidFill>
                  <a:srgbClr val="173D46"/>
                </a:solidFill>
                <a:latin typeface="Arial"/>
                <a:ea typeface="Arial"/>
                <a:cs typeface="Arial"/>
              </a:defRPr>
            </a:lvl1pPr>
            <a:lvl2pPr>
              <a:defRPr sz="2625" b="0">
                <a:solidFill>
                  <a:srgbClr val="173D46"/>
                </a:solidFill>
                <a:latin typeface="Arial"/>
                <a:ea typeface="Arial"/>
                <a:cs typeface="Arial"/>
              </a:defRPr>
            </a:lvl2pPr>
            <a:lvl3pPr>
              <a:defRPr sz="2625" b="0">
                <a:solidFill>
                  <a:srgbClr val="173D46"/>
                </a:solidFill>
                <a:latin typeface="Arial"/>
                <a:ea typeface="Arial"/>
                <a:cs typeface="Arial"/>
              </a:defRPr>
            </a:lvl3pPr>
            <a:lvl4pPr>
              <a:defRPr sz="2625" b="0">
                <a:solidFill>
                  <a:srgbClr val="173D46"/>
                </a:solidFill>
                <a:latin typeface="Arial"/>
                <a:ea typeface="Arial"/>
                <a:cs typeface="Arial"/>
              </a:defRPr>
            </a:lvl4pPr>
            <a:lvl5pPr>
              <a:defRPr sz="2625" b="0">
                <a:solidFill>
                  <a:srgbClr val="173D46"/>
                </a:solidFill>
                <a:latin typeface="Arial"/>
                <a:ea typeface="Arial"/>
                <a:cs typeface="Arial"/>
              </a:defRPr>
            </a:lvl5pPr>
            <a:lvl6pPr>
              <a:defRPr sz="2625" b="0">
                <a:solidFill>
                  <a:srgbClr val="173D46"/>
                </a:solidFill>
                <a:latin typeface="Arial"/>
                <a:ea typeface="Arial"/>
                <a:cs typeface="Arial"/>
              </a:defRPr>
            </a:lvl6pPr>
            <a:lvl7pPr>
              <a:defRPr sz="2625" b="0">
                <a:solidFill>
                  <a:srgbClr val="173D46"/>
                </a:solidFill>
                <a:latin typeface="Arial"/>
                <a:ea typeface="Arial"/>
                <a:cs typeface="Arial"/>
              </a:defRPr>
            </a:lvl7pPr>
            <a:lvl8pPr>
              <a:defRPr sz="2625" b="0">
                <a:solidFill>
                  <a:srgbClr val="173D46"/>
                </a:solidFill>
                <a:latin typeface="Arial"/>
                <a:ea typeface="Arial"/>
                <a:cs typeface="Arial"/>
              </a:defRPr>
            </a:lvl8pPr>
            <a:lvl9pPr>
              <a:defRPr sz="2625" b="0">
                <a:solidFill>
                  <a:srgbClr val="173D46"/>
                </a:solidFill>
                <a:latin typeface="Arial"/>
                <a:ea typeface="Arial"/>
                <a:cs typeface="Arial"/>
              </a:defRPr>
            </a:lvl9pPr>
          </a:lstStyle>
          <a:p xmlns:a="http://schemas.openxmlformats.org/drawingml/2006/main">
            <a:pPr>
              <a:defRPr sz="2625" b="0">
                <a:solidFill>
                  <a:srgbClr val="173D46"/>
                </a:solidFill>
                <a:latin typeface="Arial"/>
                <a:ea typeface="Arial"/>
                <a:cs typeface="Arial"/>
              </a:defRPr>
            </a:pPr>
            <a:r>
              <a:rPr sz="2625" b="0">
                <a:solidFill>
                  <a:srgbClr val="173D46"/>
                </a:solidFill>
                <a:latin typeface="Arial"/>
                <a:ea typeface="Arial"/>
                <a:cs typeface="Arial"/>
              </a:rPr>
              <a:t>F1 = 2 × 17 / (2 × 17 + 8 + 7) ≈ 0,694</a:t>
            </a:r>
          </a:p>
        </p:txBody>
      </p:sp>
      <p:sp>
        <p:nvSpPr>
          <p:cNvPr id="7" name="">
            <a:extLst xmlns:a="http://schemas.openxmlformats.org/drawingml/2006/main">
              <a:ext uri="{FF2B5EF4-FFF2-40B4-BE49-F238E27FC236}">
                <a16:creationId xmlns:a16="http://schemas.microsoft.com/office/drawing/2014/main" id="{1827AEDF-6118-4C73-B09B-17E0BDADEB3C}"/>
              </a:ext>
            </a:extLst>
          </p:cNvPr>
          <p:cNvSpPr>
            <a:spLocks xmlns:a="http://schemas.openxmlformats.org/drawingml/2006/main" noGrp="1"/>
          </p:cNvSpPr>
          <p:nvPr/>
        </p:nvSpPr>
        <p:spPr>
          <a:xfrm xmlns:a="http://schemas.openxmlformats.org/drawingml/2006/main">
            <a:off x="619125" y="45243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173D46"/>
                </a:solidFill>
                <a:latin typeface="Arial"/>
                <a:ea typeface="Arial"/>
                <a:cs typeface="Arial"/>
              </a:defRPr>
            </a:defPPr>
            <a:lvl1pPr>
              <a:defRPr sz="2625" b="0">
                <a:solidFill>
                  <a:srgbClr val="173D46"/>
                </a:solidFill>
                <a:latin typeface="Arial"/>
                <a:ea typeface="Arial"/>
                <a:cs typeface="Arial"/>
              </a:defRPr>
            </a:lvl1pPr>
            <a:lvl2pPr>
              <a:defRPr sz="2625" b="0">
                <a:solidFill>
                  <a:srgbClr val="173D46"/>
                </a:solidFill>
                <a:latin typeface="Arial"/>
                <a:ea typeface="Arial"/>
                <a:cs typeface="Arial"/>
              </a:defRPr>
            </a:lvl2pPr>
            <a:lvl3pPr>
              <a:defRPr sz="2625" b="0">
                <a:solidFill>
                  <a:srgbClr val="173D46"/>
                </a:solidFill>
                <a:latin typeface="Arial"/>
                <a:ea typeface="Arial"/>
                <a:cs typeface="Arial"/>
              </a:defRPr>
            </a:lvl3pPr>
            <a:lvl4pPr>
              <a:defRPr sz="2625" b="0">
                <a:solidFill>
                  <a:srgbClr val="173D46"/>
                </a:solidFill>
                <a:latin typeface="Arial"/>
                <a:ea typeface="Arial"/>
                <a:cs typeface="Arial"/>
              </a:defRPr>
            </a:lvl4pPr>
            <a:lvl5pPr>
              <a:defRPr sz="2625" b="0">
                <a:solidFill>
                  <a:srgbClr val="173D46"/>
                </a:solidFill>
                <a:latin typeface="Arial"/>
                <a:ea typeface="Arial"/>
                <a:cs typeface="Arial"/>
              </a:defRPr>
            </a:lvl5pPr>
            <a:lvl6pPr>
              <a:defRPr sz="2625" b="0">
                <a:solidFill>
                  <a:srgbClr val="173D46"/>
                </a:solidFill>
                <a:latin typeface="Arial"/>
                <a:ea typeface="Arial"/>
                <a:cs typeface="Arial"/>
              </a:defRPr>
            </a:lvl6pPr>
            <a:lvl7pPr>
              <a:defRPr sz="2625" b="0">
                <a:solidFill>
                  <a:srgbClr val="173D46"/>
                </a:solidFill>
                <a:latin typeface="Arial"/>
                <a:ea typeface="Arial"/>
                <a:cs typeface="Arial"/>
              </a:defRPr>
            </a:lvl7pPr>
            <a:lvl8pPr>
              <a:defRPr sz="2625" b="0">
                <a:solidFill>
                  <a:srgbClr val="173D46"/>
                </a:solidFill>
                <a:latin typeface="Arial"/>
                <a:ea typeface="Arial"/>
                <a:cs typeface="Arial"/>
              </a:defRPr>
            </a:lvl8pPr>
            <a:lvl9pPr>
              <a:defRPr sz="2625" b="0">
                <a:solidFill>
                  <a:srgbClr val="173D46"/>
                </a:solidFill>
                <a:latin typeface="Arial"/>
                <a:ea typeface="Arial"/>
                <a:cs typeface="Arial"/>
              </a:defRPr>
            </a:lvl9pPr>
          </a:lstStyle>
          <a:p xmlns:a="http://schemas.openxmlformats.org/drawingml/2006/main">
            <a:pPr>
              <a:defRPr sz="2625" b="0">
                <a:solidFill>
                  <a:srgbClr val="173D46"/>
                </a:solidFill>
                <a:latin typeface="Arial"/>
                <a:ea typeface="Arial"/>
                <a:cs typeface="Arial"/>
              </a:defRPr>
            </a:pPr>
            <a:r>
              <a:rPr sz="2625" b="0">
                <a:solidFill>
                  <a:srgbClr val="173D46"/>
                </a:solidFill>
                <a:latin typeface="Arial"/>
                <a:ea typeface="Arial"/>
                <a:cs typeface="Arial"/>
              </a:rPr>
              <a:t>Accuracy = (17 + 90) / 122 = 87,7%</a:t>
            </a:r>
          </a:p>
        </p:txBody>
      </p:sp>
      <p:sp>
        <p:nvSpPr>
          <p:cNvPr id="8" name="">
            <a:extLst xmlns:a="http://schemas.openxmlformats.org/drawingml/2006/main">
              <a:ext uri="{FF2B5EF4-FFF2-40B4-BE49-F238E27FC236}">
                <a16:creationId xmlns:a16="http://schemas.microsoft.com/office/drawing/2014/main" id="{6FB9740F-374C-4BE8-8AF2-827BE0473289}"/>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Always Absent teria Accuracy de 80,3%, mas Recall zero</a:t>
            </a:r>
          </a:p>
        </p:txBody>
      </p:sp>
    </p:spTree>
    <p:extLst>
      <p:ext uri="{BB962C8B-B14F-4D97-AF65-F5344CB8AC3E}">
        <p14:creationId xmlns:p14="http://schemas.microsoft.com/office/powerpoint/2010/main" val="120039198"/>
      </p:ext>
    </p:extLst>
  </p:cSld>
</p:sld>
</file>

<file path=ppt/slides/slide20.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D1FB193-F013-4067-815E-BD0EB468FE14}"/>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B8E32C4-2D4B-4920-9995-8B8B96AB81D0}"/>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A mesma resposta pode ser um bom sinal</a:t>
            </a:r>
          </a:p>
        </p:txBody>
      </p:sp>
      <p:sp>
        <p:nvSpPr>
          <p:cNvPr id="4" name="">
            <a:extLst xmlns:a="http://schemas.openxmlformats.org/drawingml/2006/main">
              <a:ext uri="{FF2B5EF4-FFF2-40B4-BE49-F238E27FC236}">
                <a16:creationId xmlns:a16="http://schemas.microsoft.com/office/drawing/2014/main" id="{2BB9EB46-8192-4A01-8AA5-BE56BA669147}"/>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20</a:t>
            </a:r>
          </a:p>
        </p:txBody>
      </p:sp>
      <p:graphicFrame>
        <p:nvGraphicFramePr>
          <p:cNvPr id="5" name="Chart">
            <a:extLst xmlns:a="http://schemas.openxmlformats.org/drawingml/2006/main">
              <a:ext uri="{FF2B5EF4-FFF2-40B4-BE49-F238E27FC236}">
                <a16:creationId xmlns:a16="http://schemas.microsoft.com/office/drawing/2014/main" id="{0DF2484B-2260-48F3-9094-57092F0F7BC4}"/>
              </a:ext>
            </a:extLst>
          </p:cNvPr>
          <p:cNvGraphicFramePr/>
          <p:nvPr/>
        </p:nvGraphicFramePr>
        <p:xfrm>
          <a:off xmlns:a="http://schemas.openxmlformats.org/drawingml/2006/main" x="619125" y="2000250"/>
          <a:ext xmlns:a="http://schemas.openxmlformats.org/drawingml/2006/main" cx="10953750" cy="3333750"/>
        </p:xfrm>
        <a:graphic xmlns:a="http://schemas.openxmlformats.org/drawingml/2006/main">
          <a:graphicData uri="http://schemas.openxmlformats.org/drawingml/2006/chart">
            <c:chart xmlns:r="http://schemas.openxmlformats.org/officeDocument/2006/relationships" xmlns:c="http://schemas.openxmlformats.org/drawingml/2006/chart" r:id="Rcbb2ca1a36f743f4"/>
          </a:graphicData>
        </a:graphic>
      </p:graphicFrame>
      <p:sp>
        <p:nvSpPr>
          <p:cNvPr id="6" name="">
            <a:extLst xmlns:a="http://schemas.openxmlformats.org/drawingml/2006/main">
              <a:ext uri="{FF2B5EF4-FFF2-40B4-BE49-F238E27FC236}">
                <a16:creationId xmlns:a16="http://schemas.microsoft.com/office/drawing/2014/main" id="{EEADCF12-92DC-42F3-AFAC-B2BE3B486EB4}"/>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Mesmas decisões por grupo não significam processamento bit a bit idêntico</a:t>
            </a:r>
          </a:p>
        </p:txBody>
      </p:sp>
    </p:spTree>
    <p:extLst>
      <p:ext uri="{BB962C8B-B14F-4D97-AF65-F5344CB8AC3E}">
        <p14:creationId xmlns:p14="http://schemas.microsoft.com/office/powerpoint/2010/main" val="172754752"/>
      </p:ext>
    </p:extLst>
  </p:cSld>
</p:sld>
</file>

<file path=ppt/slides/slide21.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9FBAD7A-74B7-4FAA-9B76-DDC869856AAA}"/>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D56E85-5EFE-4798-BAEA-9AFB618DD837}"/>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O tempo é outra parte da resposta</a:t>
            </a:r>
          </a:p>
        </p:txBody>
      </p:sp>
      <p:sp>
        <p:nvSpPr>
          <p:cNvPr id="4" name="">
            <a:extLst xmlns:a="http://schemas.openxmlformats.org/drawingml/2006/main">
              <a:ext uri="{FF2B5EF4-FFF2-40B4-BE49-F238E27FC236}">
                <a16:creationId xmlns:a16="http://schemas.microsoft.com/office/drawing/2014/main" id="{D68B4784-22D6-4DED-B8AF-F9A9D44C52A4}"/>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21</a:t>
            </a:r>
          </a:p>
        </p:txBody>
      </p:sp>
      <p:graphicFrame>
        <p:nvGraphicFramePr>
          <p:cNvPr id="5" name="">
            <a:extLst xmlns:a="http://schemas.openxmlformats.org/drawingml/2006/main">
              <a:ext uri="{FF2B5EF4-FFF2-40B4-BE49-F238E27FC236}">
                <a16:creationId xmlns:a16="http://schemas.microsoft.com/office/drawing/2014/main" id="{C0813E4C-1CD7-47B7-A28C-ADC742DCBCE1}"/>
              </a:ext>
            </a:extLst>
          </p:cNvPr>
          <p:cNvGraphicFramePr/>
          <p:nvPr/>
        </p:nvGraphicFramePr>
        <p:xfrm>
          <a:off xmlns:a="http://schemas.openxmlformats.org/drawingml/2006/main" x="619125" y="2095500"/>
          <a:ext xmlns:a="http://schemas.openxmlformats.org/drawingml/2006/main" cx="10953750" cy="2857500"/>
        </p:xfrm>
        <a:graphic xmlns:a="http://schemas.openxmlformats.org/drawingml/2006/main">
          <a:graphicData uri="http://schemas.openxmlformats.org/drawingml/2006/table">
            <a:tbl>
              <a:tblPr/>
              <a:tblGrid>
                <a:gridCol w="4953000"/>
                <a:gridCol w="3000375"/>
                <a:gridCol w="3000375"/>
              </a:tblGrid>
              <a:tr h="714375">
                <a:tc>
                  <a:txBody>
                    <a:bodyPr/>
                    <a:lstStyle/>
                    <a:p>
                      <a:r>
                        <a:rPr sz="1725" b="1">
                          <a:solidFill>
                            <a:srgbClr val="FFFFFF"/>
                          </a:solidFill>
                          <a:latin typeface="Arial"/>
                          <a:ea typeface="Arial"/>
                          <a:cs typeface="Arial"/>
                        </a:rPr>
                        <a:t>Etapa</a:t>
                      </a:r>
                    </a:p>
                  </a:txBody>
                  <a:tcPr marL="123825" marR="95250" marT="104775" marB="104775">
                    <a:lnL w="9525">
                      <a:solidFill>
                        <a:srgbClr val="CEDBD5"/>
                      </a:solidFill>
                    </a:lnL>
                    <a:lnR w="9525">
                      <a:solidFill>
                        <a:srgbClr val="CEDBD5"/>
                      </a:solidFill>
                    </a:lnR>
                    <a:lnT w="9525">
                      <a:solidFill>
                        <a:srgbClr val="CEDBD5"/>
                      </a:solidFill>
                    </a:lnT>
                    <a:lnB w="9525">
                      <a:solidFill>
                        <a:srgbClr val="CEDBD5"/>
                      </a:solidFill>
                    </a:lnB>
                    <a:solidFill>
                      <a:srgbClr val="173D46"/>
                    </a:solidFill>
                  </a:tcPr>
                </a:tc>
                <a:tc>
                  <a:txBody>
                    <a:bodyPr/>
                    <a:lstStyle/>
                    <a:p>
                      <a:r>
                        <a:rPr sz="1725" b="1">
                          <a:solidFill>
                            <a:srgbClr val="FFFFFF"/>
                          </a:solidFill>
                          <a:latin typeface="Arial"/>
                          <a:ea typeface="Arial"/>
                          <a:cs typeface="Arial"/>
                        </a:rPr>
                        <a:t>PC CPU (ms)</a:t>
                      </a:r>
                    </a:p>
                  </a:txBody>
                  <a:tcPr marL="123825" marR="95250" marT="104775" marB="104775">
                    <a:lnR w="9525">
                      <a:solidFill>
                        <a:srgbClr val="CEDBD5"/>
                      </a:solidFill>
                    </a:lnR>
                    <a:lnT w="9525">
                      <a:solidFill>
                        <a:srgbClr val="CEDBD5"/>
                      </a:solidFill>
                    </a:lnT>
                    <a:lnB w="9525">
                      <a:solidFill>
                        <a:srgbClr val="CEDBD5"/>
                      </a:solidFill>
                    </a:lnB>
                    <a:solidFill>
                      <a:srgbClr val="173D46"/>
                    </a:solidFill>
                  </a:tcPr>
                </a:tc>
                <a:tc>
                  <a:txBody>
                    <a:bodyPr/>
                    <a:lstStyle/>
                    <a:p>
                      <a:r>
                        <a:rPr sz="1725" b="1">
                          <a:solidFill>
                            <a:srgbClr val="FFFFFF"/>
                          </a:solidFill>
                          <a:latin typeface="Arial"/>
                          <a:ea typeface="Arial"/>
                          <a:cs typeface="Arial"/>
                        </a:rPr>
                        <a:t>RP2040 (ms)</a:t>
                      </a:r>
                    </a:p>
                  </a:txBody>
                  <a:tcPr marL="123825" marR="95250" marT="104775" marB="104775">
                    <a:lnR w="9525">
                      <a:solidFill>
                        <a:srgbClr val="CEDBD5"/>
                      </a:solidFill>
                    </a:lnR>
                    <a:lnT w="9525">
                      <a:solidFill>
                        <a:srgbClr val="CEDBD5"/>
                      </a:solidFill>
                    </a:lnT>
                    <a:lnB w="9525">
                      <a:solidFill>
                        <a:srgbClr val="CEDBD5"/>
                      </a:solidFill>
                    </a:lnB>
                    <a:solidFill>
                      <a:srgbClr val="173D46"/>
                    </a:solidFill>
                  </a:tcPr>
                </a:tc>
              </a:tr>
              <a:tr h="714375">
                <a:tc>
                  <a:txBody>
                    <a:bodyPr/>
                    <a:lstStyle/>
                    <a:p>
                      <a:r>
                        <a:rPr sz="1800">
                          <a:solidFill>
                            <a:srgbClr val="173D46"/>
                          </a:solidFill>
                          <a:latin typeface="Arial"/>
                          <a:ea typeface="Arial"/>
                          <a:cs typeface="Arial"/>
                        </a:rPr>
                        <a:t>MFE + normalization</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0,237</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1.006,545</a:t>
                      </a:r>
                    </a:p>
                  </a:txBody>
                  <a:tcPr marL="123825" marR="95250" marT="104775" marB="104775">
                    <a:lnR w="9525">
                      <a:solidFill>
                        <a:srgbClr val="CEDBD5"/>
                      </a:solidFill>
                    </a:lnR>
                    <a:lnB w="9525">
                      <a:solidFill>
                        <a:srgbClr val="CEDBD5"/>
                      </a:solidFill>
                    </a:lnB>
                    <a:solidFill>
                      <a:srgbClr val="FFFFFF"/>
                    </a:solidFill>
                  </a:tcPr>
                </a:tc>
              </a:tr>
              <a:tr h="714375">
                <a:tc>
                  <a:txBody>
                    <a:bodyPr/>
                    <a:lstStyle/>
                    <a:p>
                      <a:r>
                        <a:rPr sz="1800">
                          <a:solidFill>
                            <a:srgbClr val="173D46"/>
                          </a:solidFill>
                          <a:latin typeface="Arial"/>
                          <a:ea typeface="Arial"/>
                          <a:cs typeface="Arial"/>
                        </a:rPr>
                        <a:t>Inference</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2,425</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311,868</a:t>
                      </a:r>
                    </a:p>
                  </a:txBody>
                  <a:tcPr marL="123825" marR="95250" marT="104775" marB="104775">
                    <a:lnR w="9525">
                      <a:solidFill>
                        <a:srgbClr val="CEDBD5"/>
                      </a:solidFill>
                    </a:lnR>
                    <a:lnB w="9525">
                      <a:solidFill>
                        <a:srgbClr val="CEDBD5"/>
                      </a:solidFill>
                    </a:lnB>
                    <a:solidFill>
                      <a:srgbClr val="FFFFFF"/>
                    </a:solidFill>
                  </a:tcPr>
                </a:tc>
              </a:tr>
              <a:tr h="714375">
                <a:tc>
                  <a:txBody>
                    <a:bodyPr/>
                    <a:lstStyle/>
                    <a:p>
                      <a:r>
                        <a:rPr sz="1800">
                          <a:solidFill>
                            <a:srgbClr val="173D46"/>
                          </a:solidFill>
                          <a:latin typeface="Arial"/>
                          <a:ea typeface="Arial"/>
                          <a:cs typeface="Arial"/>
                        </a:rPr>
                        <a:t>Combinado</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2,687</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1.318,421</a:t>
                      </a:r>
                    </a:p>
                  </a:txBody>
                  <a:tcPr marL="123825" marR="95250" marT="104775" marB="104775">
                    <a:lnR w="9525">
                      <a:solidFill>
                        <a:srgbClr val="CEDBD5"/>
                      </a:solidFill>
                    </a:lnR>
                    <a:lnB w="9525">
                      <a:solidFill>
                        <a:srgbClr val="CEDBD5"/>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EDBCD39-5BA3-44C3-AB93-739738580AD8}"/>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Histórico: mesmas 100 validation windows • CPU de uma thread • medianas</a:t>
            </a:r>
          </a:p>
        </p:txBody>
      </p:sp>
    </p:spTree>
    <p:extLst>
      <p:ext uri="{BB962C8B-B14F-4D97-AF65-F5344CB8AC3E}">
        <p14:creationId xmlns:p14="http://schemas.microsoft.com/office/powerpoint/2010/main" val="499218209"/>
      </p:ext>
    </p:extLst>
  </p:cSld>
</p:sld>
</file>

<file path=ppt/slides/slide22.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F47A5C3-0AA4-45B3-994A-74B152FEF21A}"/>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8227A0F-C596-4EDD-A5A8-2196B871E0C7}"/>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O novo benchmark mostrou diferenças</a:t>
            </a:r>
          </a:p>
        </p:txBody>
      </p:sp>
      <p:sp>
        <p:nvSpPr>
          <p:cNvPr id="4" name="">
            <a:extLst xmlns:a="http://schemas.openxmlformats.org/drawingml/2006/main">
              <a:ext uri="{FF2B5EF4-FFF2-40B4-BE49-F238E27FC236}">
                <a16:creationId xmlns:a16="http://schemas.microsoft.com/office/drawing/2014/main" id="{88B3853A-1C78-4803-9C63-ABCD3CD7CE1C}"/>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22</a:t>
            </a:r>
          </a:p>
        </p:txBody>
      </p:sp>
      <p:graphicFrame>
        <p:nvGraphicFramePr>
          <p:cNvPr id="5" name="">
            <a:extLst xmlns:a="http://schemas.openxmlformats.org/drawingml/2006/main">
              <a:ext uri="{FF2B5EF4-FFF2-40B4-BE49-F238E27FC236}">
                <a16:creationId xmlns:a16="http://schemas.microsoft.com/office/drawing/2014/main" id="{D49FD098-E1DE-47A5-AE17-35E308E72EBE}"/>
              </a:ext>
            </a:extLst>
          </p:cNvPr>
          <p:cNvGraphicFramePr/>
          <p:nvPr/>
        </p:nvGraphicFramePr>
        <p:xfrm>
          <a:off xmlns:a="http://schemas.openxmlformats.org/drawingml/2006/main" x="619125" y="1952625"/>
          <a:ext xmlns:a="http://schemas.openxmlformats.org/drawingml/2006/main" cx="10953750" cy="3524250"/>
        </p:xfrm>
        <a:graphic xmlns:a="http://schemas.openxmlformats.org/drawingml/2006/main">
          <a:graphicData uri="http://schemas.openxmlformats.org/drawingml/2006/table">
            <a:tbl>
              <a:tblPr/>
              <a:tblGrid>
                <a:gridCol w="5905500"/>
                <a:gridCol w="2476500"/>
                <a:gridCol w="2571750"/>
              </a:tblGrid>
              <a:tr h="587375">
                <a:tc>
                  <a:txBody>
                    <a:bodyPr/>
                    <a:lstStyle/>
                    <a:p>
                      <a:r>
                        <a:rPr sz="1725" b="1">
                          <a:solidFill>
                            <a:srgbClr val="FFFFFF"/>
                          </a:solidFill>
                          <a:latin typeface="Arial"/>
                          <a:ea typeface="Arial"/>
                          <a:cs typeface="Arial"/>
                        </a:rPr>
                        <a:t>Execução</a:t>
                      </a:r>
                    </a:p>
                  </a:txBody>
                  <a:tcPr marL="123825" marR="95250" marT="104775" marB="104775">
                    <a:lnL w="9525">
                      <a:solidFill>
                        <a:srgbClr val="CEDBD5"/>
                      </a:solidFill>
                    </a:lnL>
                    <a:lnR w="9525">
                      <a:solidFill>
                        <a:srgbClr val="CEDBD5"/>
                      </a:solidFill>
                    </a:lnR>
                    <a:lnT w="9525">
                      <a:solidFill>
                        <a:srgbClr val="CEDBD5"/>
                      </a:solidFill>
                    </a:lnT>
                    <a:lnB w="9525">
                      <a:solidFill>
                        <a:srgbClr val="CEDBD5"/>
                      </a:solidFill>
                    </a:lnB>
                    <a:solidFill>
                      <a:srgbClr val="173D46"/>
                    </a:solidFill>
                  </a:tcPr>
                </a:tc>
                <a:tc>
                  <a:txBody>
                    <a:bodyPr/>
                    <a:lstStyle/>
                    <a:p>
                      <a:r>
                        <a:rPr sz="1725" b="1">
                          <a:solidFill>
                            <a:srgbClr val="FFFFFF"/>
                          </a:solidFill>
                          <a:latin typeface="Arial"/>
                          <a:ea typeface="Arial"/>
                          <a:cs typeface="Arial"/>
                        </a:rPr>
                        <a:t>Inference (ms)</a:t>
                      </a:r>
                    </a:p>
                  </a:txBody>
                  <a:tcPr marL="123825" marR="95250" marT="104775" marB="104775">
                    <a:lnR w="9525">
                      <a:solidFill>
                        <a:srgbClr val="CEDBD5"/>
                      </a:solidFill>
                    </a:lnR>
                    <a:lnT w="9525">
                      <a:solidFill>
                        <a:srgbClr val="CEDBD5"/>
                      </a:solidFill>
                    </a:lnT>
                    <a:lnB w="9525">
                      <a:solidFill>
                        <a:srgbClr val="CEDBD5"/>
                      </a:solidFill>
                    </a:lnB>
                    <a:solidFill>
                      <a:srgbClr val="173D46"/>
                    </a:solidFill>
                  </a:tcPr>
                </a:tc>
                <a:tc>
                  <a:txBody>
                    <a:bodyPr/>
                    <a:lstStyle/>
                    <a:p>
                      <a:r>
                        <a:rPr sz="1725" b="1">
                          <a:solidFill>
                            <a:srgbClr val="FFFFFF"/>
                          </a:solidFill>
                          <a:latin typeface="Arial"/>
                          <a:ea typeface="Arial"/>
                          <a:cs typeface="Arial"/>
                        </a:rPr>
                        <a:t>MFE + net (ms)</a:t>
                      </a:r>
                    </a:p>
                  </a:txBody>
                  <a:tcPr marL="123825" marR="95250" marT="104775" marB="104775">
                    <a:lnR w="9525">
                      <a:solidFill>
                        <a:srgbClr val="CEDBD5"/>
                      </a:solidFill>
                    </a:lnR>
                    <a:lnT w="9525">
                      <a:solidFill>
                        <a:srgbClr val="CEDBD5"/>
                      </a:solidFill>
                    </a:lnT>
                    <a:lnB w="9525">
                      <a:solidFill>
                        <a:srgbClr val="CEDBD5"/>
                      </a:solidFill>
                    </a:lnB>
                    <a:solidFill>
                      <a:srgbClr val="173D46"/>
                    </a:solidFill>
                  </a:tcPr>
                </a:tc>
              </a:tr>
              <a:tr h="587375">
                <a:tc>
                  <a:txBody>
                    <a:bodyPr/>
                    <a:lstStyle/>
                    <a:p>
                      <a:r>
                        <a:rPr sz="1800">
                          <a:solidFill>
                            <a:srgbClr val="173D46"/>
                          </a:solidFill>
                          <a:latin typeface="Arial"/>
                          <a:ea typeface="Arial"/>
                          <a:cs typeface="Arial"/>
                        </a:rPr>
                        <a:t>CPU Float32 / TensorFlow</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0,661</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0,836</a:t>
                      </a:r>
                    </a:p>
                  </a:txBody>
                  <a:tcPr marL="123825" marR="95250" marT="104775" marB="104775">
                    <a:lnR w="9525">
                      <a:solidFill>
                        <a:srgbClr val="CEDBD5"/>
                      </a:solidFill>
                    </a:lnR>
                    <a:lnB w="9525">
                      <a:solidFill>
                        <a:srgbClr val="CEDBD5"/>
                      </a:solidFill>
                    </a:lnB>
                    <a:solidFill>
                      <a:srgbClr val="FFFFFF"/>
                    </a:solidFill>
                  </a:tcPr>
                </a:tc>
              </a:tr>
              <a:tr h="587375">
                <a:tc>
                  <a:txBody>
                    <a:bodyPr/>
                    <a:lstStyle/>
                    <a:p>
                      <a:r>
                        <a:rPr sz="1800">
                          <a:solidFill>
                            <a:srgbClr val="173D46"/>
                          </a:solidFill>
                          <a:latin typeface="Arial"/>
                          <a:ea typeface="Arial"/>
                          <a:cs typeface="Arial"/>
                        </a:rPr>
                        <a:t>RTX Float32 / TensorFlow</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0,768</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0,956</a:t>
                      </a:r>
                    </a:p>
                  </a:txBody>
                  <a:tcPr marL="123825" marR="95250" marT="104775" marB="104775">
                    <a:lnR w="9525">
                      <a:solidFill>
                        <a:srgbClr val="CEDBD5"/>
                      </a:solidFill>
                    </a:lnR>
                    <a:lnB w="9525">
                      <a:solidFill>
                        <a:srgbClr val="CEDBD5"/>
                      </a:solidFill>
                    </a:lnB>
                    <a:solidFill>
                      <a:srgbClr val="FFFFFF"/>
                    </a:solidFill>
                  </a:tcPr>
                </a:tc>
              </a:tr>
              <a:tr h="587375">
                <a:tc>
                  <a:txBody>
                    <a:bodyPr/>
                    <a:lstStyle/>
                    <a:p>
                      <a:r>
                        <a:rPr sz="1800">
                          <a:solidFill>
                            <a:srgbClr val="173D46"/>
                          </a:solidFill>
                          <a:latin typeface="Arial"/>
                          <a:ea typeface="Arial"/>
                          <a:cs typeface="Arial"/>
                        </a:rPr>
                        <a:t>CPU Float32 / reference</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1,347</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1,509</a:t>
                      </a:r>
                    </a:p>
                  </a:txBody>
                  <a:tcPr marL="123825" marR="95250" marT="104775" marB="104775">
                    <a:lnR w="9525">
                      <a:solidFill>
                        <a:srgbClr val="CEDBD5"/>
                      </a:solidFill>
                    </a:lnR>
                    <a:lnB w="9525">
                      <a:solidFill>
                        <a:srgbClr val="CEDBD5"/>
                      </a:solidFill>
                    </a:lnB>
                    <a:solidFill>
                      <a:srgbClr val="FFFFFF"/>
                    </a:solidFill>
                  </a:tcPr>
                </a:tc>
              </a:tr>
              <a:tr h="587375">
                <a:tc>
                  <a:txBody>
                    <a:bodyPr/>
                    <a:lstStyle/>
                    <a:p>
                      <a:r>
                        <a:rPr sz="1800">
                          <a:solidFill>
                            <a:srgbClr val="173D46"/>
                          </a:solidFill>
                          <a:latin typeface="Arial"/>
                          <a:ea typeface="Arial"/>
                          <a:cs typeface="Arial"/>
                        </a:rPr>
                        <a:t>CPU INT8 / reference</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1,932</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2,113</a:t>
                      </a:r>
                    </a:p>
                  </a:txBody>
                  <a:tcPr marL="123825" marR="95250" marT="104775" marB="104775">
                    <a:lnR w="9525">
                      <a:solidFill>
                        <a:srgbClr val="CEDBD5"/>
                      </a:solidFill>
                    </a:lnR>
                    <a:lnB w="9525">
                      <a:solidFill>
                        <a:srgbClr val="CEDBD5"/>
                      </a:solidFill>
                    </a:lnB>
                    <a:solidFill>
                      <a:srgbClr val="FFFFFF"/>
                    </a:solidFill>
                  </a:tcPr>
                </a:tc>
              </a:tr>
              <a:tr h="587375">
                <a:tc>
                  <a:txBody>
                    <a:bodyPr/>
                    <a:lstStyle/>
                    <a:p>
                      <a:r>
                        <a:rPr sz="1800">
                          <a:solidFill>
                            <a:srgbClr val="173D46"/>
                          </a:solidFill>
                          <a:latin typeface="Arial"/>
                          <a:ea typeface="Arial"/>
                          <a:cs typeface="Arial"/>
                        </a:rPr>
                        <a:t>RP2040 INT8 / demo V3</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312,077</a:t>
                      </a:r>
                    </a:p>
                  </a:txBody>
                  <a:tcPr marL="123825" marR="95250" marT="104775" marB="104775">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1.322,608</a:t>
                      </a:r>
                    </a:p>
                  </a:txBody>
                  <a:tcPr marL="123825" marR="95250" marT="104775" marB="104775">
                    <a:lnR w="9525">
                      <a:solidFill>
                        <a:srgbClr val="CEDBD5"/>
                      </a:solidFill>
                    </a:lnR>
                    <a:lnB w="9525">
                      <a:solidFill>
                        <a:srgbClr val="CEDBD5"/>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72FE52E-C93B-41FE-BE58-3EE88E513A3F}"/>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Novo: 100 validation windows × 3 • batch size 1 • medianas de uma sessão</a:t>
            </a:r>
          </a:p>
        </p:txBody>
      </p:sp>
    </p:spTree>
    <p:extLst>
      <p:ext uri="{BB962C8B-B14F-4D97-AF65-F5344CB8AC3E}">
        <p14:creationId xmlns:p14="http://schemas.microsoft.com/office/powerpoint/2010/main" val="787751538"/>
      </p:ext>
    </p:extLst>
  </p:cSld>
</p:sld>
</file>

<file path=ppt/slides/slide23.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89FF68A-9FB7-414B-B3FD-789F296B1A1A}"/>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26C4702-7B48-415A-BB7C-01DD2F62CB1E}"/>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Nesta CNN, a RTX não reduziu a latência</a:t>
            </a:r>
          </a:p>
        </p:txBody>
      </p:sp>
      <p:sp>
        <p:nvSpPr>
          <p:cNvPr id="4" name="">
            <a:extLst xmlns:a="http://schemas.openxmlformats.org/drawingml/2006/main">
              <a:ext uri="{FF2B5EF4-FFF2-40B4-BE49-F238E27FC236}">
                <a16:creationId xmlns:a16="http://schemas.microsoft.com/office/drawing/2014/main" id="{2F18FB94-81CF-45B4-BF5B-0CB7CFDF3EAB}"/>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23</a:t>
            </a:r>
          </a:p>
        </p:txBody>
      </p:sp>
      <p:graphicFrame>
        <p:nvGraphicFramePr>
          <p:cNvPr id="5" name="Chart">
            <a:extLst xmlns:a="http://schemas.openxmlformats.org/drawingml/2006/main">
              <a:ext uri="{FF2B5EF4-FFF2-40B4-BE49-F238E27FC236}">
                <a16:creationId xmlns:a16="http://schemas.microsoft.com/office/drawing/2014/main" id="{779D46A8-359B-4B69-9EB3-D2D2CBC64E19}"/>
              </a:ext>
            </a:extLst>
          </p:cNvPr>
          <p:cNvGraphicFramePr/>
          <p:nvPr/>
        </p:nvGraphicFramePr>
        <p:xfrm>
          <a:off xmlns:a="http://schemas.openxmlformats.org/drawingml/2006/main" x="619125" y="2000250"/>
          <a:ext xmlns:a="http://schemas.openxmlformats.org/drawingml/2006/main" cx="7143750" cy="3381375"/>
        </p:xfrm>
        <a:graphic xmlns:a="http://schemas.openxmlformats.org/drawingml/2006/main">
          <a:graphicData uri="http://schemas.openxmlformats.org/drawingml/2006/chart">
            <c:chart xmlns:r="http://schemas.openxmlformats.org/officeDocument/2006/relationships" xmlns:c="http://schemas.openxmlformats.org/drawingml/2006/chart" r:id="R1bbc324d53c64849"/>
          </a:graphicData>
        </a:graphic>
      </p:graphicFrame>
      <p:sp>
        <p:nvSpPr>
          <p:cNvPr id="6" name="">
            <a:extLst xmlns:a="http://schemas.openxmlformats.org/drawingml/2006/main">
              <a:ext uri="{FF2B5EF4-FFF2-40B4-BE49-F238E27FC236}">
                <a16:creationId xmlns:a16="http://schemas.microsoft.com/office/drawing/2014/main" id="{AA90B028-D007-40F2-9BAA-E46F12E9B48D}"/>
              </a:ext>
            </a:extLst>
          </p:cNvPr>
          <p:cNvSpPr>
            <a:spLocks xmlns:a="http://schemas.openxmlformats.org/drawingml/2006/main" noGrp="1"/>
          </p:cNvSpPr>
          <p:nvPr/>
        </p:nvSpPr>
        <p:spPr>
          <a:xfrm xmlns:a="http://schemas.openxmlformats.org/drawingml/2006/main">
            <a:off x="8096250" y="228600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4766B"/>
                </a:solidFill>
                <a:latin typeface="Arial"/>
                <a:ea typeface="Arial"/>
                <a:cs typeface="Arial"/>
              </a:defRPr>
            </a:defPPr>
            <a:lvl1pPr>
              <a:defRPr sz="2475" b="1">
                <a:solidFill>
                  <a:srgbClr val="14766B"/>
                </a:solidFill>
                <a:latin typeface="Arial"/>
                <a:ea typeface="Arial"/>
                <a:cs typeface="Arial"/>
              </a:defRPr>
            </a:lvl1pPr>
            <a:lvl2pPr>
              <a:defRPr sz="2475" b="1">
                <a:solidFill>
                  <a:srgbClr val="14766B"/>
                </a:solidFill>
                <a:latin typeface="Arial"/>
                <a:ea typeface="Arial"/>
                <a:cs typeface="Arial"/>
              </a:defRPr>
            </a:lvl2pPr>
            <a:lvl3pPr>
              <a:defRPr sz="2475" b="1">
                <a:solidFill>
                  <a:srgbClr val="14766B"/>
                </a:solidFill>
                <a:latin typeface="Arial"/>
                <a:ea typeface="Arial"/>
                <a:cs typeface="Arial"/>
              </a:defRPr>
            </a:lvl3pPr>
            <a:lvl4pPr>
              <a:defRPr sz="2475" b="1">
                <a:solidFill>
                  <a:srgbClr val="14766B"/>
                </a:solidFill>
                <a:latin typeface="Arial"/>
                <a:ea typeface="Arial"/>
                <a:cs typeface="Arial"/>
              </a:defRPr>
            </a:lvl4pPr>
            <a:lvl5pPr>
              <a:defRPr sz="2475" b="1">
                <a:solidFill>
                  <a:srgbClr val="14766B"/>
                </a:solidFill>
                <a:latin typeface="Arial"/>
                <a:ea typeface="Arial"/>
                <a:cs typeface="Arial"/>
              </a:defRPr>
            </a:lvl5pPr>
            <a:lvl6pPr>
              <a:defRPr sz="2475" b="1">
                <a:solidFill>
                  <a:srgbClr val="14766B"/>
                </a:solidFill>
                <a:latin typeface="Arial"/>
                <a:ea typeface="Arial"/>
                <a:cs typeface="Arial"/>
              </a:defRPr>
            </a:lvl6pPr>
            <a:lvl7pPr>
              <a:defRPr sz="2475" b="1">
                <a:solidFill>
                  <a:srgbClr val="14766B"/>
                </a:solidFill>
                <a:latin typeface="Arial"/>
                <a:ea typeface="Arial"/>
                <a:cs typeface="Arial"/>
              </a:defRPr>
            </a:lvl7pPr>
            <a:lvl8pPr>
              <a:defRPr sz="2475" b="1">
                <a:solidFill>
                  <a:srgbClr val="14766B"/>
                </a:solidFill>
                <a:latin typeface="Arial"/>
                <a:ea typeface="Arial"/>
                <a:cs typeface="Arial"/>
              </a:defRPr>
            </a:lvl8pPr>
            <a:lvl9pPr>
              <a:defRPr sz="2475" b="1">
                <a:solidFill>
                  <a:srgbClr val="14766B"/>
                </a:solidFill>
                <a:latin typeface="Arial"/>
                <a:ea typeface="Arial"/>
                <a:cs typeface="Arial"/>
              </a:defRPr>
            </a:lvl9pPr>
          </a:lstStyle>
          <a:p xmlns:a="http://schemas.openxmlformats.org/drawingml/2006/main">
            <a:pPr>
              <a:defRPr sz="2475" b="1">
                <a:solidFill>
                  <a:srgbClr val="14766B"/>
                </a:solidFill>
                <a:latin typeface="Arial"/>
                <a:ea typeface="Arial"/>
                <a:cs typeface="Arial"/>
              </a:defRPr>
            </a:pPr>
            <a:r>
              <a:rPr sz="2475" b="1">
                <a:solidFill>
                  <a:srgbClr val="14766B"/>
                </a:solidFill>
                <a:latin typeface="Arial"/>
                <a:ea typeface="Arial"/>
                <a:cs typeface="Arial"/>
              </a:rPr>
              <a:t>batch size = 1</a:t>
            </a:r>
          </a:p>
        </p:txBody>
      </p:sp>
      <p:sp>
        <p:nvSpPr>
          <p:cNvPr id="7" name="">
            <a:extLst xmlns:a="http://schemas.openxmlformats.org/drawingml/2006/main">
              <a:ext uri="{FF2B5EF4-FFF2-40B4-BE49-F238E27FC236}">
                <a16:creationId xmlns:a16="http://schemas.microsoft.com/office/drawing/2014/main" id="{CCCD0C8F-AA78-4EE5-AEAD-9AD878BFED37}"/>
              </a:ext>
            </a:extLst>
          </p:cNvPr>
          <p:cNvSpPr>
            <a:spLocks xmlns:a="http://schemas.openxmlformats.org/drawingml/2006/main" noGrp="1"/>
          </p:cNvSpPr>
          <p:nvPr/>
        </p:nvSpPr>
        <p:spPr>
          <a:xfrm xmlns:a="http://schemas.openxmlformats.org/drawingml/2006/main">
            <a:off x="8096250" y="3381375"/>
            <a:ext cx="3381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D46"/>
                </a:solidFill>
                <a:latin typeface="Arial"/>
                <a:ea typeface="Arial"/>
                <a:cs typeface="Arial"/>
              </a:defRPr>
            </a:defPPr>
            <a:lvl1pPr>
              <a:defRPr sz="2100" b="0">
                <a:solidFill>
                  <a:srgbClr val="173D46"/>
                </a:solidFill>
                <a:latin typeface="Arial"/>
                <a:ea typeface="Arial"/>
                <a:cs typeface="Arial"/>
              </a:defRPr>
            </a:lvl1pPr>
            <a:lvl2pPr>
              <a:defRPr sz="2100" b="0">
                <a:solidFill>
                  <a:srgbClr val="173D46"/>
                </a:solidFill>
                <a:latin typeface="Arial"/>
                <a:ea typeface="Arial"/>
                <a:cs typeface="Arial"/>
              </a:defRPr>
            </a:lvl2pPr>
            <a:lvl3pPr>
              <a:defRPr sz="2100" b="0">
                <a:solidFill>
                  <a:srgbClr val="173D46"/>
                </a:solidFill>
                <a:latin typeface="Arial"/>
                <a:ea typeface="Arial"/>
                <a:cs typeface="Arial"/>
              </a:defRPr>
            </a:lvl3pPr>
            <a:lvl4pPr>
              <a:defRPr sz="2100" b="0">
                <a:solidFill>
                  <a:srgbClr val="173D46"/>
                </a:solidFill>
                <a:latin typeface="Arial"/>
                <a:ea typeface="Arial"/>
                <a:cs typeface="Arial"/>
              </a:defRPr>
            </a:lvl4pPr>
            <a:lvl5pPr>
              <a:defRPr sz="2100" b="0">
                <a:solidFill>
                  <a:srgbClr val="173D46"/>
                </a:solidFill>
                <a:latin typeface="Arial"/>
                <a:ea typeface="Arial"/>
                <a:cs typeface="Arial"/>
              </a:defRPr>
            </a:lvl5pPr>
            <a:lvl6pPr>
              <a:defRPr sz="2100" b="0">
                <a:solidFill>
                  <a:srgbClr val="173D46"/>
                </a:solidFill>
                <a:latin typeface="Arial"/>
                <a:ea typeface="Arial"/>
                <a:cs typeface="Arial"/>
              </a:defRPr>
            </a:lvl6pPr>
            <a:lvl7pPr>
              <a:defRPr sz="2100" b="0">
                <a:solidFill>
                  <a:srgbClr val="173D46"/>
                </a:solidFill>
                <a:latin typeface="Arial"/>
                <a:ea typeface="Arial"/>
                <a:cs typeface="Arial"/>
              </a:defRPr>
            </a:lvl7pPr>
            <a:lvl8pPr>
              <a:defRPr sz="2100" b="0">
                <a:solidFill>
                  <a:srgbClr val="173D46"/>
                </a:solidFill>
                <a:latin typeface="Arial"/>
                <a:ea typeface="Arial"/>
                <a:cs typeface="Arial"/>
              </a:defRPr>
            </a:lvl8pPr>
            <a:lvl9pPr>
              <a:defRPr sz="2100" b="0">
                <a:solidFill>
                  <a:srgbClr val="173D46"/>
                </a:solidFill>
                <a:latin typeface="Arial"/>
                <a:ea typeface="Arial"/>
                <a:cs typeface="Arial"/>
              </a:defRPr>
            </a:lvl9pPr>
          </a:lstStyle>
          <a:p xmlns:a="http://schemas.openxmlformats.org/drawingml/2006/main">
            <a:pPr>
              <a:defRPr sz="2100" b="0">
                <a:solidFill>
                  <a:srgbClr val="173D46"/>
                </a:solidFill>
                <a:latin typeface="Arial"/>
                <a:ea typeface="Arial"/>
                <a:cs typeface="Arial"/>
              </a:defRPr>
            </a:pPr>
            <a:r>
              <a:rPr sz="2100" b="0">
                <a:solidFill>
                  <a:srgbClr val="173D46"/>
                </a:solidFill>
                <a:latin typeface="Arial"/>
                <a:ea typeface="Arial"/>
                <a:cs typeface="Arial"/>
              </a:rPr>
              <a:t>Dispatch e sincronização</a:t>
            </a:r>
          </a:p>
          <a:p xmlns:a="http://schemas.openxmlformats.org/drawingml/2006/main">
            <a:pPr>
              <a:defRPr sz="2100" b="0">
                <a:solidFill>
                  <a:srgbClr val="173D46"/>
                </a:solidFill>
                <a:latin typeface="Arial"/>
                <a:ea typeface="Arial"/>
                <a:cs typeface="Arial"/>
              </a:defRPr>
            </a:pPr>
            <a:r>
              <a:rPr sz="2100" b="0">
                <a:solidFill>
                  <a:srgbClr val="173D46"/>
                </a:solidFill>
                <a:latin typeface="Arial"/>
                <a:ea typeface="Arial"/>
                <a:cs typeface="Arial"/>
              </a:rPr>
              <a:t>também têm custo.</a:t>
            </a:r>
          </a:p>
        </p:txBody>
      </p:sp>
      <p:sp>
        <p:nvSpPr>
          <p:cNvPr id="8" name="">
            <a:extLst xmlns:a="http://schemas.openxmlformats.org/drawingml/2006/main">
              <a:ext uri="{FF2B5EF4-FFF2-40B4-BE49-F238E27FC236}">
                <a16:creationId xmlns:a16="http://schemas.microsoft.com/office/drawing/2014/main" id="{73DDC4D5-F8F7-4BC6-96AF-08624EBA6285}"/>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Resultado desta sessão. Não é uma comparação de training ou de throughput em batches grandes</a:t>
            </a:r>
          </a:p>
        </p:txBody>
      </p:sp>
    </p:spTree>
    <p:extLst>
      <p:ext uri="{BB962C8B-B14F-4D97-AF65-F5344CB8AC3E}">
        <p14:creationId xmlns:p14="http://schemas.microsoft.com/office/powerpoint/2010/main" val="802689081"/>
      </p:ext>
    </p:extLst>
  </p:cSld>
</p:sld>
</file>

<file path=ppt/slides/slide24.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57AD635-E510-4E50-94F3-FF88D0FC73DC}"/>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F33375D-1FF9-447B-84A9-DB8BD5495748}"/>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INT8 reduziu o arquivo em 34,1%</a:t>
            </a:r>
          </a:p>
        </p:txBody>
      </p:sp>
      <p:sp>
        <p:nvSpPr>
          <p:cNvPr id="4" name="">
            <a:extLst xmlns:a="http://schemas.openxmlformats.org/drawingml/2006/main">
              <a:ext uri="{FF2B5EF4-FFF2-40B4-BE49-F238E27FC236}">
                <a16:creationId xmlns:a16="http://schemas.microsoft.com/office/drawing/2014/main" id="{100F3A69-B090-41FB-943C-A55B5321A920}"/>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24</a:t>
            </a:r>
          </a:p>
        </p:txBody>
      </p:sp>
      <p:graphicFrame>
        <p:nvGraphicFramePr>
          <p:cNvPr id="5" name="Chart">
            <a:extLst xmlns:a="http://schemas.openxmlformats.org/drawingml/2006/main">
              <a:ext uri="{FF2B5EF4-FFF2-40B4-BE49-F238E27FC236}">
                <a16:creationId xmlns:a16="http://schemas.microsoft.com/office/drawing/2014/main" id="{097E2644-FB05-4BFB-A4C8-F4D0584C8484}"/>
              </a:ext>
            </a:extLst>
          </p:cNvPr>
          <p:cNvGraphicFramePr/>
          <p:nvPr/>
        </p:nvGraphicFramePr>
        <p:xfrm>
          <a:off xmlns:a="http://schemas.openxmlformats.org/drawingml/2006/main" x="619125" y="2000250"/>
          <a:ext xmlns:a="http://schemas.openxmlformats.org/drawingml/2006/main" cx="6762750" cy="3381375"/>
        </p:xfrm>
        <a:graphic xmlns:a="http://schemas.openxmlformats.org/drawingml/2006/main">
          <a:graphicData uri="http://schemas.openxmlformats.org/drawingml/2006/chart">
            <c:chart xmlns:r="http://schemas.openxmlformats.org/officeDocument/2006/relationships" xmlns:c="http://schemas.openxmlformats.org/drawingml/2006/chart" r:id="Rd5b8e0cf6a6e4b36"/>
          </a:graphicData>
        </a:graphic>
      </p:graphicFrame>
      <p:sp>
        <p:nvSpPr>
          <p:cNvPr id="6" name="">
            <a:extLst xmlns:a="http://schemas.openxmlformats.org/drawingml/2006/main">
              <a:ext uri="{FF2B5EF4-FFF2-40B4-BE49-F238E27FC236}">
                <a16:creationId xmlns:a16="http://schemas.microsoft.com/office/drawing/2014/main" id="{BE3F1A19-3AB7-408E-9784-3B8B46B1B0EE}"/>
              </a:ext>
            </a:extLst>
          </p:cNvPr>
          <p:cNvSpPr>
            <a:spLocks xmlns:a="http://schemas.openxmlformats.org/drawingml/2006/main" noGrp="1"/>
          </p:cNvSpPr>
          <p:nvPr/>
        </p:nvSpPr>
        <p:spPr>
          <a:xfrm xmlns:a="http://schemas.openxmlformats.org/drawingml/2006/main">
            <a:off x="7810500" y="2190750"/>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4766B"/>
                </a:solidFill>
                <a:latin typeface="Arial"/>
                <a:ea typeface="Arial"/>
                <a:cs typeface="Arial"/>
              </a:defRPr>
            </a:defPPr>
            <a:lvl1pPr>
              <a:defRPr sz="2400" b="1">
                <a:solidFill>
                  <a:srgbClr val="14766B"/>
                </a:solidFill>
                <a:latin typeface="Arial"/>
                <a:ea typeface="Arial"/>
                <a:cs typeface="Arial"/>
              </a:defRPr>
            </a:lvl1pPr>
            <a:lvl2pPr>
              <a:defRPr sz="2400" b="1">
                <a:solidFill>
                  <a:srgbClr val="14766B"/>
                </a:solidFill>
                <a:latin typeface="Arial"/>
                <a:ea typeface="Arial"/>
                <a:cs typeface="Arial"/>
              </a:defRPr>
            </a:lvl2pPr>
            <a:lvl3pPr>
              <a:defRPr sz="2400" b="1">
                <a:solidFill>
                  <a:srgbClr val="14766B"/>
                </a:solidFill>
                <a:latin typeface="Arial"/>
                <a:ea typeface="Arial"/>
                <a:cs typeface="Arial"/>
              </a:defRPr>
            </a:lvl3pPr>
            <a:lvl4pPr>
              <a:defRPr sz="2400" b="1">
                <a:solidFill>
                  <a:srgbClr val="14766B"/>
                </a:solidFill>
                <a:latin typeface="Arial"/>
                <a:ea typeface="Arial"/>
                <a:cs typeface="Arial"/>
              </a:defRPr>
            </a:lvl4pPr>
            <a:lvl5pPr>
              <a:defRPr sz="2400" b="1">
                <a:solidFill>
                  <a:srgbClr val="14766B"/>
                </a:solidFill>
                <a:latin typeface="Arial"/>
                <a:ea typeface="Arial"/>
                <a:cs typeface="Arial"/>
              </a:defRPr>
            </a:lvl5pPr>
            <a:lvl6pPr>
              <a:defRPr sz="2400" b="1">
                <a:solidFill>
                  <a:srgbClr val="14766B"/>
                </a:solidFill>
                <a:latin typeface="Arial"/>
                <a:ea typeface="Arial"/>
                <a:cs typeface="Arial"/>
              </a:defRPr>
            </a:lvl6pPr>
            <a:lvl7pPr>
              <a:defRPr sz="2400" b="1">
                <a:solidFill>
                  <a:srgbClr val="14766B"/>
                </a:solidFill>
                <a:latin typeface="Arial"/>
                <a:ea typeface="Arial"/>
                <a:cs typeface="Arial"/>
              </a:defRPr>
            </a:lvl7pPr>
            <a:lvl8pPr>
              <a:defRPr sz="2400" b="1">
                <a:solidFill>
                  <a:srgbClr val="14766B"/>
                </a:solidFill>
                <a:latin typeface="Arial"/>
                <a:ea typeface="Arial"/>
                <a:cs typeface="Arial"/>
              </a:defRPr>
            </a:lvl8pPr>
            <a:lvl9pPr>
              <a:defRPr sz="2400" b="1">
                <a:solidFill>
                  <a:srgbClr val="14766B"/>
                </a:solidFill>
                <a:latin typeface="Arial"/>
                <a:ea typeface="Arial"/>
                <a:cs typeface="Arial"/>
              </a:defRPr>
            </a:lvl9pPr>
          </a:lstStyle>
          <a:p xmlns:a="http://schemas.openxmlformats.org/drawingml/2006/main">
            <a:pPr>
              <a:defRPr sz="2400" b="1">
                <a:solidFill>
                  <a:srgbClr val="14766B"/>
                </a:solidFill>
                <a:latin typeface="Arial"/>
                <a:ea typeface="Arial"/>
                <a:cs typeface="Arial"/>
              </a:defRPr>
            </a:pPr>
            <a:r>
              <a:rPr sz="2400" b="1">
                <a:solidFill>
                  <a:srgbClr val="14766B"/>
                </a:solidFill>
                <a:latin typeface="Arial"/>
                <a:ea typeface="Arial"/>
                <a:cs typeface="Arial"/>
              </a:rPr>
              <a:t>7.984 → 5.264 bytes</a:t>
            </a:r>
          </a:p>
        </p:txBody>
      </p:sp>
      <p:sp>
        <p:nvSpPr>
          <p:cNvPr id="7" name="">
            <a:extLst xmlns:a="http://schemas.openxmlformats.org/drawingml/2006/main">
              <a:ext uri="{FF2B5EF4-FFF2-40B4-BE49-F238E27FC236}">
                <a16:creationId xmlns:a16="http://schemas.microsoft.com/office/drawing/2014/main" id="{45F223E5-0147-4010-9B45-00664907B5F5}"/>
              </a:ext>
            </a:extLst>
          </p:cNvPr>
          <p:cNvSpPr>
            <a:spLocks xmlns:a="http://schemas.openxmlformats.org/drawingml/2006/main" noGrp="1"/>
          </p:cNvSpPr>
          <p:nvPr/>
        </p:nvSpPr>
        <p:spPr>
          <a:xfrm xmlns:a="http://schemas.openxmlformats.org/drawingml/2006/main">
            <a:off x="7810500" y="3429000"/>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D46"/>
                </a:solidFill>
                <a:latin typeface="Arial"/>
                <a:ea typeface="Arial"/>
                <a:cs typeface="Arial"/>
              </a:defRPr>
            </a:defPPr>
            <a:lvl1pPr>
              <a:defRPr sz="2100" b="0">
                <a:solidFill>
                  <a:srgbClr val="173D46"/>
                </a:solidFill>
                <a:latin typeface="Arial"/>
                <a:ea typeface="Arial"/>
                <a:cs typeface="Arial"/>
              </a:defRPr>
            </a:lvl1pPr>
            <a:lvl2pPr>
              <a:defRPr sz="2100" b="0">
                <a:solidFill>
                  <a:srgbClr val="173D46"/>
                </a:solidFill>
                <a:latin typeface="Arial"/>
                <a:ea typeface="Arial"/>
                <a:cs typeface="Arial"/>
              </a:defRPr>
            </a:lvl2pPr>
            <a:lvl3pPr>
              <a:defRPr sz="2100" b="0">
                <a:solidFill>
                  <a:srgbClr val="173D46"/>
                </a:solidFill>
                <a:latin typeface="Arial"/>
                <a:ea typeface="Arial"/>
                <a:cs typeface="Arial"/>
              </a:defRPr>
            </a:lvl3pPr>
            <a:lvl4pPr>
              <a:defRPr sz="2100" b="0">
                <a:solidFill>
                  <a:srgbClr val="173D46"/>
                </a:solidFill>
                <a:latin typeface="Arial"/>
                <a:ea typeface="Arial"/>
                <a:cs typeface="Arial"/>
              </a:defRPr>
            </a:lvl4pPr>
            <a:lvl5pPr>
              <a:defRPr sz="2100" b="0">
                <a:solidFill>
                  <a:srgbClr val="173D46"/>
                </a:solidFill>
                <a:latin typeface="Arial"/>
                <a:ea typeface="Arial"/>
                <a:cs typeface="Arial"/>
              </a:defRPr>
            </a:lvl5pPr>
            <a:lvl6pPr>
              <a:defRPr sz="2100" b="0">
                <a:solidFill>
                  <a:srgbClr val="173D46"/>
                </a:solidFill>
                <a:latin typeface="Arial"/>
                <a:ea typeface="Arial"/>
                <a:cs typeface="Arial"/>
              </a:defRPr>
            </a:lvl6pPr>
            <a:lvl7pPr>
              <a:defRPr sz="2100" b="0">
                <a:solidFill>
                  <a:srgbClr val="173D46"/>
                </a:solidFill>
                <a:latin typeface="Arial"/>
                <a:ea typeface="Arial"/>
                <a:cs typeface="Arial"/>
              </a:defRPr>
            </a:lvl7pPr>
            <a:lvl8pPr>
              <a:defRPr sz="2100" b="0">
                <a:solidFill>
                  <a:srgbClr val="173D46"/>
                </a:solidFill>
                <a:latin typeface="Arial"/>
                <a:ea typeface="Arial"/>
                <a:cs typeface="Arial"/>
              </a:defRPr>
            </a:lvl8pPr>
            <a:lvl9pPr>
              <a:defRPr sz="2100" b="0">
                <a:solidFill>
                  <a:srgbClr val="173D46"/>
                </a:solidFill>
                <a:latin typeface="Arial"/>
                <a:ea typeface="Arial"/>
                <a:cs typeface="Arial"/>
              </a:defRPr>
            </a:lvl9pPr>
          </a:lstStyle>
          <a:p xmlns:a="http://schemas.openxmlformats.org/drawingml/2006/main">
            <a:pPr>
              <a:defRPr sz="2100" b="0">
                <a:solidFill>
                  <a:srgbClr val="173D46"/>
                </a:solidFill>
                <a:latin typeface="Arial"/>
                <a:ea typeface="Arial"/>
                <a:cs typeface="Arial"/>
              </a:defRPr>
            </a:pPr>
            <a:r>
              <a:rPr sz="2100" b="0">
                <a:solidFill>
                  <a:srgbClr val="173D46"/>
                </a:solidFill>
                <a:latin typeface="Arial"/>
                <a:ea typeface="Arial"/>
                <a:cs typeface="Arial"/>
              </a:rPr>
              <a:t>CPU reference:</a:t>
            </a:r>
          </a:p>
          <a:p xmlns:a="http://schemas.openxmlformats.org/drawingml/2006/main">
            <a:pPr>
              <a:defRPr sz="2100" b="0">
                <a:solidFill>
                  <a:srgbClr val="173D46"/>
                </a:solidFill>
                <a:latin typeface="Arial"/>
                <a:ea typeface="Arial"/>
                <a:cs typeface="Arial"/>
              </a:defRPr>
            </a:pPr>
            <a:r>
              <a:rPr sz="2100" b="0">
                <a:solidFill>
                  <a:srgbClr val="173D46"/>
                </a:solidFill>
                <a:latin typeface="Arial"/>
                <a:ea typeface="Arial"/>
                <a:cs typeface="Arial"/>
              </a:rPr>
              <a:t>1,347 → 1,932 ms</a:t>
            </a:r>
          </a:p>
        </p:txBody>
      </p:sp>
      <p:sp>
        <p:nvSpPr>
          <p:cNvPr id="8" name="">
            <a:extLst xmlns:a="http://schemas.openxmlformats.org/drawingml/2006/main">
              <a:ext uri="{FF2B5EF4-FFF2-40B4-BE49-F238E27FC236}">
                <a16:creationId xmlns:a16="http://schemas.microsoft.com/office/drawing/2014/main" id="{3AB73BE2-6D3B-4F31-9F12-0C10095600F3}"/>
              </a:ext>
            </a:extLst>
          </p:cNvPr>
          <p:cNvSpPr>
            <a:spLocks xmlns:a="http://schemas.openxmlformats.org/drawingml/2006/main" noGrp="1"/>
          </p:cNvSpPr>
          <p:nvPr/>
        </p:nvSpPr>
        <p:spPr>
          <a:xfrm xmlns:a="http://schemas.openxmlformats.org/drawingml/2006/main">
            <a:off x="7810500" y="476250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D46"/>
                </a:solidFill>
                <a:latin typeface="Arial"/>
                <a:ea typeface="Arial"/>
                <a:cs typeface="Arial"/>
              </a:defRPr>
            </a:defPPr>
            <a:lvl1pPr>
              <a:defRPr sz="2025" b="0">
                <a:solidFill>
                  <a:srgbClr val="173D46"/>
                </a:solidFill>
                <a:latin typeface="Arial"/>
                <a:ea typeface="Arial"/>
                <a:cs typeface="Arial"/>
              </a:defRPr>
            </a:lvl1pPr>
            <a:lvl2pPr>
              <a:defRPr sz="2025" b="0">
                <a:solidFill>
                  <a:srgbClr val="173D46"/>
                </a:solidFill>
                <a:latin typeface="Arial"/>
                <a:ea typeface="Arial"/>
                <a:cs typeface="Arial"/>
              </a:defRPr>
            </a:lvl2pPr>
            <a:lvl3pPr>
              <a:defRPr sz="2025" b="0">
                <a:solidFill>
                  <a:srgbClr val="173D46"/>
                </a:solidFill>
                <a:latin typeface="Arial"/>
                <a:ea typeface="Arial"/>
                <a:cs typeface="Arial"/>
              </a:defRPr>
            </a:lvl3pPr>
            <a:lvl4pPr>
              <a:defRPr sz="2025" b="0">
                <a:solidFill>
                  <a:srgbClr val="173D46"/>
                </a:solidFill>
                <a:latin typeface="Arial"/>
                <a:ea typeface="Arial"/>
                <a:cs typeface="Arial"/>
              </a:defRPr>
            </a:lvl4pPr>
            <a:lvl5pPr>
              <a:defRPr sz="2025" b="0">
                <a:solidFill>
                  <a:srgbClr val="173D46"/>
                </a:solidFill>
                <a:latin typeface="Arial"/>
                <a:ea typeface="Arial"/>
                <a:cs typeface="Arial"/>
              </a:defRPr>
            </a:lvl5pPr>
            <a:lvl6pPr>
              <a:defRPr sz="2025" b="0">
                <a:solidFill>
                  <a:srgbClr val="173D46"/>
                </a:solidFill>
                <a:latin typeface="Arial"/>
                <a:ea typeface="Arial"/>
                <a:cs typeface="Arial"/>
              </a:defRPr>
            </a:lvl6pPr>
            <a:lvl7pPr>
              <a:defRPr sz="2025" b="0">
                <a:solidFill>
                  <a:srgbClr val="173D46"/>
                </a:solidFill>
                <a:latin typeface="Arial"/>
                <a:ea typeface="Arial"/>
                <a:cs typeface="Arial"/>
              </a:defRPr>
            </a:lvl7pPr>
            <a:lvl8pPr>
              <a:defRPr sz="2025" b="0">
                <a:solidFill>
                  <a:srgbClr val="173D46"/>
                </a:solidFill>
                <a:latin typeface="Arial"/>
                <a:ea typeface="Arial"/>
                <a:cs typeface="Arial"/>
              </a:defRPr>
            </a:lvl8pPr>
            <a:lvl9pPr>
              <a:defRPr sz="2025" b="0">
                <a:solidFill>
                  <a:srgbClr val="173D46"/>
                </a:solidFill>
                <a:latin typeface="Arial"/>
                <a:ea typeface="Arial"/>
                <a:cs typeface="Arial"/>
              </a:defRPr>
            </a:lvl9pPr>
          </a:lstStyle>
          <a:p xmlns:a="http://schemas.openxmlformats.org/drawingml/2006/main">
            <a:pPr>
              <a:defRPr sz="2025" b="0">
                <a:solidFill>
                  <a:srgbClr val="173D46"/>
                </a:solidFill>
                <a:latin typeface="Arial"/>
                <a:ea typeface="Arial"/>
                <a:cs typeface="Arial"/>
              </a:defRPr>
            </a:pPr>
            <a:r>
              <a:rPr sz="2025" b="0">
                <a:solidFill>
                  <a:srgbClr val="173D46"/>
                </a:solidFill>
                <a:latin typeface="Arial"/>
                <a:ea typeface="Arial"/>
                <a:cs typeface="Arial"/>
              </a:rPr>
              <a:t>2 de 100 windows</a:t>
            </a:r>
          </a:p>
          <a:p xmlns:a="http://schemas.openxmlformats.org/drawingml/2006/main">
            <a:pPr>
              <a:defRPr sz="2025" b="0">
                <a:solidFill>
                  <a:srgbClr val="173D46"/>
                </a:solidFill>
                <a:latin typeface="Arial"/>
                <a:ea typeface="Arial"/>
                <a:cs typeface="Arial"/>
              </a:defRPr>
            </a:pPr>
            <a:r>
              <a:rPr sz="2025" b="0">
                <a:solidFill>
                  <a:srgbClr val="173D46"/>
                </a:solidFill>
                <a:latin typeface="Arial"/>
                <a:ea typeface="Arial"/>
                <a:cs typeface="Arial"/>
              </a:rPr>
              <a:t>mudaram de classe.</a:t>
            </a:r>
          </a:p>
        </p:txBody>
      </p:sp>
      <p:sp>
        <p:nvSpPr>
          <p:cNvPr id="9" name="">
            <a:extLst xmlns:a="http://schemas.openxmlformats.org/drawingml/2006/main">
              <a:ext uri="{FF2B5EF4-FFF2-40B4-BE49-F238E27FC236}">
                <a16:creationId xmlns:a16="http://schemas.microsoft.com/office/drawing/2014/main" id="{C252186F-F322-4DCD-9410-65831299C6C1}"/>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Mesmo resolver. Scores comparados com o mesmo threshold; isso não é patient accuracy</a:t>
            </a:r>
          </a:p>
        </p:txBody>
      </p:sp>
    </p:spTree>
    <p:extLst>
      <p:ext uri="{BB962C8B-B14F-4D97-AF65-F5344CB8AC3E}">
        <p14:creationId xmlns:p14="http://schemas.microsoft.com/office/powerpoint/2010/main" val="629243977"/>
      </p:ext>
    </p:extLst>
  </p:cSld>
</p:sld>
</file>

<file path=ppt/slides/slide25.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3024578-9799-4175-85C5-DD1ECF41CF66}"/>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C4EB09-5238-4284-AB7F-F5F302BD80B6}"/>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O modelo é pequeno. O programa usa mais</a:t>
            </a:r>
          </a:p>
        </p:txBody>
      </p:sp>
      <p:sp>
        <p:nvSpPr>
          <p:cNvPr id="4" name="">
            <a:extLst xmlns:a="http://schemas.openxmlformats.org/drawingml/2006/main">
              <a:ext uri="{FF2B5EF4-FFF2-40B4-BE49-F238E27FC236}">
                <a16:creationId xmlns:a16="http://schemas.microsoft.com/office/drawing/2014/main" id="{8A0C20D4-A2D2-43FB-8BAF-93DDBA9F336E}"/>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25</a:t>
            </a:r>
          </a:p>
        </p:txBody>
      </p:sp>
      <p:graphicFrame>
        <p:nvGraphicFramePr>
          <p:cNvPr id="5" name="">
            <a:extLst xmlns:a="http://schemas.openxmlformats.org/drawingml/2006/main">
              <a:ext uri="{FF2B5EF4-FFF2-40B4-BE49-F238E27FC236}">
                <a16:creationId xmlns:a16="http://schemas.microsoft.com/office/drawing/2014/main" id="{287D0E9C-C1A2-4964-A1C3-5F1F387575AB}"/>
              </a:ext>
            </a:extLst>
          </p:cNvPr>
          <p:cNvGraphicFramePr/>
          <p:nvPr/>
        </p:nvGraphicFramePr>
        <p:xfrm>
          <a:off xmlns:a="http://schemas.openxmlformats.org/drawingml/2006/main" x="619125" y="2000250"/>
          <a:ext xmlns:a="http://schemas.openxmlformats.org/drawingml/2006/main" cx="10953750" cy="3381375"/>
        </p:xfrm>
        <a:graphic xmlns:a="http://schemas.openxmlformats.org/drawingml/2006/main">
          <a:graphicData uri="http://schemas.openxmlformats.org/drawingml/2006/table">
            <a:tbl>
              <a:tblPr/>
              <a:tblGrid>
                <a:gridCol w="8096250"/>
                <a:gridCol w="2857500"/>
              </a:tblGrid>
              <a:tr h="563563">
                <a:tc>
                  <a:txBody>
                    <a:bodyPr/>
                    <a:lstStyle/>
                    <a:p>
                      <a:r>
                        <a:rPr sz="1725" b="1">
                          <a:solidFill>
                            <a:srgbClr val="FFFFFF"/>
                          </a:solidFill>
                          <a:latin typeface="Arial"/>
                          <a:ea typeface="Arial"/>
                          <a:cs typeface="Arial"/>
                        </a:rPr>
                        <a:t>Quantidade medida no firmware científico</a:t>
                      </a:r>
                    </a:p>
                  </a:txBody>
                  <a:tcPr marL="123825" marR="95250" marT="104775" marB="104775">
                    <a:lnL w="9525">
                      <a:solidFill>
                        <a:srgbClr val="CEDBD5"/>
                      </a:solidFill>
                    </a:lnL>
                    <a:lnR w="9525">
                      <a:solidFill>
                        <a:srgbClr val="CEDBD5"/>
                      </a:solidFill>
                    </a:lnR>
                    <a:lnT w="9525">
                      <a:solidFill>
                        <a:srgbClr val="CEDBD5"/>
                      </a:solidFill>
                    </a:lnT>
                    <a:lnB w="9525">
                      <a:solidFill>
                        <a:srgbClr val="CEDBD5"/>
                      </a:solidFill>
                    </a:lnB>
                    <a:solidFill>
                      <a:srgbClr val="173D46"/>
                    </a:solidFill>
                  </a:tcPr>
                </a:tc>
                <a:tc>
                  <a:txBody>
                    <a:bodyPr/>
                    <a:lstStyle/>
                    <a:p>
                      <a:r>
                        <a:rPr sz="1725" b="1">
                          <a:solidFill>
                            <a:srgbClr val="FFFFFF"/>
                          </a:solidFill>
                          <a:latin typeface="Arial"/>
                          <a:ea typeface="Arial"/>
                          <a:cs typeface="Arial"/>
                        </a:rPr>
                        <a:t>Bytes</a:t>
                      </a:r>
                    </a:p>
                  </a:txBody>
                  <a:tcPr marL="123825" marR="95250" marT="104775" marB="104775">
                    <a:lnR w="9525">
                      <a:solidFill>
                        <a:srgbClr val="CEDBD5"/>
                      </a:solidFill>
                    </a:lnR>
                    <a:lnT w="9525">
                      <a:solidFill>
                        <a:srgbClr val="CEDBD5"/>
                      </a:solidFill>
                    </a:lnT>
                    <a:lnB w="9525">
                      <a:solidFill>
                        <a:srgbClr val="CEDBD5"/>
                      </a:solidFill>
                    </a:lnB>
                    <a:solidFill>
                      <a:srgbClr val="173D46"/>
                    </a:solidFill>
                  </a:tcPr>
                </a:tc>
              </a:tr>
              <a:tr h="563563">
                <a:tc>
                  <a:txBody>
                    <a:bodyPr/>
                    <a:lstStyle/>
                    <a:p>
                      <a:r>
                        <a:rPr sz="1800">
                          <a:solidFill>
                            <a:srgbClr val="173D46"/>
                          </a:solidFill>
                          <a:latin typeface="Arial"/>
                          <a:ea typeface="Arial"/>
                          <a:cs typeface="Arial"/>
                        </a:rPr>
                        <a:t>Modelo INT8</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5.264</a:t>
                      </a:r>
                    </a:p>
                  </a:txBody>
                  <a:tcPr marL="123825" marR="95250" marT="104775" marB="104775">
                    <a:lnR w="9525">
                      <a:solidFill>
                        <a:srgbClr val="CEDBD5"/>
                      </a:solidFill>
                    </a:lnR>
                    <a:lnB w="9525">
                      <a:solidFill>
                        <a:srgbClr val="CEDBD5"/>
                      </a:solidFill>
                    </a:lnB>
                    <a:solidFill>
                      <a:srgbClr val="FFFFFF"/>
                    </a:solidFill>
                  </a:tcPr>
                </a:tc>
              </a:tr>
              <a:tr h="563563">
                <a:tc>
                  <a:txBody>
                    <a:bodyPr/>
                    <a:lstStyle/>
                    <a:p>
                      <a:r>
                        <a:rPr sz="1800">
                          <a:solidFill>
                            <a:srgbClr val="173D46"/>
                          </a:solidFill>
                          <a:latin typeface="Arial"/>
                          <a:ea typeface="Arial"/>
                          <a:cs typeface="Arial"/>
                        </a:rPr>
                        <a:t>Firmware flash image</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189.408</a:t>
                      </a:r>
                    </a:p>
                  </a:txBody>
                  <a:tcPr marL="123825" marR="95250" marT="104775" marB="104775">
                    <a:lnR w="9525">
                      <a:solidFill>
                        <a:srgbClr val="CEDBD5"/>
                      </a:solidFill>
                    </a:lnR>
                    <a:lnB w="9525">
                      <a:solidFill>
                        <a:srgbClr val="CEDBD5"/>
                      </a:solidFill>
                    </a:lnB>
                    <a:solidFill>
                      <a:srgbClr val="FFFFFF"/>
                    </a:solidFill>
                  </a:tcPr>
                </a:tc>
              </a:tr>
              <a:tr h="563563">
                <a:tc>
                  <a:txBody>
                    <a:bodyPr/>
                    <a:lstStyle/>
                    <a:p>
                      <a:r>
                        <a:rPr sz="1800">
                          <a:solidFill>
                            <a:srgbClr val="173D46"/>
                          </a:solidFill>
                          <a:latin typeface="Arial"/>
                          <a:ea typeface="Arial"/>
                          <a:cs typeface="Arial"/>
                        </a:rPr>
                        <a:t>Static main SRAM span</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186.224</a:t>
                      </a:r>
                    </a:p>
                  </a:txBody>
                  <a:tcPr marL="123825" marR="95250" marT="104775" marB="104775">
                    <a:lnR w="9525">
                      <a:solidFill>
                        <a:srgbClr val="CEDBD5"/>
                      </a:solidFill>
                    </a:lnR>
                    <a:lnB w="9525">
                      <a:solidFill>
                        <a:srgbClr val="CEDBD5"/>
                      </a:solidFill>
                    </a:lnB>
                    <a:solidFill>
                      <a:srgbClr val="FFFFFF"/>
                    </a:solidFill>
                  </a:tcPr>
                </a:tc>
              </a:tr>
              <a:tr h="563563">
                <a:tc>
                  <a:txBody>
                    <a:bodyPr/>
                    <a:lstStyle/>
                    <a:p>
                      <a:r>
                        <a:rPr sz="1800">
                          <a:solidFill>
                            <a:srgbClr val="173D46"/>
                          </a:solidFill>
                          <a:latin typeface="Arial"/>
                          <a:ea typeface="Arial"/>
                          <a:cs typeface="Arial"/>
                        </a:rPr>
                        <a:t>Tensor arena capacity, já incluída</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147.456</a:t>
                      </a:r>
                    </a:p>
                  </a:txBody>
                  <a:tcPr marL="123825" marR="95250" marT="104775" marB="104775">
                    <a:lnR w="9525">
                      <a:solidFill>
                        <a:srgbClr val="CEDBD5"/>
                      </a:solidFill>
                    </a:lnR>
                    <a:lnB w="9525">
                      <a:solidFill>
                        <a:srgbClr val="CEDBD5"/>
                      </a:solidFill>
                    </a:lnB>
                    <a:solidFill>
                      <a:srgbClr val="FFFFFF"/>
                    </a:solidFill>
                  </a:tcPr>
                </a:tc>
              </a:tr>
              <a:tr h="563563">
                <a:tc>
                  <a:txBody>
                    <a:bodyPr/>
                    <a:lstStyle/>
                    <a:p>
                      <a:r>
                        <a:rPr sz="1800">
                          <a:solidFill>
                            <a:srgbClr val="173D46"/>
                          </a:solidFill>
                          <a:latin typeface="Arial"/>
                          <a:ea typeface="Arial"/>
                          <a:cs typeface="Arial"/>
                        </a:rPr>
                        <a:t>Runtime peak RAM</a:t>
                      </a:r>
                    </a:p>
                  </a:txBody>
                  <a:tcPr marL="123825" marR="95250" marT="104775" marB="104775">
                    <a:lnL w="9525">
                      <a:solidFill>
                        <a:srgbClr val="CEDBD5"/>
                      </a:solidFill>
                    </a:lnL>
                    <a:lnR w="9525">
                      <a:solidFill>
                        <a:srgbClr val="CEDBD5"/>
                      </a:solidFill>
                    </a:lnR>
                    <a:lnB w="9525">
                      <a:solidFill>
                        <a:srgbClr val="CEDBD5"/>
                      </a:solidFill>
                    </a:lnB>
                    <a:solidFill>
                      <a:srgbClr val="FFFFFF"/>
                    </a:solidFill>
                  </a:tcPr>
                </a:tc>
                <a:tc>
                  <a:txBody>
                    <a:bodyPr/>
                    <a:lstStyle/>
                    <a:p>
                      <a:r>
                        <a:rPr sz="1800">
                          <a:solidFill>
                            <a:srgbClr val="173D46"/>
                          </a:solidFill>
                          <a:latin typeface="Arial"/>
                          <a:ea typeface="Arial"/>
                          <a:cs typeface="Arial"/>
                        </a:rPr>
                        <a:t>Não medido</a:t>
                      </a:r>
                    </a:p>
                  </a:txBody>
                  <a:tcPr marL="123825" marR="95250" marT="104775" marB="104775">
                    <a:lnR w="9525">
                      <a:solidFill>
                        <a:srgbClr val="CEDBD5"/>
                      </a:solidFill>
                    </a:lnR>
                    <a:lnB w="9525">
                      <a:solidFill>
                        <a:srgbClr val="CEDBD5"/>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EE984D2-92C0-425F-BAD2-B8B76D932054}"/>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Modelo, firmware e RAM são medidas diferentes; não somar a arena duas vezes</a:t>
            </a:r>
          </a:p>
        </p:txBody>
      </p:sp>
    </p:spTree>
    <p:extLst>
      <p:ext uri="{BB962C8B-B14F-4D97-AF65-F5344CB8AC3E}">
        <p14:creationId xmlns:p14="http://schemas.microsoft.com/office/powerpoint/2010/main" val="860233329"/>
      </p:ext>
    </p:extLst>
  </p:cSld>
</p:sld>
</file>

<file path=ppt/slides/slide26.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B6471C4-6B8C-4309-821C-3AC896EED9A7}"/>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1709C74-29D1-4921-8DB8-862FDDB4FA42}"/>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Demonstração: o mesmo WAV nos dois</a:t>
            </a:r>
          </a:p>
        </p:txBody>
      </p:sp>
      <p:sp>
        <p:nvSpPr>
          <p:cNvPr id="4" name="">
            <a:extLst xmlns:a="http://schemas.openxmlformats.org/drawingml/2006/main">
              <a:ext uri="{FF2B5EF4-FFF2-40B4-BE49-F238E27FC236}">
                <a16:creationId xmlns:a16="http://schemas.microsoft.com/office/drawing/2014/main" id="{AFE868A1-4BC0-4383-9C2E-59C03F44A9E3}"/>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84DAC00E-8CCD-40F7-A592-5A2F3264856C}"/>
              </a:ext>
            </a:extLst>
          </p:cNvPr>
          <p:cNvSpPr>
            <a:spLocks xmlns:a="http://schemas.openxmlformats.org/drawingml/2006/main" noGrp="1"/>
          </p:cNvSpPr>
          <p:nvPr/>
        </p:nvSpPr>
        <p:spPr>
          <a:xfrm xmlns:a="http://schemas.openxmlformats.org/drawingml/2006/main">
            <a:off x="619125" y="209550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73D46"/>
                </a:solidFill>
                <a:latin typeface="Arial"/>
                <a:ea typeface="Arial"/>
                <a:cs typeface="Arial"/>
              </a:defRPr>
            </a:defPPr>
            <a:lvl1pPr>
              <a:defRPr sz="2550" b="0">
                <a:solidFill>
                  <a:srgbClr val="173D46"/>
                </a:solidFill>
                <a:latin typeface="Arial"/>
                <a:ea typeface="Arial"/>
                <a:cs typeface="Arial"/>
              </a:defRPr>
            </a:lvl1pPr>
            <a:lvl2pPr>
              <a:defRPr sz="2550" b="0">
                <a:solidFill>
                  <a:srgbClr val="173D46"/>
                </a:solidFill>
                <a:latin typeface="Arial"/>
                <a:ea typeface="Arial"/>
                <a:cs typeface="Arial"/>
              </a:defRPr>
            </a:lvl2pPr>
            <a:lvl3pPr>
              <a:defRPr sz="2550" b="0">
                <a:solidFill>
                  <a:srgbClr val="173D46"/>
                </a:solidFill>
                <a:latin typeface="Arial"/>
                <a:ea typeface="Arial"/>
                <a:cs typeface="Arial"/>
              </a:defRPr>
            </a:lvl3pPr>
            <a:lvl4pPr>
              <a:defRPr sz="2550" b="0">
                <a:solidFill>
                  <a:srgbClr val="173D46"/>
                </a:solidFill>
                <a:latin typeface="Arial"/>
                <a:ea typeface="Arial"/>
                <a:cs typeface="Arial"/>
              </a:defRPr>
            </a:lvl4pPr>
            <a:lvl5pPr>
              <a:defRPr sz="2550" b="0">
                <a:solidFill>
                  <a:srgbClr val="173D46"/>
                </a:solidFill>
                <a:latin typeface="Arial"/>
                <a:ea typeface="Arial"/>
                <a:cs typeface="Arial"/>
              </a:defRPr>
            </a:lvl5pPr>
            <a:lvl6pPr>
              <a:defRPr sz="2550" b="0">
                <a:solidFill>
                  <a:srgbClr val="173D46"/>
                </a:solidFill>
                <a:latin typeface="Arial"/>
                <a:ea typeface="Arial"/>
                <a:cs typeface="Arial"/>
              </a:defRPr>
            </a:lvl6pPr>
            <a:lvl7pPr>
              <a:defRPr sz="2550" b="0">
                <a:solidFill>
                  <a:srgbClr val="173D46"/>
                </a:solidFill>
                <a:latin typeface="Arial"/>
                <a:ea typeface="Arial"/>
                <a:cs typeface="Arial"/>
              </a:defRPr>
            </a:lvl7pPr>
            <a:lvl8pPr>
              <a:defRPr sz="2550" b="0">
                <a:solidFill>
                  <a:srgbClr val="173D46"/>
                </a:solidFill>
                <a:latin typeface="Arial"/>
                <a:ea typeface="Arial"/>
                <a:cs typeface="Arial"/>
              </a:defRPr>
            </a:lvl8pPr>
            <a:lvl9pPr>
              <a:defRPr sz="2550" b="0">
                <a:solidFill>
                  <a:srgbClr val="173D46"/>
                </a:solidFill>
                <a:latin typeface="Arial"/>
                <a:ea typeface="Arial"/>
                <a:cs typeface="Arial"/>
              </a:defRPr>
            </a:lvl9pPr>
          </a:lstStyle>
          <a:p xmlns:a="http://schemas.openxmlformats.org/drawingml/2006/main">
            <a:pPr>
              <a:defRPr sz="2550" b="0">
                <a:solidFill>
                  <a:srgbClr val="173D46"/>
                </a:solidFill>
                <a:latin typeface="Arial"/>
                <a:ea typeface="Arial"/>
                <a:cs typeface="Arial"/>
              </a:defRPr>
            </a:pPr>
            <a:r>
              <a:rPr sz="2550" b="0">
                <a:solidFill>
                  <a:srgbClr val="173D46"/>
                </a:solidFill>
                <a:latin typeface="Arial"/>
                <a:ea typeface="Arial"/>
                <a:cs typeface="Arial"/>
              </a:rPr>
              <a:t>1. Ouvir o áudio e olhar a waveform</a:t>
            </a:r>
          </a:p>
        </p:txBody>
      </p:sp>
      <p:sp>
        <p:nvSpPr>
          <p:cNvPr id="6" name="">
            <a:extLst xmlns:a="http://schemas.openxmlformats.org/drawingml/2006/main">
              <a:ext uri="{FF2B5EF4-FFF2-40B4-BE49-F238E27FC236}">
                <a16:creationId xmlns:a16="http://schemas.microsoft.com/office/drawing/2014/main" id="{5C3E763E-B2FE-4307-BC64-018E9AE91A7C}"/>
              </a:ext>
            </a:extLst>
          </p:cNvPr>
          <p:cNvSpPr>
            <a:spLocks xmlns:a="http://schemas.openxmlformats.org/drawingml/2006/main" noGrp="1"/>
          </p:cNvSpPr>
          <p:nvPr/>
        </p:nvSpPr>
        <p:spPr>
          <a:xfrm xmlns:a="http://schemas.openxmlformats.org/drawingml/2006/main">
            <a:off x="619125" y="31432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73D46"/>
                </a:solidFill>
                <a:latin typeface="Arial"/>
                <a:ea typeface="Arial"/>
                <a:cs typeface="Arial"/>
              </a:defRPr>
            </a:defPPr>
            <a:lvl1pPr>
              <a:defRPr sz="2550" b="0">
                <a:solidFill>
                  <a:srgbClr val="173D46"/>
                </a:solidFill>
                <a:latin typeface="Arial"/>
                <a:ea typeface="Arial"/>
                <a:cs typeface="Arial"/>
              </a:defRPr>
            </a:lvl1pPr>
            <a:lvl2pPr>
              <a:defRPr sz="2550" b="0">
                <a:solidFill>
                  <a:srgbClr val="173D46"/>
                </a:solidFill>
                <a:latin typeface="Arial"/>
                <a:ea typeface="Arial"/>
                <a:cs typeface="Arial"/>
              </a:defRPr>
            </a:lvl2pPr>
            <a:lvl3pPr>
              <a:defRPr sz="2550" b="0">
                <a:solidFill>
                  <a:srgbClr val="173D46"/>
                </a:solidFill>
                <a:latin typeface="Arial"/>
                <a:ea typeface="Arial"/>
                <a:cs typeface="Arial"/>
              </a:defRPr>
            </a:lvl3pPr>
            <a:lvl4pPr>
              <a:defRPr sz="2550" b="0">
                <a:solidFill>
                  <a:srgbClr val="173D46"/>
                </a:solidFill>
                <a:latin typeface="Arial"/>
                <a:ea typeface="Arial"/>
                <a:cs typeface="Arial"/>
              </a:defRPr>
            </a:lvl4pPr>
            <a:lvl5pPr>
              <a:defRPr sz="2550" b="0">
                <a:solidFill>
                  <a:srgbClr val="173D46"/>
                </a:solidFill>
                <a:latin typeface="Arial"/>
                <a:ea typeface="Arial"/>
                <a:cs typeface="Arial"/>
              </a:defRPr>
            </a:lvl5pPr>
            <a:lvl6pPr>
              <a:defRPr sz="2550" b="0">
                <a:solidFill>
                  <a:srgbClr val="173D46"/>
                </a:solidFill>
                <a:latin typeface="Arial"/>
                <a:ea typeface="Arial"/>
                <a:cs typeface="Arial"/>
              </a:defRPr>
            </a:lvl6pPr>
            <a:lvl7pPr>
              <a:defRPr sz="2550" b="0">
                <a:solidFill>
                  <a:srgbClr val="173D46"/>
                </a:solidFill>
                <a:latin typeface="Arial"/>
                <a:ea typeface="Arial"/>
                <a:cs typeface="Arial"/>
              </a:defRPr>
            </a:lvl7pPr>
            <a:lvl8pPr>
              <a:defRPr sz="2550" b="0">
                <a:solidFill>
                  <a:srgbClr val="173D46"/>
                </a:solidFill>
                <a:latin typeface="Arial"/>
                <a:ea typeface="Arial"/>
                <a:cs typeface="Arial"/>
              </a:defRPr>
            </a:lvl8pPr>
            <a:lvl9pPr>
              <a:defRPr sz="2550" b="0">
                <a:solidFill>
                  <a:srgbClr val="173D46"/>
                </a:solidFill>
                <a:latin typeface="Arial"/>
                <a:ea typeface="Arial"/>
                <a:cs typeface="Arial"/>
              </a:defRPr>
            </a:lvl9pPr>
          </a:lstStyle>
          <a:p xmlns:a="http://schemas.openxmlformats.org/drawingml/2006/main">
            <a:pPr>
              <a:defRPr sz="2550" b="0">
                <a:solidFill>
                  <a:srgbClr val="173D46"/>
                </a:solidFill>
                <a:latin typeface="Arial"/>
                <a:ea typeface="Arial"/>
                <a:cs typeface="Arial"/>
              </a:defRPr>
            </a:pPr>
            <a:r>
              <a:rPr sz="2550" b="0">
                <a:solidFill>
                  <a:srgbClr val="173D46"/>
                </a:solidFill>
                <a:latin typeface="Arial"/>
                <a:ea typeface="Arial"/>
                <a:cs typeface="Arial"/>
              </a:rPr>
              <a:t>2. Executar no PC e observar o score</a:t>
            </a:r>
          </a:p>
        </p:txBody>
      </p:sp>
      <p:sp>
        <p:nvSpPr>
          <p:cNvPr id="7" name="">
            <a:extLst xmlns:a="http://schemas.openxmlformats.org/drawingml/2006/main">
              <a:ext uri="{FF2B5EF4-FFF2-40B4-BE49-F238E27FC236}">
                <a16:creationId xmlns:a16="http://schemas.microsoft.com/office/drawing/2014/main" id="{401FDC43-012B-4987-A9A6-7DBE4C25D545}"/>
              </a:ext>
            </a:extLst>
          </p:cNvPr>
          <p:cNvSpPr>
            <a:spLocks xmlns:a="http://schemas.openxmlformats.org/drawingml/2006/main" noGrp="1"/>
          </p:cNvSpPr>
          <p:nvPr/>
        </p:nvSpPr>
        <p:spPr>
          <a:xfrm xmlns:a="http://schemas.openxmlformats.org/drawingml/2006/main">
            <a:off x="619125" y="419100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73D46"/>
                </a:solidFill>
                <a:latin typeface="Arial"/>
                <a:ea typeface="Arial"/>
                <a:cs typeface="Arial"/>
              </a:defRPr>
            </a:defPPr>
            <a:lvl1pPr>
              <a:defRPr sz="2550" b="0">
                <a:solidFill>
                  <a:srgbClr val="173D46"/>
                </a:solidFill>
                <a:latin typeface="Arial"/>
                <a:ea typeface="Arial"/>
                <a:cs typeface="Arial"/>
              </a:defRPr>
            </a:lvl1pPr>
            <a:lvl2pPr>
              <a:defRPr sz="2550" b="0">
                <a:solidFill>
                  <a:srgbClr val="173D46"/>
                </a:solidFill>
                <a:latin typeface="Arial"/>
                <a:ea typeface="Arial"/>
                <a:cs typeface="Arial"/>
              </a:defRPr>
            </a:lvl2pPr>
            <a:lvl3pPr>
              <a:defRPr sz="2550" b="0">
                <a:solidFill>
                  <a:srgbClr val="173D46"/>
                </a:solidFill>
                <a:latin typeface="Arial"/>
                <a:ea typeface="Arial"/>
                <a:cs typeface="Arial"/>
              </a:defRPr>
            </a:lvl3pPr>
            <a:lvl4pPr>
              <a:defRPr sz="2550" b="0">
                <a:solidFill>
                  <a:srgbClr val="173D46"/>
                </a:solidFill>
                <a:latin typeface="Arial"/>
                <a:ea typeface="Arial"/>
                <a:cs typeface="Arial"/>
              </a:defRPr>
            </a:lvl4pPr>
            <a:lvl5pPr>
              <a:defRPr sz="2550" b="0">
                <a:solidFill>
                  <a:srgbClr val="173D46"/>
                </a:solidFill>
                <a:latin typeface="Arial"/>
                <a:ea typeface="Arial"/>
                <a:cs typeface="Arial"/>
              </a:defRPr>
            </a:lvl5pPr>
            <a:lvl6pPr>
              <a:defRPr sz="2550" b="0">
                <a:solidFill>
                  <a:srgbClr val="173D46"/>
                </a:solidFill>
                <a:latin typeface="Arial"/>
                <a:ea typeface="Arial"/>
                <a:cs typeface="Arial"/>
              </a:defRPr>
            </a:lvl6pPr>
            <a:lvl7pPr>
              <a:defRPr sz="2550" b="0">
                <a:solidFill>
                  <a:srgbClr val="173D46"/>
                </a:solidFill>
                <a:latin typeface="Arial"/>
                <a:ea typeface="Arial"/>
                <a:cs typeface="Arial"/>
              </a:defRPr>
            </a:lvl7pPr>
            <a:lvl8pPr>
              <a:defRPr sz="2550" b="0">
                <a:solidFill>
                  <a:srgbClr val="173D46"/>
                </a:solidFill>
                <a:latin typeface="Arial"/>
                <a:ea typeface="Arial"/>
                <a:cs typeface="Arial"/>
              </a:defRPr>
            </a:lvl8pPr>
            <a:lvl9pPr>
              <a:defRPr sz="2550" b="0">
                <a:solidFill>
                  <a:srgbClr val="173D46"/>
                </a:solidFill>
                <a:latin typeface="Arial"/>
                <a:ea typeface="Arial"/>
                <a:cs typeface="Arial"/>
              </a:defRPr>
            </a:lvl9pPr>
          </a:lstStyle>
          <a:p xmlns:a="http://schemas.openxmlformats.org/drawingml/2006/main">
            <a:pPr>
              <a:defRPr sz="2550" b="0">
                <a:solidFill>
                  <a:srgbClr val="173D46"/>
                </a:solidFill>
                <a:latin typeface="Arial"/>
                <a:ea typeface="Arial"/>
                <a:cs typeface="Arial"/>
              </a:defRPr>
            </a:pPr>
            <a:r>
              <a:rPr sz="2550" b="0">
                <a:solidFill>
                  <a:srgbClr val="173D46"/>
                </a:solidFill>
                <a:latin typeface="Arial"/>
                <a:ea typeface="Arial"/>
                <a:cs typeface="Arial"/>
              </a:rPr>
              <a:t>3. Enviar o mesmo PCM à placa e comparar</a:t>
            </a:r>
          </a:p>
        </p:txBody>
      </p:sp>
      <p:sp>
        <p:nvSpPr>
          <p:cNvPr id="8" name="">
            <a:extLst xmlns:a="http://schemas.openxmlformats.org/drawingml/2006/main">
              <a:ext uri="{FF2B5EF4-FFF2-40B4-BE49-F238E27FC236}">
                <a16:creationId xmlns:a16="http://schemas.microsoft.com/office/drawing/2014/main" id="{EE1C646D-74E8-4111-934F-BA4936F98444}"/>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Seis exemplos de validation. Microfone é um experimento separado</a:t>
            </a:r>
          </a:p>
        </p:txBody>
      </p:sp>
    </p:spTree>
    <p:extLst>
      <p:ext uri="{BB962C8B-B14F-4D97-AF65-F5344CB8AC3E}">
        <p14:creationId xmlns:p14="http://schemas.microsoft.com/office/powerpoint/2010/main" val="141826621"/>
      </p:ext>
    </p:extLst>
  </p:cSld>
</p:sld>
</file>

<file path=ppt/slides/slide27.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B89E7EE-8F87-4A71-BA94-2AC159EA7A48}"/>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F0F8EC9-CA6B-451D-9D29-E25392DECAB4}"/>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O que consegui e o que ainda falta</a:t>
            </a:r>
          </a:p>
        </p:txBody>
      </p:sp>
      <p:sp>
        <p:nvSpPr>
          <p:cNvPr id="4" name="">
            <a:extLst xmlns:a="http://schemas.openxmlformats.org/drawingml/2006/main">
              <a:ext uri="{FF2B5EF4-FFF2-40B4-BE49-F238E27FC236}">
                <a16:creationId xmlns:a16="http://schemas.microsoft.com/office/drawing/2014/main" id="{739FDC5D-0375-4F0E-A4EC-01F3E70E4A26}"/>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27</a:t>
            </a:r>
          </a:p>
        </p:txBody>
      </p:sp>
      <p:sp>
        <p:nvSpPr>
          <p:cNvPr id="5" name="">
            <a:extLst xmlns:a="http://schemas.openxmlformats.org/drawingml/2006/main">
              <a:ext uri="{FF2B5EF4-FFF2-40B4-BE49-F238E27FC236}">
                <a16:creationId xmlns:a16="http://schemas.microsoft.com/office/drawing/2014/main" id="{2646E06E-4CDC-4C7D-8699-02B313332B3D}"/>
              </a:ext>
            </a:extLst>
          </p:cNvPr>
          <p:cNvSpPr>
            <a:spLocks xmlns:a="http://schemas.openxmlformats.org/drawingml/2006/main" noGrp="1"/>
          </p:cNvSpPr>
          <p:nvPr/>
        </p:nvSpPr>
        <p:spPr>
          <a:xfrm xmlns:a="http://schemas.openxmlformats.org/drawingml/2006/main">
            <a:off x="619125" y="2143125"/>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766B"/>
                </a:solidFill>
                <a:latin typeface="Arial"/>
                <a:ea typeface="Arial"/>
                <a:cs typeface="Arial"/>
              </a:defRPr>
            </a:defPPr>
            <a:lvl1pPr>
              <a:defRPr sz="2850" b="1">
                <a:solidFill>
                  <a:srgbClr val="14766B"/>
                </a:solidFill>
                <a:latin typeface="Arial"/>
                <a:ea typeface="Arial"/>
                <a:cs typeface="Arial"/>
              </a:defRPr>
            </a:lvl1pPr>
            <a:lvl2pPr>
              <a:defRPr sz="2850" b="1">
                <a:solidFill>
                  <a:srgbClr val="14766B"/>
                </a:solidFill>
                <a:latin typeface="Arial"/>
                <a:ea typeface="Arial"/>
                <a:cs typeface="Arial"/>
              </a:defRPr>
            </a:lvl2pPr>
            <a:lvl3pPr>
              <a:defRPr sz="2850" b="1">
                <a:solidFill>
                  <a:srgbClr val="14766B"/>
                </a:solidFill>
                <a:latin typeface="Arial"/>
                <a:ea typeface="Arial"/>
                <a:cs typeface="Arial"/>
              </a:defRPr>
            </a:lvl3pPr>
            <a:lvl4pPr>
              <a:defRPr sz="2850" b="1">
                <a:solidFill>
                  <a:srgbClr val="14766B"/>
                </a:solidFill>
                <a:latin typeface="Arial"/>
                <a:ea typeface="Arial"/>
                <a:cs typeface="Arial"/>
              </a:defRPr>
            </a:lvl4pPr>
            <a:lvl5pPr>
              <a:defRPr sz="2850" b="1">
                <a:solidFill>
                  <a:srgbClr val="14766B"/>
                </a:solidFill>
                <a:latin typeface="Arial"/>
                <a:ea typeface="Arial"/>
                <a:cs typeface="Arial"/>
              </a:defRPr>
            </a:lvl5pPr>
            <a:lvl6pPr>
              <a:defRPr sz="2850" b="1">
                <a:solidFill>
                  <a:srgbClr val="14766B"/>
                </a:solidFill>
                <a:latin typeface="Arial"/>
                <a:ea typeface="Arial"/>
                <a:cs typeface="Arial"/>
              </a:defRPr>
            </a:lvl6pPr>
            <a:lvl7pPr>
              <a:defRPr sz="2850" b="1">
                <a:solidFill>
                  <a:srgbClr val="14766B"/>
                </a:solidFill>
                <a:latin typeface="Arial"/>
                <a:ea typeface="Arial"/>
                <a:cs typeface="Arial"/>
              </a:defRPr>
            </a:lvl7pPr>
            <a:lvl8pPr>
              <a:defRPr sz="2850" b="1">
                <a:solidFill>
                  <a:srgbClr val="14766B"/>
                </a:solidFill>
                <a:latin typeface="Arial"/>
                <a:ea typeface="Arial"/>
                <a:cs typeface="Arial"/>
              </a:defRPr>
            </a:lvl8pPr>
            <a:lvl9pPr>
              <a:defRPr sz="2850" b="1">
                <a:solidFill>
                  <a:srgbClr val="14766B"/>
                </a:solidFill>
                <a:latin typeface="Arial"/>
                <a:ea typeface="Arial"/>
                <a:cs typeface="Arial"/>
              </a:defRPr>
            </a:lvl9pPr>
          </a:lstStyle>
          <a:p xmlns:a="http://schemas.openxmlformats.org/drawingml/2006/main">
            <a:pPr>
              <a:defRPr sz="2850" b="1">
                <a:solidFill>
                  <a:srgbClr val="14766B"/>
                </a:solidFill>
                <a:latin typeface="Arial"/>
                <a:ea typeface="Arial"/>
                <a:cs typeface="Arial"/>
              </a:defRPr>
            </a:pPr>
            <a:r>
              <a:rPr sz="2850" b="1">
                <a:solidFill>
                  <a:srgbClr val="14766B"/>
                </a:solidFill>
                <a:latin typeface="Arial"/>
                <a:ea typeface="Arial"/>
                <a:cs typeface="Arial"/>
              </a:rPr>
              <a:t>Consegui executar e medir o modelo</a:t>
            </a:r>
          </a:p>
          <a:p xmlns:a="http://schemas.openxmlformats.org/drawingml/2006/main">
            <a:pPr>
              <a:defRPr sz="2850" b="1">
                <a:solidFill>
                  <a:srgbClr val="14766B"/>
                </a:solidFill>
                <a:latin typeface="Arial"/>
                <a:ea typeface="Arial"/>
                <a:cs typeface="Arial"/>
              </a:defRPr>
            </a:pPr>
            <a:r>
              <a:rPr sz="2850" b="1">
                <a:solidFill>
                  <a:srgbClr val="14766B"/>
                </a:solidFill>
                <a:latin typeface="Arial"/>
                <a:ea typeface="Arial"/>
                <a:cs typeface="Arial"/>
              </a:rPr>
              <a:t>no RP2040 com o test set completo.</a:t>
            </a:r>
          </a:p>
        </p:txBody>
      </p:sp>
      <p:sp>
        <p:nvSpPr>
          <p:cNvPr id="6" name="">
            <a:extLst xmlns:a="http://schemas.openxmlformats.org/drawingml/2006/main">
              <a:ext uri="{FF2B5EF4-FFF2-40B4-BE49-F238E27FC236}">
                <a16:creationId xmlns:a16="http://schemas.microsoft.com/office/drawing/2014/main" id="{EA97A6FA-70C7-4A07-ABBE-66263E4FC0D4}"/>
              </a:ext>
            </a:extLst>
          </p:cNvPr>
          <p:cNvSpPr>
            <a:spLocks xmlns:a="http://schemas.openxmlformats.org/drawingml/2006/main" noGrp="1"/>
          </p:cNvSpPr>
          <p:nvPr/>
        </p:nvSpPr>
        <p:spPr>
          <a:xfrm xmlns:a="http://schemas.openxmlformats.org/drawingml/2006/main">
            <a:off x="619125" y="3952875"/>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173D46"/>
                </a:solidFill>
                <a:latin typeface="Arial"/>
                <a:ea typeface="Arial"/>
                <a:cs typeface="Arial"/>
              </a:defRPr>
            </a:defPPr>
            <a:lvl1pPr>
              <a:defRPr sz="2625" b="0">
                <a:solidFill>
                  <a:srgbClr val="173D46"/>
                </a:solidFill>
                <a:latin typeface="Arial"/>
                <a:ea typeface="Arial"/>
                <a:cs typeface="Arial"/>
              </a:defRPr>
            </a:lvl1pPr>
            <a:lvl2pPr>
              <a:defRPr sz="2625" b="0">
                <a:solidFill>
                  <a:srgbClr val="173D46"/>
                </a:solidFill>
                <a:latin typeface="Arial"/>
                <a:ea typeface="Arial"/>
                <a:cs typeface="Arial"/>
              </a:defRPr>
            </a:lvl2pPr>
            <a:lvl3pPr>
              <a:defRPr sz="2625" b="0">
                <a:solidFill>
                  <a:srgbClr val="173D46"/>
                </a:solidFill>
                <a:latin typeface="Arial"/>
                <a:ea typeface="Arial"/>
                <a:cs typeface="Arial"/>
              </a:defRPr>
            </a:lvl3pPr>
            <a:lvl4pPr>
              <a:defRPr sz="2625" b="0">
                <a:solidFill>
                  <a:srgbClr val="173D46"/>
                </a:solidFill>
                <a:latin typeface="Arial"/>
                <a:ea typeface="Arial"/>
                <a:cs typeface="Arial"/>
              </a:defRPr>
            </a:lvl4pPr>
            <a:lvl5pPr>
              <a:defRPr sz="2625" b="0">
                <a:solidFill>
                  <a:srgbClr val="173D46"/>
                </a:solidFill>
                <a:latin typeface="Arial"/>
                <a:ea typeface="Arial"/>
                <a:cs typeface="Arial"/>
              </a:defRPr>
            </a:lvl5pPr>
            <a:lvl6pPr>
              <a:defRPr sz="2625" b="0">
                <a:solidFill>
                  <a:srgbClr val="173D46"/>
                </a:solidFill>
                <a:latin typeface="Arial"/>
                <a:ea typeface="Arial"/>
                <a:cs typeface="Arial"/>
              </a:defRPr>
            </a:lvl6pPr>
            <a:lvl7pPr>
              <a:defRPr sz="2625" b="0">
                <a:solidFill>
                  <a:srgbClr val="173D46"/>
                </a:solidFill>
                <a:latin typeface="Arial"/>
                <a:ea typeface="Arial"/>
                <a:cs typeface="Arial"/>
              </a:defRPr>
            </a:lvl7pPr>
            <a:lvl8pPr>
              <a:defRPr sz="2625" b="0">
                <a:solidFill>
                  <a:srgbClr val="173D46"/>
                </a:solidFill>
                <a:latin typeface="Arial"/>
                <a:ea typeface="Arial"/>
                <a:cs typeface="Arial"/>
              </a:defRPr>
            </a:lvl8pPr>
            <a:lvl9pPr>
              <a:defRPr sz="2625" b="0">
                <a:solidFill>
                  <a:srgbClr val="173D46"/>
                </a:solidFill>
                <a:latin typeface="Arial"/>
                <a:ea typeface="Arial"/>
                <a:cs typeface="Arial"/>
              </a:defRPr>
            </a:lvl9pPr>
          </a:lstStyle>
          <a:p xmlns:a="http://schemas.openxmlformats.org/drawingml/2006/main">
            <a:pPr>
              <a:defRPr sz="2625" b="0">
                <a:solidFill>
                  <a:srgbClr val="173D46"/>
                </a:solidFill>
                <a:latin typeface="Arial"/>
                <a:ea typeface="Arial"/>
                <a:cs typeface="Arial"/>
              </a:defRPr>
            </a:pPr>
            <a:r>
              <a:rPr sz="2625" b="0">
                <a:solidFill>
                  <a:srgbClr val="173D46"/>
                </a:solidFill>
                <a:latin typeface="Arial"/>
                <a:ea typeface="Arial"/>
                <a:cs typeface="Arial"/>
              </a:rPr>
              <a:t>Ainda preciso investigar os erros,</a:t>
            </a:r>
          </a:p>
          <a:p xmlns:a="http://schemas.openxmlformats.org/drawingml/2006/main">
            <a:pPr>
              <a:defRPr sz="2625" b="0">
                <a:solidFill>
                  <a:srgbClr val="173D46"/>
                </a:solidFill>
                <a:latin typeface="Arial"/>
                <a:ea typeface="Arial"/>
                <a:cs typeface="Arial"/>
              </a:defRPr>
            </a:pPr>
            <a:r>
              <a:rPr sz="2625" b="0">
                <a:solidFill>
                  <a:srgbClr val="173D46"/>
                </a:solidFill>
                <a:latin typeface="Arial"/>
                <a:ea typeface="Arial"/>
                <a:cs typeface="Arial"/>
              </a:rPr>
              <a:t>as diferenças numéricas e a aquisição real.</a:t>
            </a:r>
          </a:p>
        </p:txBody>
      </p:sp>
      <p:sp>
        <p:nvSpPr>
          <p:cNvPr id="7" name="">
            <a:extLst xmlns:a="http://schemas.openxmlformats.org/drawingml/2006/main">
              <a:ext uri="{FF2B5EF4-FFF2-40B4-BE49-F238E27FC236}">
                <a16:creationId xmlns:a16="http://schemas.microsoft.com/office/drawing/2014/main" id="{F077DCA0-752D-4C54-8905-5C3A17207AB0}"/>
              </a:ext>
            </a:extLst>
          </p:cNvPr>
          <p:cNvSpPr>
            <a:spLocks xmlns:a="http://schemas.openxmlformats.org/drawingml/2006/main" noGrp="1"/>
          </p:cNvSpPr>
          <p:nvPr/>
        </p:nvSpPr>
        <p:spPr>
          <a:xfrm xmlns:a="http://schemas.openxmlformats.org/drawingml/2006/main">
            <a:off x="628650" y="59055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B70"/>
                </a:solidFill>
                <a:latin typeface="Arial"/>
                <a:ea typeface="Arial"/>
                <a:cs typeface="Arial"/>
              </a:defRPr>
            </a:defPPr>
            <a:lvl1pPr>
              <a:defRPr sz="1350" b="0">
                <a:solidFill>
                  <a:srgbClr val="536B70"/>
                </a:solidFill>
                <a:latin typeface="Arial"/>
                <a:ea typeface="Arial"/>
                <a:cs typeface="Arial"/>
              </a:defRPr>
            </a:lvl1pPr>
            <a:lvl2pPr>
              <a:defRPr sz="1350" b="0">
                <a:solidFill>
                  <a:srgbClr val="536B70"/>
                </a:solidFill>
                <a:latin typeface="Arial"/>
                <a:ea typeface="Arial"/>
                <a:cs typeface="Arial"/>
              </a:defRPr>
            </a:lvl2pPr>
            <a:lvl3pPr>
              <a:defRPr sz="1350" b="0">
                <a:solidFill>
                  <a:srgbClr val="536B70"/>
                </a:solidFill>
                <a:latin typeface="Arial"/>
                <a:ea typeface="Arial"/>
                <a:cs typeface="Arial"/>
              </a:defRPr>
            </a:lvl3pPr>
            <a:lvl4pPr>
              <a:defRPr sz="1350" b="0">
                <a:solidFill>
                  <a:srgbClr val="536B70"/>
                </a:solidFill>
                <a:latin typeface="Arial"/>
                <a:ea typeface="Arial"/>
                <a:cs typeface="Arial"/>
              </a:defRPr>
            </a:lvl4pPr>
            <a:lvl5pPr>
              <a:defRPr sz="1350" b="0">
                <a:solidFill>
                  <a:srgbClr val="536B70"/>
                </a:solidFill>
                <a:latin typeface="Arial"/>
                <a:ea typeface="Arial"/>
                <a:cs typeface="Arial"/>
              </a:defRPr>
            </a:lvl5pPr>
            <a:lvl6pPr>
              <a:defRPr sz="1350" b="0">
                <a:solidFill>
                  <a:srgbClr val="536B70"/>
                </a:solidFill>
                <a:latin typeface="Arial"/>
                <a:ea typeface="Arial"/>
                <a:cs typeface="Arial"/>
              </a:defRPr>
            </a:lvl6pPr>
            <a:lvl7pPr>
              <a:defRPr sz="1350" b="0">
                <a:solidFill>
                  <a:srgbClr val="536B70"/>
                </a:solidFill>
                <a:latin typeface="Arial"/>
                <a:ea typeface="Arial"/>
                <a:cs typeface="Arial"/>
              </a:defRPr>
            </a:lvl7pPr>
            <a:lvl8pPr>
              <a:defRPr sz="1350" b="0">
                <a:solidFill>
                  <a:srgbClr val="536B70"/>
                </a:solidFill>
                <a:latin typeface="Arial"/>
                <a:ea typeface="Arial"/>
                <a:cs typeface="Arial"/>
              </a:defRPr>
            </a:lvl8pPr>
            <a:lvl9pPr>
              <a:defRPr sz="1350" b="0">
                <a:solidFill>
                  <a:srgbClr val="536B70"/>
                </a:solidFill>
                <a:latin typeface="Arial"/>
                <a:ea typeface="Arial"/>
                <a:cs typeface="Arial"/>
              </a:defRPr>
            </a:lvl9pPr>
          </a:lstStyle>
          <a:p xmlns:a="http://schemas.openxmlformats.org/drawingml/2006/main">
            <a:pPr>
              <a:defRPr sz="1350" b="0">
                <a:solidFill>
                  <a:srgbClr val="536B70"/>
                </a:solidFill>
                <a:latin typeface="Arial"/>
                <a:ea typeface="Arial"/>
                <a:cs typeface="Arial"/>
              </a:defRPr>
            </a:pPr>
            <a:r>
              <a:rPr sz="1350" b="0">
                <a:solidFill>
                  <a:srgbClr val="536B70"/>
                </a:solidFill>
                <a:latin typeface="Arial"/>
                <a:ea typeface="Arial"/>
                <a:cs typeface="Arial"/>
              </a:rPr>
              <a:t>TinyML foi viável neste replay digital; isso não estabelece validade clínica</a:t>
            </a:r>
          </a:p>
        </p:txBody>
      </p:sp>
    </p:spTree>
    <p:extLst>
      <p:ext uri="{BB962C8B-B14F-4D97-AF65-F5344CB8AC3E}">
        <p14:creationId xmlns:p14="http://schemas.microsoft.com/office/powerpoint/2010/main" val="1559899086"/>
      </p:ext>
    </p:extLst>
  </p:cSld>
</p:sld>
</file>

<file path=ppt/slides/slide28.xml><?xml version="1.0" encoding="utf-8"?>
<p:sld xmlns:p="http://schemas.openxmlformats.org/presentationml/2006/main">
  <p:cSld>
    <p:bg>
      <p:bgPr>
        <a:solidFill xmlns:a="http://schemas.openxmlformats.org/drawingml/2006/main">
          <a:srgbClr val="F4F6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6F3590F-F836-4F64-8706-6E4DBEDAB643}"/>
              </a:ext>
            </a:extLst>
          </p:cNvPr>
          <p:cNvSpPr>
            <a:spLocks xmlns:a="http://schemas.openxmlformats.org/drawingml/2006/main" noGrp="1"/>
          </p:cNvSpPr>
          <p:nvPr/>
        </p:nvSpPr>
        <p:spPr>
          <a:xfrm xmlns:a="http://schemas.openxmlformats.org/drawingml/2006/main">
            <a:off x="609600" y="533400"/>
            <a:ext cx="533400" cy="47625"/>
          </a:xfrm>
          <a:prstGeom xmlns:a="http://schemas.openxmlformats.org/drawingml/2006/main" prst="rect">
            <a:avLst/>
          </a:prstGeom>
          <a:solidFill xmlns:a="http://schemas.openxmlformats.org/drawingml/2006/main">
            <a:srgbClr val="14766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FEBFD03-71AD-4351-A8A1-F1CFFF23723B}"/>
              </a:ext>
            </a:extLst>
          </p:cNvPr>
          <p:cNvSpPr>
            <a:spLocks xmlns:a="http://schemas.openxmlformats.org/drawingml/2006/main" noGrp="1"/>
          </p:cNvSpPr>
          <p:nvPr/>
        </p:nvSpPr>
        <p:spPr>
          <a:xfrm xmlns:a="http://schemas.openxmlformats.org/drawingml/2006/main">
            <a:off x="609600" y="8382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D46"/>
                </a:solidFill>
                <a:latin typeface="Arial"/>
                <a:ea typeface="Arial"/>
                <a:cs typeface="Arial"/>
              </a:defRPr>
            </a:defPPr>
            <a:lvl1pPr>
              <a:defRPr sz="3150" b="1">
                <a:solidFill>
                  <a:srgbClr val="173D46"/>
                </a:solidFill>
                <a:latin typeface="Arial"/>
                <a:ea typeface="Arial"/>
                <a:cs typeface="Arial"/>
              </a:defRPr>
            </a:lvl1pPr>
            <a:lvl2pPr>
              <a:defRPr sz="3150" b="1">
                <a:solidFill>
                  <a:srgbClr val="173D46"/>
                </a:solidFill>
                <a:latin typeface="Arial"/>
                <a:ea typeface="Arial"/>
                <a:cs typeface="Arial"/>
              </a:defRPr>
            </a:lvl2pPr>
            <a:lvl3pPr>
              <a:defRPr sz="3150" b="1">
                <a:solidFill>
                  <a:srgbClr val="173D46"/>
                </a:solidFill>
                <a:latin typeface="Arial"/>
                <a:ea typeface="Arial"/>
                <a:cs typeface="Arial"/>
              </a:defRPr>
            </a:lvl3pPr>
            <a:lvl4pPr>
              <a:defRPr sz="3150" b="1">
                <a:solidFill>
                  <a:srgbClr val="173D46"/>
                </a:solidFill>
                <a:latin typeface="Arial"/>
                <a:ea typeface="Arial"/>
                <a:cs typeface="Arial"/>
              </a:defRPr>
            </a:lvl4pPr>
            <a:lvl5pPr>
              <a:defRPr sz="3150" b="1">
                <a:solidFill>
                  <a:srgbClr val="173D46"/>
                </a:solidFill>
                <a:latin typeface="Arial"/>
                <a:ea typeface="Arial"/>
                <a:cs typeface="Arial"/>
              </a:defRPr>
            </a:lvl5pPr>
            <a:lvl6pPr>
              <a:defRPr sz="3150" b="1">
                <a:solidFill>
                  <a:srgbClr val="173D46"/>
                </a:solidFill>
                <a:latin typeface="Arial"/>
                <a:ea typeface="Arial"/>
                <a:cs typeface="Arial"/>
              </a:defRPr>
            </a:lvl6pPr>
            <a:lvl7pPr>
              <a:defRPr sz="3150" b="1">
                <a:solidFill>
                  <a:srgbClr val="173D46"/>
                </a:solidFill>
                <a:latin typeface="Arial"/>
                <a:ea typeface="Arial"/>
                <a:cs typeface="Arial"/>
              </a:defRPr>
            </a:lvl7pPr>
            <a:lvl8pPr>
              <a:defRPr sz="3150" b="1">
                <a:solidFill>
                  <a:srgbClr val="173D46"/>
                </a:solidFill>
                <a:latin typeface="Arial"/>
                <a:ea typeface="Arial"/>
                <a:cs typeface="Arial"/>
              </a:defRPr>
            </a:lvl8pPr>
            <a:lvl9pPr>
              <a:defRPr sz="3150" b="1">
                <a:solidFill>
                  <a:srgbClr val="173D46"/>
                </a:solidFill>
                <a:latin typeface="Arial"/>
                <a:ea typeface="Arial"/>
                <a:cs typeface="Arial"/>
              </a:defRPr>
            </a:lvl9pPr>
          </a:lstStyle>
          <a:p xmlns:a="http://schemas.openxmlformats.org/drawingml/2006/main">
            <a:pPr>
              <a:defRPr sz="3150" b="1">
                <a:solidFill>
                  <a:srgbClr val="173D46"/>
                </a:solidFill>
                <a:latin typeface="Arial"/>
                <a:ea typeface="Arial"/>
                <a:cs typeface="Arial"/>
              </a:defRPr>
            </a:pPr>
            <a:r>
              <a:rPr sz="3150" b="1">
                <a:solidFill>
                  <a:srgbClr val="173D46"/>
                </a:solidFill>
                <a:latin typeface="Arial"/>
                <a:ea typeface="Arial"/>
                <a:cs typeface="Arial"/>
              </a:rPr>
              <a:t>Referências e onde reproduzir</a:t>
            </a:r>
          </a:p>
        </p:txBody>
      </p:sp>
      <p:sp>
        <p:nvSpPr>
          <p:cNvPr id="4" name="">
            <a:extLst xmlns:a="http://schemas.openxmlformats.org/drawingml/2006/main">
              <a:ext uri="{FF2B5EF4-FFF2-40B4-BE49-F238E27FC236}">
                <a16:creationId xmlns:a16="http://schemas.microsoft.com/office/drawing/2014/main" id="{05F85A1B-46FD-48D0-90F0-C0ACD0F1B66F}"/>
              </a:ext>
            </a:extLst>
          </p:cNvPr>
          <p:cNvSpPr>
            <a:spLocks xmlns:a="http://schemas.openxmlformats.org/drawingml/2006/main" noGrp="1"/>
          </p:cNvSpPr>
          <p:nvPr/>
        </p:nvSpPr>
        <p:spPr>
          <a:xfrm xmlns:a="http://schemas.openxmlformats.org/drawingml/2006/main">
            <a:off x="11096625" y="6362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B70"/>
                </a:solidFill>
                <a:latin typeface="Arial"/>
                <a:ea typeface="Arial"/>
                <a:cs typeface="Arial"/>
              </a:defRPr>
            </a:defPPr>
            <a:lvl1pPr>
              <a:defRPr sz="1125" b="0">
                <a:solidFill>
                  <a:srgbClr val="536B70"/>
                </a:solidFill>
                <a:latin typeface="Arial"/>
                <a:ea typeface="Arial"/>
                <a:cs typeface="Arial"/>
              </a:defRPr>
            </a:lvl1pPr>
            <a:lvl2pPr>
              <a:defRPr sz="1125" b="0">
                <a:solidFill>
                  <a:srgbClr val="536B70"/>
                </a:solidFill>
                <a:latin typeface="Arial"/>
                <a:ea typeface="Arial"/>
                <a:cs typeface="Arial"/>
              </a:defRPr>
            </a:lvl2pPr>
            <a:lvl3pPr>
              <a:defRPr sz="1125" b="0">
                <a:solidFill>
                  <a:srgbClr val="536B70"/>
                </a:solidFill>
                <a:latin typeface="Arial"/>
                <a:ea typeface="Arial"/>
                <a:cs typeface="Arial"/>
              </a:defRPr>
            </a:lvl3pPr>
            <a:lvl4pPr>
              <a:defRPr sz="1125" b="0">
                <a:solidFill>
                  <a:srgbClr val="536B70"/>
                </a:solidFill>
                <a:latin typeface="Arial"/>
                <a:ea typeface="Arial"/>
                <a:cs typeface="Arial"/>
              </a:defRPr>
            </a:lvl4pPr>
            <a:lvl5pPr>
              <a:defRPr sz="1125" b="0">
                <a:solidFill>
                  <a:srgbClr val="536B70"/>
                </a:solidFill>
                <a:latin typeface="Arial"/>
                <a:ea typeface="Arial"/>
                <a:cs typeface="Arial"/>
              </a:defRPr>
            </a:lvl5pPr>
            <a:lvl6pPr>
              <a:defRPr sz="1125" b="0">
                <a:solidFill>
                  <a:srgbClr val="536B70"/>
                </a:solidFill>
                <a:latin typeface="Arial"/>
                <a:ea typeface="Arial"/>
                <a:cs typeface="Arial"/>
              </a:defRPr>
            </a:lvl6pPr>
            <a:lvl7pPr>
              <a:defRPr sz="1125" b="0">
                <a:solidFill>
                  <a:srgbClr val="536B70"/>
                </a:solidFill>
                <a:latin typeface="Arial"/>
                <a:ea typeface="Arial"/>
                <a:cs typeface="Arial"/>
              </a:defRPr>
            </a:lvl7pPr>
            <a:lvl8pPr>
              <a:defRPr sz="1125" b="0">
                <a:solidFill>
                  <a:srgbClr val="536B70"/>
                </a:solidFill>
                <a:latin typeface="Arial"/>
                <a:ea typeface="Arial"/>
                <a:cs typeface="Arial"/>
              </a:defRPr>
            </a:lvl8pPr>
            <a:lvl9pPr>
              <a:defRPr sz="1125" b="0">
                <a:solidFill>
                  <a:srgbClr val="536B70"/>
                </a:solidFill>
                <a:latin typeface="Arial"/>
                <a:ea typeface="Arial"/>
                <a:cs typeface="Arial"/>
              </a:defRPr>
            </a:lvl9pPr>
          </a:lstStyle>
          <a:p xmlns:a="http://schemas.openxmlformats.org/drawingml/2006/main">
            <a:pPr>
              <a:defRPr sz="1125" b="0">
                <a:solidFill>
                  <a:srgbClr val="536B70"/>
                </a:solidFill>
                <a:latin typeface="Arial"/>
                <a:ea typeface="Arial"/>
                <a:cs typeface="Arial"/>
              </a:defRPr>
            </a:pPr>
            <a:r>
              <a:rPr sz="1125" b="0">
                <a:solidFill>
                  <a:srgbClr val="536B70"/>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B2D6FFBD-6061-4251-845E-0685C5B0F63D}"/>
              </a:ext>
            </a:extLst>
          </p:cNvPr>
          <p:cNvSpPr>
            <a:spLocks xmlns:a="http://schemas.openxmlformats.org/drawingml/2006/main" noGrp="1"/>
          </p:cNvSpPr>
          <p:nvPr/>
        </p:nvSpPr>
        <p:spPr>
          <a:xfrm xmlns:a="http://schemas.openxmlformats.org/drawingml/2006/main">
            <a:off x="619125" y="1905000"/>
            <a:ext cx="10953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D46"/>
                </a:solidFill>
                <a:latin typeface="Arial"/>
                <a:ea typeface="Arial"/>
                <a:cs typeface="Arial"/>
              </a:defRPr>
            </a:defPPr>
            <a:lvl1pPr>
              <a:defRPr sz="1875" b="0">
                <a:solidFill>
                  <a:srgbClr val="173D46"/>
                </a:solidFill>
                <a:latin typeface="Arial"/>
                <a:ea typeface="Arial"/>
                <a:cs typeface="Arial"/>
              </a:defRPr>
            </a:lvl1pPr>
            <a:lvl2pPr>
              <a:defRPr sz="1875" b="0">
                <a:solidFill>
                  <a:srgbClr val="173D46"/>
                </a:solidFill>
                <a:latin typeface="Arial"/>
                <a:ea typeface="Arial"/>
                <a:cs typeface="Arial"/>
              </a:defRPr>
            </a:lvl2pPr>
            <a:lvl3pPr>
              <a:defRPr sz="1875" b="0">
                <a:solidFill>
                  <a:srgbClr val="173D46"/>
                </a:solidFill>
                <a:latin typeface="Arial"/>
                <a:ea typeface="Arial"/>
                <a:cs typeface="Arial"/>
              </a:defRPr>
            </a:lvl3pPr>
            <a:lvl4pPr>
              <a:defRPr sz="1875" b="0">
                <a:solidFill>
                  <a:srgbClr val="173D46"/>
                </a:solidFill>
                <a:latin typeface="Arial"/>
                <a:ea typeface="Arial"/>
                <a:cs typeface="Arial"/>
              </a:defRPr>
            </a:lvl4pPr>
            <a:lvl5pPr>
              <a:defRPr sz="1875" b="0">
                <a:solidFill>
                  <a:srgbClr val="173D46"/>
                </a:solidFill>
                <a:latin typeface="Arial"/>
                <a:ea typeface="Arial"/>
                <a:cs typeface="Arial"/>
              </a:defRPr>
            </a:lvl5pPr>
            <a:lvl6pPr>
              <a:defRPr sz="1875" b="0">
                <a:solidFill>
                  <a:srgbClr val="173D46"/>
                </a:solidFill>
                <a:latin typeface="Arial"/>
                <a:ea typeface="Arial"/>
                <a:cs typeface="Arial"/>
              </a:defRPr>
            </a:lvl6pPr>
            <a:lvl7pPr>
              <a:defRPr sz="1875" b="0">
                <a:solidFill>
                  <a:srgbClr val="173D46"/>
                </a:solidFill>
                <a:latin typeface="Arial"/>
                <a:ea typeface="Arial"/>
                <a:cs typeface="Arial"/>
              </a:defRPr>
            </a:lvl7pPr>
            <a:lvl8pPr>
              <a:defRPr sz="1875" b="0">
                <a:solidFill>
                  <a:srgbClr val="173D46"/>
                </a:solidFill>
                <a:latin typeface="Arial"/>
                <a:ea typeface="Arial"/>
                <a:cs typeface="Arial"/>
              </a:defRPr>
            </a:lvl8pPr>
            <a:lvl9pPr>
              <a:defRPr sz="1875" b="0">
                <a:solidFill>
                  <a:srgbClr val="173D46"/>
                </a:solidFill>
                <a:latin typeface="Arial"/>
                <a:ea typeface="Arial"/>
                <a:cs typeface="Arial"/>
              </a:defRPr>
            </a:lvl9pPr>
          </a:lstStyle>
          <a:p xmlns:a="http://schemas.openxmlformats.org/drawingml/2006/main">
            <a:pPr>
              <a:defRPr sz="1875" b="0">
                <a:solidFill>
                  <a:srgbClr val="173D46"/>
                </a:solidFill>
                <a:latin typeface="Arial"/>
                <a:ea typeface="Arial"/>
                <a:cs typeface="Arial"/>
              </a:defRPr>
            </a:pPr>
            <a:r>
              <a:rPr sz="1875" b="0">
                <a:solidFill>
                  <a:srgbClr val="173D46"/>
                </a:solidFill>
                <a:latin typeface="Arial"/>
                <a:ea typeface="Arial"/>
                <a:cs typeface="Arial"/>
              </a:rPr>
              <a:t>Oliveira et al. • CirCor / IEEE JBHI, 2022</a:t>
            </a:r>
          </a:p>
          <a:p xmlns:a="http://schemas.openxmlformats.org/drawingml/2006/main">
            <a:pPr>
              <a:defRPr sz="1875" b="0">
                <a:solidFill>
                  <a:srgbClr val="173D46"/>
                </a:solidFill>
                <a:latin typeface="Arial"/>
                <a:ea typeface="Arial"/>
                <a:cs typeface="Arial"/>
              </a:defRPr>
            </a:pPr>
            <a:r>
              <a:rPr sz="1875" b="0">
                <a:solidFill>
                  <a:srgbClr val="173D46"/>
                </a:solidFill>
                <a:latin typeface="Arial"/>
                <a:ea typeface="Arial"/>
                <a:cs typeface="Arial"/>
              </a:rPr>
              <a:t>DOI 10.1109/JBHI.2021.3137048 • Dataset 10.13026/tshs-mw03</a:t>
            </a:r>
          </a:p>
          <a:p xmlns:a="http://schemas.openxmlformats.org/drawingml/2006/main">
            <a:r>
              <a:t/>
            </a:r>
          </a:p>
          <a:p xmlns:a="http://schemas.openxmlformats.org/drawingml/2006/main">
            <a:pPr>
              <a:defRPr sz="1875" b="0">
                <a:solidFill>
                  <a:srgbClr val="173D46"/>
                </a:solidFill>
                <a:latin typeface="Arial"/>
                <a:ea typeface="Arial"/>
                <a:cs typeface="Arial"/>
              </a:defRPr>
            </a:pPr>
            <a:r>
              <a:rPr sz="1875" b="0">
                <a:solidFill>
                  <a:srgbClr val="173D46"/>
                </a:solidFill>
                <a:latin typeface="Arial"/>
                <a:ea typeface="Arial"/>
                <a:cs typeface="Arial"/>
              </a:rPr>
              <a:t>Reyna et al. • PhysioNet Challenge 2022 / PLOS, 2023</a:t>
            </a:r>
          </a:p>
          <a:p xmlns:a="http://schemas.openxmlformats.org/drawingml/2006/main">
            <a:pPr>
              <a:defRPr sz="1875" b="0">
                <a:solidFill>
                  <a:srgbClr val="173D46"/>
                </a:solidFill>
                <a:latin typeface="Arial"/>
                <a:ea typeface="Arial"/>
                <a:cs typeface="Arial"/>
              </a:defRPr>
            </a:pPr>
            <a:r>
              <a:rPr sz="1875" b="0">
                <a:solidFill>
                  <a:srgbClr val="173D46"/>
                </a:solidFill>
                <a:latin typeface="Arial"/>
                <a:ea typeface="Arial"/>
                <a:cs typeface="Arial"/>
              </a:rPr>
              <a:t>DOI 10.1371/journal.pdig.0000324</a:t>
            </a:r>
          </a:p>
          <a:p xmlns:a="http://schemas.openxmlformats.org/drawingml/2006/main">
            <a:r>
              <a:t/>
            </a:r>
          </a:p>
          <a:p xmlns:a="http://schemas.openxmlformats.org/drawingml/2006/main">
            <a:pPr>
              <a:defRPr sz="1875" b="0">
                <a:solidFill>
                  <a:srgbClr val="173D46"/>
                </a:solidFill>
                <a:latin typeface="Arial"/>
                <a:ea typeface="Arial"/>
                <a:cs typeface="Arial"/>
              </a:defRPr>
            </a:pPr>
            <a:r>
              <a:rPr sz="1875" b="0">
                <a:solidFill>
                  <a:srgbClr val="173D46"/>
                </a:solidFill>
                <a:latin typeface="Arial"/>
                <a:ea typeface="Arial"/>
                <a:cs typeface="Arial"/>
              </a:rPr>
              <a:t>David et al. • TensorFlow Lite Micro / MLSys, 2021</a:t>
            </a:r>
          </a:p>
          <a:p xmlns:a="http://schemas.openxmlformats.org/drawingml/2006/main">
            <a:pPr>
              <a:defRPr sz="1875" b="0">
                <a:solidFill>
                  <a:srgbClr val="173D46"/>
                </a:solidFill>
                <a:latin typeface="Arial"/>
                <a:ea typeface="Arial"/>
                <a:cs typeface="Arial"/>
              </a:defRPr>
            </a:pPr>
            <a:r>
              <a:rPr sz="1875" b="0">
                <a:solidFill>
                  <a:srgbClr val="173D46"/>
                </a:solidFill>
                <a:latin typeface="Arial"/>
                <a:ea typeface="Arial"/>
                <a:cs typeface="Arial"/>
              </a:rPr>
              <a:t>Google AI Edge • LiteRT 8-bit quantization specification</a:t>
            </a:r>
          </a:p>
          <a:p xmlns:a="http://schemas.openxmlformats.org/drawingml/2006/main">
            <a:pPr>
              <a:defRPr sz="1875" b="0">
                <a:solidFill>
                  <a:srgbClr val="173D46"/>
                </a:solidFill>
                <a:latin typeface="Arial"/>
                <a:ea typeface="Arial"/>
                <a:cs typeface="Arial"/>
              </a:defRPr>
            </a:pPr>
            <a:r>
              <a:rPr sz="1875" b="0">
                <a:solidFill>
                  <a:srgbClr val="173D46"/>
                </a:solidFill>
                <a:latin typeface="Arial"/>
                <a:ea typeface="Arial"/>
                <a:cs typeface="Arial"/>
              </a:rPr>
              <a:t>American Heart Association • Heart Murmurs</a:t>
            </a:r>
          </a:p>
        </p:txBody>
      </p:sp>
      <p:sp>
        <p:nvSpPr>
          <p:cNvPr id="6" name="">
            <a:extLst xmlns:a="http://schemas.openxmlformats.org/drawingml/2006/main">
              <a:ext uri="{FF2B5EF4-FFF2-40B4-BE49-F238E27FC236}">
                <a16:creationId xmlns:a16="http://schemas.microsoft.com/office/drawing/2014/main" id="{B78E1CAA-CA5E-418A-8851-C8CFFA543AA2}"/>
              </a:ext>
            </a:extLst>
          </p:cNvPr>
          <p:cNvSpPr>
            <a:spLocks xmlns:a="http://schemas.openxmlformats.org/drawingml/2006/main" noGrp="1"/>
          </p:cNvSpPr>
          <p:nvPr/>
        </p:nvSpPr>
        <p:spPr>
          <a:xfrm xmlns:a="http://schemas.openxmlformats.org/drawingml/2006/main">
            <a:off x="619125" y="52863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4766B"/>
                </a:solidFill>
                <a:latin typeface="Arial"/>
                <a:ea typeface="Arial"/>
                <a:cs typeface="Arial"/>
              </a:defRPr>
            </a:defPPr>
            <a:lvl1pPr>
              <a:defRPr sz="2325" b="1">
                <a:solidFill>
                  <a:srgbClr val="14766B"/>
                </a:solidFill>
                <a:latin typeface="Arial"/>
                <a:ea typeface="Arial"/>
                <a:cs typeface="Arial"/>
              </a:defRPr>
            </a:lvl1pPr>
            <a:lvl2pPr>
              <a:defRPr sz="2325" b="1">
                <a:solidFill>
                  <a:srgbClr val="14766B"/>
                </a:solidFill>
                <a:latin typeface="Arial"/>
                <a:ea typeface="Arial"/>
                <a:cs typeface="Arial"/>
              </a:defRPr>
            </a:lvl2pPr>
            <a:lvl3pPr>
              <a:defRPr sz="2325" b="1">
                <a:solidFill>
                  <a:srgbClr val="14766B"/>
                </a:solidFill>
                <a:latin typeface="Arial"/>
                <a:ea typeface="Arial"/>
                <a:cs typeface="Arial"/>
              </a:defRPr>
            </a:lvl3pPr>
            <a:lvl4pPr>
              <a:defRPr sz="2325" b="1">
                <a:solidFill>
                  <a:srgbClr val="14766B"/>
                </a:solidFill>
                <a:latin typeface="Arial"/>
                <a:ea typeface="Arial"/>
                <a:cs typeface="Arial"/>
              </a:defRPr>
            </a:lvl4pPr>
            <a:lvl5pPr>
              <a:defRPr sz="2325" b="1">
                <a:solidFill>
                  <a:srgbClr val="14766B"/>
                </a:solidFill>
                <a:latin typeface="Arial"/>
                <a:ea typeface="Arial"/>
                <a:cs typeface="Arial"/>
              </a:defRPr>
            </a:lvl5pPr>
            <a:lvl6pPr>
              <a:defRPr sz="2325" b="1">
                <a:solidFill>
                  <a:srgbClr val="14766B"/>
                </a:solidFill>
                <a:latin typeface="Arial"/>
                <a:ea typeface="Arial"/>
                <a:cs typeface="Arial"/>
              </a:defRPr>
            </a:lvl6pPr>
            <a:lvl7pPr>
              <a:defRPr sz="2325" b="1">
                <a:solidFill>
                  <a:srgbClr val="14766B"/>
                </a:solidFill>
                <a:latin typeface="Arial"/>
                <a:ea typeface="Arial"/>
                <a:cs typeface="Arial"/>
              </a:defRPr>
            </a:lvl7pPr>
            <a:lvl8pPr>
              <a:defRPr sz="2325" b="1">
                <a:solidFill>
                  <a:srgbClr val="14766B"/>
                </a:solidFill>
                <a:latin typeface="Arial"/>
                <a:ea typeface="Arial"/>
                <a:cs typeface="Arial"/>
              </a:defRPr>
            </a:lvl8pPr>
            <a:lvl9pPr>
              <a:defRPr sz="2325" b="1">
                <a:solidFill>
                  <a:srgbClr val="14766B"/>
                </a:solidFill>
                <a:latin typeface="Arial"/>
                <a:ea typeface="Arial"/>
                <a:cs typeface="Arial"/>
              </a:defRPr>
            </a:lvl9pPr>
          </a:lstStyle>
          <a:p xmlns:a="http://schemas.openxmlformats.org/drawingml/2006/main">
            <a:pPr>
              <a:defRPr sz="2325" b="1">
                <a:solidFill>
                  <a:srgbClr val="14766B"/>
                </a:solidFill>
                <a:latin typeface="Arial"/>
                <a:ea typeface="Arial"/>
                <a:cs typeface="Arial"/>
              </a:defRPr>
            </a:pPr>
            <a:r>
              <a:rPr sz="2325" b="1">
                <a:solidFill>
                  <a:srgbClr val="14766B"/>
                </a:solidFill>
                <a:latin typeface="Arial"/>
                <a:ea typeface="Arial"/>
                <a:cs typeface="Arial"/>
              </a:rPr>
              <a:t>github.com/Lawtrel/bitdoglab-heart-tinyml</a:t>
            </a:r>
          </a:p>
        </p:txBody>
      </p:sp>
    </p:spTree>
    <p:extLst>
      <p:ext uri="{BB962C8B-B14F-4D97-AF65-F5344CB8AC3E}">
        <p14:creationId xmlns:p14="http://schemas.microsoft.com/office/powerpoint/2010/main" val="14922411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2026-10-27T14:49:49.1890000Z</dcterms:created>
  <dcterms:modified xsi:type="dcterms:W3CDTF">2026-10-27T14:49:49.1890000Z</dcterms:modified>
</coreProperties>
</file>