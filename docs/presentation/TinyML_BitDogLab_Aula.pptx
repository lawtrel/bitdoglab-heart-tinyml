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3a0ffb5a22497e" /><Relationship Type="http://schemas.openxmlformats.org/officeDocument/2006/relationships/extended-properties" Target="/docProps/app.xml" Id="R200d40ceba89431f" /><Relationship Type="http://schemas.openxmlformats.org/officeDocument/2006/relationships/officeDocument" Target="/ppt/presentation.xml" Id="R98ae7d269c8444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3947759b41451f"/>
  </p:sldMasterIdLst>
  <p:notesMasterIdLst>
    <p:notesMasterId xmlns:r="http://schemas.openxmlformats.org/officeDocument/2006/relationships" r:id="Rff68feb797a447b7"/>
  </p:notesMasterIdLst>
  <p:sldIdLst>
    <p:sldId xmlns:r="http://schemas.openxmlformats.org/officeDocument/2006/relationships" id="256" r:id="R4c107c8d1e174901"/>
    <p:sldId xmlns:r="http://schemas.openxmlformats.org/officeDocument/2006/relationships" id="257" r:id="R27d6faa716cd4506"/>
    <p:sldId xmlns:r="http://schemas.openxmlformats.org/officeDocument/2006/relationships" id="258" r:id="R82f6b8c4ccdb416c"/>
    <p:sldId xmlns:r="http://schemas.openxmlformats.org/officeDocument/2006/relationships" id="259" r:id="Rbbf6b42279fc4ac0"/>
    <p:sldId xmlns:r="http://schemas.openxmlformats.org/officeDocument/2006/relationships" id="260" r:id="Rab2a853af5b1498e"/>
    <p:sldId xmlns:r="http://schemas.openxmlformats.org/officeDocument/2006/relationships" id="261" r:id="R22fe4661f4b94c0b"/>
    <p:sldId xmlns:r="http://schemas.openxmlformats.org/officeDocument/2006/relationships" id="262" r:id="R086baac349fe491c"/>
    <p:sldId xmlns:r="http://schemas.openxmlformats.org/officeDocument/2006/relationships" id="263" r:id="R89986d6314c54080"/>
    <p:sldId xmlns:r="http://schemas.openxmlformats.org/officeDocument/2006/relationships" id="264" r:id="R1f06d06e1adf4ae3"/>
    <p:sldId xmlns:r="http://schemas.openxmlformats.org/officeDocument/2006/relationships" id="265" r:id="R81bfde754f0948ff"/>
    <p:sldId xmlns:r="http://schemas.openxmlformats.org/officeDocument/2006/relationships" id="266" r:id="Rd76b415c1faa4940"/>
    <p:sldId xmlns:r="http://schemas.openxmlformats.org/officeDocument/2006/relationships" id="267" r:id="R0252bfedb63f4c71"/>
    <p:sldId xmlns:r="http://schemas.openxmlformats.org/officeDocument/2006/relationships" id="268" r:id="Ra51c223aa7a347fa"/>
    <p:sldId xmlns:r="http://schemas.openxmlformats.org/officeDocument/2006/relationships" id="269" r:id="R1979bdcdd506477e"/>
    <p:sldId xmlns:r="http://schemas.openxmlformats.org/officeDocument/2006/relationships" id="270" r:id="Rc5ddb5e2e75c415e"/>
    <p:sldId xmlns:r="http://schemas.openxmlformats.org/officeDocument/2006/relationships" id="271" r:id="R01b10c6fbc6f4679"/>
    <p:sldId xmlns:r="http://schemas.openxmlformats.org/officeDocument/2006/relationships" id="272" r:id="R74636ceb4be9480d"/>
    <p:sldId xmlns:r="http://schemas.openxmlformats.org/officeDocument/2006/relationships" id="273" r:id="R4d156f62add4499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5a70a8bdff4484" /><Relationship Type="http://schemas.openxmlformats.org/officeDocument/2006/relationships/slideMaster" Target="/ppt/slideMasters/slideMaster1.xml" Id="R393947759b41451f" /><Relationship Type="http://schemas.openxmlformats.org/officeDocument/2006/relationships/notesMaster" Target="/ppt/notesMasters/notesMaster1.xml" Id="Rff68feb797a447b7" /><Relationship Type="http://schemas.openxmlformats.org/officeDocument/2006/relationships/presProps" Target="/ppt/presProps.xml" Id="Rfd4d54e5860d4606" /><Relationship Type="http://schemas.openxmlformats.org/officeDocument/2006/relationships/tableStyles" Target="/ppt/tableStyles.xml" Id="R0d70205e6ce94b39" /><Relationship Type="http://schemas.openxmlformats.org/officeDocument/2006/relationships/slide" Target="/ppt/slides/slide1.xml" Id="R4c107c8d1e174901" /><Relationship Type="http://schemas.openxmlformats.org/officeDocument/2006/relationships/slide" Target="/ppt/slides/slide2.xml" Id="R27d6faa716cd4506" /><Relationship Type="http://schemas.openxmlformats.org/officeDocument/2006/relationships/slide" Target="/ppt/slides/slide3.xml" Id="R82f6b8c4ccdb416c" /><Relationship Type="http://schemas.openxmlformats.org/officeDocument/2006/relationships/slide" Target="/ppt/slides/slide4.xml" Id="Rbbf6b42279fc4ac0" /><Relationship Type="http://schemas.openxmlformats.org/officeDocument/2006/relationships/slide" Target="/ppt/slides/slide5.xml" Id="Rab2a853af5b1498e" /><Relationship Type="http://schemas.openxmlformats.org/officeDocument/2006/relationships/slide" Target="/ppt/slides/slide6.xml" Id="R22fe4661f4b94c0b" /><Relationship Type="http://schemas.openxmlformats.org/officeDocument/2006/relationships/slide" Target="/ppt/slides/slide7.xml" Id="R086baac349fe491c" /><Relationship Type="http://schemas.openxmlformats.org/officeDocument/2006/relationships/slide" Target="/ppt/slides/slide8.xml" Id="R89986d6314c54080" /><Relationship Type="http://schemas.openxmlformats.org/officeDocument/2006/relationships/slide" Target="/ppt/slides/slide9.xml" Id="R1f06d06e1adf4ae3" /><Relationship Type="http://schemas.openxmlformats.org/officeDocument/2006/relationships/slide" Target="/ppt/slides/slide10.xml" Id="R81bfde754f0948ff" /><Relationship Type="http://schemas.openxmlformats.org/officeDocument/2006/relationships/slide" Target="/ppt/slides/slide11.xml" Id="Rd76b415c1faa4940" /><Relationship Type="http://schemas.openxmlformats.org/officeDocument/2006/relationships/slide" Target="/ppt/slides/slide12.xml" Id="R0252bfedb63f4c71" /><Relationship Type="http://schemas.openxmlformats.org/officeDocument/2006/relationships/slide" Target="/ppt/slides/slide13.xml" Id="Ra51c223aa7a347fa" /><Relationship Type="http://schemas.openxmlformats.org/officeDocument/2006/relationships/slide" Target="/ppt/slides/slide14.xml" Id="R1979bdcdd506477e" /><Relationship Type="http://schemas.openxmlformats.org/officeDocument/2006/relationships/slide" Target="/ppt/slides/slide15.xml" Id="Rc5ddb5e2e75c415e" /><Relationship Type="http://schemas.openxmlformats.org/officeDocument/2006/relationships/slide" Target="/ppt/slides/slide16.xml" Id="R01b10c6fbc6f4679" /><Relationship Type="http://schemas.openxmlformats.org/officeDocument/2006/relationships/slide" Target="/ppt/slides/slide17.xml" Id="R74636ceb4be9480d" /><Relationship Type="http://schemas.openxmlformats.org/officeDocument/2006/relationships/slide" Target="/ppt/slides/slide18.xml" Id="R4d156f62add449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7f1dd4511246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54c55b6b67484c" /><Relationship Type="http://schemas.openxmlformats.org/officeDocument/2006/relationships/notesMaster" Target="/ppt/notesMasters/notesMaster1.xml" Id="R2a784cb0d3a14b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bbf702df074555" /><Relationship Type="http://schemas.openxmlformats.org/officeDocument/2006/relationships/notesMaster" Target="/ppt/notesMasters/notesMaster1.xml" Id="R1f6feb02b37544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814b5662ad459d" /><Relationship Type="http://schemas.openxmlformats.org/officeDocument/2006/relationships/notesMaster" Target="/ppt/notesMasters/notesMaster1.xml" Id="R8e77ebff11b14e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3fc3b2ce0b4d6b" /><Relationship Type="http://schemas.openxmlformats.org/officeDocument/2006/relationships/notesMaster" Target="/ppt/notesMasters/notesMaster1.xml" Id="R0062b983cdda44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664b81e85b4d99" /><Relationship Type="http://schemas.openxmlformats.org/officeDocument/2006/relationships/notesMaster" Target="/ppt/notesMasters/notesMaster1.xml" Id="R0ae1b42de19044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3450c2bdb34e88" /><Relationship Type="http://schemas.openxmlformats.org/officeDocument/2006/relationships/notesMaster" Target="/ppt/notesMasters/notesMaster1.xml" Id="R7975e9ba5be54a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f244b9e4ac4548" /><Relationship Type="http://schemas.openxmlformats.org/officeDocument/2006/relationships/notesMaster" Target="/ppt/notesMasters/notesMaster1.xml" Id="R24956027da1447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e995a582754845" /><Relationship Type="http://schemas.openxmlformats.org/officeDocument/2006/relationships/notesMaster" Target="/ppt/notesMasters/notesMaster1.xml" Id="R9d4108776b6c45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2ce2bf88bc4314" /><Relationship Type="http://schemas.openxmlformats.org/officeDocument/2006/relationships/notesMaster" Target="/ppt/notesMasters/notesMaster1.xml" Id="Rc56ec6482f804c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1a5759b9cd49b4" /><Relationship Type="http://schemas.openxmlformats.org/officeDocument/2006/relationships/notesMaster" Target="/ppt/notesMasters/notesMaster1.xml" Id="R34b7f20ec4fe4d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bde8a1123f4263" /><Relationship Type="http://schemas.openxmlformats.org/officeDocument/2006/relationships/notesMaster" Target="/ppt/notesMasters/notesMaster1.xml" Id="R1b207018d32942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c625c68b5147e6" /><Relationship Type="http://schemas.openxmlformats.org/officeDocument/2006/relationships/notesMaster" Target="/ppt/notesMasters/notesMaster1.xml" Id="R27654fa6ca6e49d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39d1f70b82d4baf" /><Relationship Type="http://schemas.openxmlformats.org/officeDocument/2006/relationships/notesMaster" Target="/ppt/notesMasters/notesMaster1.xml" Id="Rda8a30d3d6004f0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e8dbe1f9984812" /><Relationship Type="http://schemas.openxmlformats.org/officeDocument/2006/relationships/notesMaster" Target="/ppt/notesMasters/notesMaster1.xml" Id="R5c86e1ac403c443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085b318b254e36" /><Relationship Type="http://schemas.openxmlformats.org/officeDocument/2006/relationships/notesMaster" Target="/ppt/notesMasters/notesMaster1.xml" Id="R4d92c86fe97e47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dd7aca0c205482d" /><Relationship Type="http://schemas.openxmlformats.org/officeDocument/2006/relationships/notesMaster" Target="/ppt/notesMasters/notesMaster1.xml" Id="R42a0fcd585d1407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ec903a1d7a84d16" /><Relationship Type="http://schemas.openxmlformats.org/officeDocument/2006/relationships/notesMaster" Target="/ppt/notesMasters/notesMaster1.xml" Id="R4f77b9d9676644d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7da0c8cba8e412d" /><Relationship Type="http://schemas.openxmlformats.org/officeDocument/2006/relationships/notesMaster" Target="/ppt/notesMasters/notesMaster1.xml" Id="R55e2b1ad949741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Hoje vou mostrar como uma rede neural treinada no computador pode executar em uma BitDogLab. O caso de estudo é classificar gravações com rótulos de sopro presente ou ausente. Vamos entender o caminho do áudio, comparar os resultados e demonstrar a execução. O objetivo científico é medir a viabilidade e os limites em um microcontrolador. Não apresento a placa como um exame médico.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 local main.tex; David et al., MLSys 2021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Treinar é ajustar os pesos usando exemplos rotulados. Essa etapa ocorreu no computador, com apoio da GPU. Inferir é usar os pesos já aprendidos para analisar uma entrada. Essa etapa pode rodar na placa, sem internet. Neste projeto a placa não treina. No benchmark que vou mostrar, a execução do PC foi medida na CPU, com uma thread, e não na RTX. A finalidade é comparar implementações do modelo congelado.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David et al. https://proceedings.mlsys.org/paper_files/paper/2021/hash/6c44dc73014d66ba49b28d483a8f8b0d-Abstract.html; training.json; reports/pc_validation_benchmark.json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Sopro é um som adicional percebido na ausculta. Existem sopros inocentes e sopros associados a alterações cardíacas. Por isso não vou usar as expressões coração saudável ou coração doente para as duas classes. Quando o OLED mostra sem sopro, ele está apresentando a previsão da rede para aquele trecho. A rede também não foi treinada para medir os batimentos por minuto. Como só há duas classes, fala e ruído podem receber uma delas.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American Heart Association, Heart Murmurs, revisão 17/03/2026: https://www.heart.org/en/health-topics/heart-murmurs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Usamos o CirCor DigiScope. Depois dos critérios do estudo, são 812 grupos vinculados e 2.976 gravações. Há várias gravações por pessoa e possíveis vínculos entre registros. Dividir os WAVs aleatoriamente poderia colocar a mesma identidade nos dois lados e inflar o resultado. A divisão foi feita antes do treinamento, preservando os grupos. A validação serviu para seleção e limiar; o teste final ficou separado. Não alteramos o limiar depois de examinar o teste.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split-manifest.json; artigo local Materials and Methods; Oliveira et al. 2022, DOI 10.1109/JBHI.2021.3137048; PhysioNet CirCor 1.0.3 https://physionet.org/content/circor-heart-sound/1.0.3/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Aqui estão a forma de onda e a representação MFE calculadas de um dos áudios de demonstração. Cada coluna do mapa corresponde a um intervalo curto e cada linha a um filtro mel. A cor representa log-energia. Essa transformação organiza os padrões do áudio para a rede. São três segundos a 4 kHz, com 12 mil amostras. O mapa tem 186 posições de tempo e 24 filtros. As estatísticas de normalização foram aprendidas apenas no treino. Este exemplo é da validação, não uma nova medição clínica.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engine.py; pcg/features.py; demo_samples.h, gravação 49627_AV da validação; figura original gerada dos mesmos dados PCM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CNN usa duas camadas convolucionais pequenas, com oito e dezesseis filtros, e operações de redução espacial. Depois há média global e uma camada com duas saídas. No total são 1.282 parâmetros. Parâmetros são os números aprendidos no treinamento. Não programamos manualmente uma lista de batimentos. A execução usa operações matemáticas sobre o áudio transformado, e por isso é possível receber uma entrada diferente dos exemplos embutidos.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Artigo local, arquitetura; model/model_int8.tflite; training.json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Quantizar muda a representação numérica. Em vez de armazenar cada valor como ponto flutuante de 32 bits, usamos inteiros de oito bits com escala e ponto zero. O arquivo final tem 5.264 bytes. A relação quatro para um descreve um número isolado, não garante que todo firmware ou toda memória caia quatro vezes. A exportação foi calibrada com dados do treino e testada. Em seguida o TFLite Micro executa esse modelo no RP2040.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export.json; https://github.com/tensorflow/tensorflow/blob/master/tensorflow/lite/g3doc/performance/quantization_spec.md; David et al. 2021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avaliação completa na placa processou 6.512 janelas de 471 gravações. As métricas finais são por grupo, totalizando 122 grupos. Isso é diferente de apertar A e observar uma classificação de três segundos. A demonstração ilustra a execução, enquanto o experimento estima o desempenho no conjunto separado. O replay digital permite controlar quais amostras chegam à placa e comparar com o computador. A aquisição pelo microfone não fazia parte desse teste.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runs/board-test-circor-20261023/session.json e reports; protocolo congelado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Esta tabela mostra o resultado científico. Float no PC, INT8 de referência e INT8 na placa tiveram as mesmas decisões por grupo. O host otimizado teve um falso positivo a mais. Isso não significa que a placa deixou a rede mais inteligente. Há diferenças numéricas entre implementações e o limiar pode transformar uma pequena diferença em outra decisão. Mantivemos esse resultado no artigo. Recall, ou sensibilidade, diz quantos positivos foram identificados. F1 combina precisão e recall.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model/reports/float_cnn_metrics.json; int8_host_metrics.json; board-test-circor-20261023/reports/runtime_comparison.json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matriz torna os erros concretos. Entre os 24 grupos com sopro, identificamos 17 e perdemos sete. Entre os 98 sem sopro, houve oito falsos positivos e noventa negativos corretos. Acurácia sozinha pode parecer boa porque há mais negativos. Classificar todos como ausentes já acertaria 98 de 122, cerca de 80,3%, mas não identificaria nenhum positivo. Por isso mostro F1, recall e a matriz, sem apresentar 87,7% como prova de uso clínico.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int8_rp2040_metrics.json; majority_baseline_metrics.json; contagens do teste preservado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gráfico facilita comparar as implementações. F1 mais alto indica melhor combinação de precisão e recall neste conjunto. A diferença do host otimizado é pequena, e o intervalo da placa é amplo: de 0,526 a 0,829. São apenas 24 grupos positivos no teste. Não há base para afirmar superioridade estatística da placa ou generalização clínica. As barras mostram os valores pontuais; o intervalo citado abaixo pertence à placa.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Métricas reais de teste; bootstrap 2.000 replicações, seed 2026, agrupado por paciente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Este é um ensaio suplementar de latência, separado das métricas do teste. Foram usadas as mesmas cem primeiras janelas de três segundos do benchmark de validação já medido na placa. O PC teve dez aquecimentos excluídos, LiteRT de referência em uma thread e bibliotecas NumPy para o MFE. A placa usa C++ e TFLite Micro. Por isso a diferença inclui implementação e ambiente. Os tempos da placa são históricos e os do PC foram coletados nesta preparação. Não é uma comparação com a RTX, nem uma medida isolada da vantagem do INT8.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reports/pc_validation_benchmark.json; pc_validation_timings.csv; board-validation-20261023-114223/timings.csv; exclui I/O, aquisição, USB, OLED, cópia do tensor e gráficos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gráfico compara o tempo combinado para as mesmas cem janelas de validação. A barra do PC é muito pequena nesta escala porque a mediana foi 2,687 milissegundos, enquanto a placa levou 1.318,421 milissegundos. Há diferenças de implementação e ambiente: NumPy e LiteRT no PC, C++ e TFLite Micro na placa. Não é possível atribuir essa razão apenas ao processador ou ao INT8. O ponto científico é que a placa conseguiu executar localmente com um custo medido. No teste completo, a mediana da placa foi 1,318 segundo. A maior parte do tempo na placa está no MFE, como mostra a tabela anterior.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reports/pc_validation_benchmark.json; mesmos cem WAVs de validação, dez aquecimentos excluídos; medidas históricas da placa, não simultâneas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modelo é pequeno, mas o programa completo também precisa de código de processamento, buffers e memória para os tensores. A imagem flash do firmware científico tem 189.408 bytes. O espaço estático principal de SRAM é 186.224 bytes. Isso não é pico medido de RAM, e a arena já está dentro dessas reservas; não devemos somá-la de novo. A demonstração visual contém áudios embutidos e outros recursos, por isso usa mais flash e não substitui estes números do artigo.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outputs/firmware-bitdoglab/build-usbfix-20261023-113636/resource-report.json e build-audit.json; fontes científicas preservadas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2:00, incluindo interação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Abra ABRIR_AULA_TINYML.cmd antes da aula e confirme o painel. Escolha Exemplo 1, reproduza o trecho e clique Analisar no PC. Aponte a onda, o MFE e o escore. Se a V3 tiver sido compilada, gravada e ensaiada, clique Comparar com a placa. Os mesmos dados PCM seguem pela USB e a placa calcula sua própria saída. Repita com Exemplo 2. Se houver problema de USB, use A na V2 como alternativa já conferida: explique que a entrada vem da memória da placa, não do alto-falante. Não afirme que a V3 foi testada antes do ensaio real.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app.py; engine.py; board_link.py; firmware-aula/main.cpp; A na V2 confirmado manualmente pelo usuário em 24/10/2026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1:15, incluindo interação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Este ensaio mostra uma entrada acústica. Prepare um celular com uma gravação de origem conhecida. Pressione B, aguarde o aviso e reproduza o som durante os três segundos de captura. Na V3 o painel também pode comandar a captura e analisar no PC o mesmo PCM recebido da placa. O resultado pode mudar porque alto-falante, sala, distância e microfone mudam o sinal. O LED azul e a interrogação identificam o caráter experimental. Fala e ruído também podem receber uma classe. Se a captura falhar, mostre a limitação e siga, sem escolher apenas acertos para alegar desempenho. Não encoste a placa no peito prometendo detectar sopro.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firmware-aula/microphone.h; protocolo didático separado; aquisição original CirCor por ausculta eletrônica, https://physionet.org/content/circor-heart-sound/1.0.3/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0:35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contribuição é mostrar que uma rede pequena pode executar no RP2040, quantificar o custo e comparar as decisões com o computador. A rede errou, e esses erros fazem parte do resultado. O experimento digital está concluído. A interface ajuda a comunicar o funcionamento. O microfone abre uma investigação nova, que precisa de avaliação própria. O próximo passo científico seria estudar aquisição e robustez, com protocolo separado, sem ajustar o modelo pelo teste que já foi encerrado.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Resultados e limitações do artigo; evidências locais preservadas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Consulta após a fala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completas e URLs: Oliveira et al., IEEE JBHI 2022, DOI 10.1109/JBHI.2021.3137048. Dataset CirCor DigiScope 1.0.3, DOI 10.13026/tshs-mw03, https://physionet.org/content/circor-heart-sound/1.0.3/. David et al., MLSys 2021, https://proceedings.mlsys.org/paper_files/paper/2021/hash/6c44dc73014d66ba49b28d483a8f8b0d-Abstract.html. AHA, https://www.heart.org/en/health-topics/heart-murmurs. Hardware BitDogLab: https://github.com/BitDogLab/BitDogLab. RP2040: https://www.raspberrypi.com/documentation/microcontrollers/microcontroller-chips.html. Resultados científicos: runs/board-test-circor-20261023/reports. Comparação suplementar PC: tinyml-aula/reports. A fonte PhysioNet teve falha de acesso nesta sessão; metadados e métodos foram mantidos do material previamente conferido, sem inventar nova consulta.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Fontes primárias e relatórios originais do projeto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fbca976e2417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561d4d870d4a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49a1cbce4f4e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6f9908822b4e9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312a81118945f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7bc41d3b4f41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F29976-79AE-407D-96CC-79B8301BF2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9E081F2-0F20-4F09-B5DE-28EF196FA7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14D1AED-C2A4-4762-AC6A-D21E6A84A3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2D9836-5A50-4727-822C-DF1301E36C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88DE33-188E-4CBC-BF28-010E2B872A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30F6B8-A3C7-41F8-AAC2-CF7695DCFB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EF3AB58-93A3-4894-AF05-308459E3BB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B2B21F5-F417-4468-BE58-B21D8BC00C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6843F05-97FD-4B5D-B8B6-3974854664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1BC87F-E901-4C70-A8F7-54B6251357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05f46fb43a4b83" /><Relationship Type="http://schemas.openxmlformats.org/officeDocument/2006/relationships/slideLayout" Target="/ppt/slideLayouts/slideLayout1.xml" Id="Rdb213d5df52f441b" /><Relationship Type="http://schemas.openxmlformats.org/officeDocument/2006/relationships/slideLayout" Target="/ppt/slideLayouts/slideLayout2.xml" Id="R2adc2903fdb643a1" /><Relationship Type="http://schemas.openxmlformats.org/officeDocument/2006/relationships/slideLayout" Target="/ppt/slideLayouts/slideLayout3.xml" Id="R949aea10cf7c478d" /><Relationship Type="http://schemas.openxmlformats.org/officeDocument/2006/relationships/slideLayout" Target="/ppt/slideLayouts/slideLayout4.xml" Id="Ref578032ecc04b0d" /><Relationship Type="http://schemas.openxmlformats.org/officeDocument/2006/relationships/slideLayout" Target="/ppt/slideLayouts/slideLayout5.xml" Id="R405b668110b54c8d" /><Relationship Type="http://schemas.openxmlformats.org/officeDocument/2006/relationships/slideLayout" Target="/ppt/slideLayouts/slideLayout6.xml" Id="Ra652ebdf486a4a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213d5df52f441b"/>
    <p:sldLayoutId xmlns:r="http://schemas.openxmlformats.org/officeDocument/2006/relationships" id="2147483650" r:id="R2adc2903fdb643a1"/>
    <p:sldLayoutId xmlns:r="http://schemas.openxmlformats.org/officeDocument/2006/relationships" id="2147483651" r:id="R949aea10cf7c478d"/>
    <p:sldLayoutId xmlns:r="http://schemas.openxmlformats.org/officeDocument/2006/relationships" id="2147483652" r:id="Ref578032ecc04b0d"/>
    <p:sldLayoutId xmlns:r="http://schemas.openxmlformats.org/officeDocument/2006/relationships" id="2147483653" r:id="R405b668110b54c8d"/>
    <p:sldLayoutId xmlns:r="http://schemas.openxmlformats.org/officeDocument/2006/relationships" id="2147483654" r:id="Ra652ebdf486a4a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ff57902a8b4a71" /><Relationship Type="http://schemas.openxmlformats.org/officeDocument/2006/relationships/notesSlide" Target="/ppt/notesSlides/notesSlide1.xml" Id="R9819b3c1fa3a4d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d00143d23241c1" /><Relationship Type="http://schemas.openxmlformats.org/officeDocument/2006/relationships/notesSlide" Target="/ppt/notesSlides/notesSlide2.xml" Id="Rf648ea12d8b846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d2da0abb584123" /><Relationship Type="http://schemas.openxmlformats.org/officeDocument/2006/relationships/notesSlide" Target="/ppt/notesSlides/notesSlide3.xml" Id="R251d5b1fc5954a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d34aeb8016460b" /><Relationship Type="http://schemas.openxmlformats.org/officeDocument/2006/relationships/notesSlide" Target="/ppt/notesSlides/notesSlide4.xml" Id="R72a3da6842b144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aba0dfb0914f0e" /><Relationship Type="http://schemas.openxmlformats.org/officeDocument/2006/relationships/image" Target="/ppt/media/image.png" Id="R9911a2b8225744be" /><Relationship Type="http://schemas.openxmlformats.org/officeDocument/2006/relationships/image" Target="/ppt/media/image2.png" Id="R2132d46a1a5347f6" /><Relationship Type="http://schemas.openxmlformats.org/officeDocument/2006/relationships/notesSlide" Target="/ppt/notesSlides/notesSlide5.xml" Id="R054d0787580444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56d0c36d954d0f" /><Relationship Type="http://schemas.openxmlformats.org/officeDocument/2006/relationships/notesSlide" Target="/ppt/notesSlides/notesSlide6.xml" Id="Rc39de055c9f248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315557ea104be1" /><Relationship Type="http://schemas.openxmlformats.org/officeDocument/2006/relationships/notesSlide" Target="/ppt/notesSlides/notesSlide7.xml" Id="Rc0aba1feffc443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f7e92033004c34" /><Relationship Type="http://schemas.openxmlformats.org/officeDocument/2006/relationships/notesSlide" Target="/ppt/notesSlides/notesSlide8.xml" Id="R1d4cf272e1d140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a6fe449db64a67" /><Relationship Type="http://schemas.openxmlformats.org/officeDocument/2006/relationships/notesSlide" Target="/ppt/notesSlides/notesSlide9.xml" Id="R6868b86e84cb47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af987a668a419c" /><Relationship Type="http://schemas.openxmlformats.org/officeDocument/2006/relationships/notesSlide" Target="/ppt/notesSlides/notesSlide10.xml" Id="Rdc70754c90c547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6ac32bac8f4fdf" /><Relationship Type="http://schemas.openxmlformats.org/officeDocument/2006/relationships/chart" Target="/ppt/slides/charts/chart1.xml" Id="R4b42983132694912" /><Relationship Type="http://schemas.openxmlformats.org/officeDocument/2006/relationships/notesSlide" Target="/ppt/notesSlides/notesSlide11.xml" Id="R7ae987714a6340b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f3ccb9e71042e1" /><Relationship Type="http://schemas.openxmlformats.org/officeDocument/2006/relationships/notesSlide" Target="/ppt/notesSlides/notesSlide12.xml" Id="R45550b0854b049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ebb13bfd324320" /><Relationship Type="http://schemas.openxmlformats.org/officeDocument/2006/relationships/chart" Target="/ppt/slides/charts/chart2.xml" Id="R36ed270996994544" /><Relationship Type="http://schemas.openxmlformats.org/officeDocument/2006/relationships/notesSlide" Target="/ppt/notesSlides/notesSlide13.xml" Id="R925c631c0e1f42c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00f7f4eec1426d" /><Relationship Type="http://schemas.openxmlformats.org/officeDocument/2006/relationships/notesSlide" Target="/ppt/notesSlides/notesSlide14.xml" Id="Rbae16786ca634c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2b92f8208d4a47" /><Relationship Type="http://schemas.openxmlformats.org/officeDocument/2006/relationships/notesSlide" Target="/ppt/notesSlides/notesSlide15.xml" Id="R54d864b4e1fe48d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fbd58b80d143a1" /><Relationship Type="http://schemas.openxmlformats.org/officeDocument/2006/relationships/notesSlide" Target="/ppt/notesSlides/notesSlide16.xml" Id="Rd827bb1333dc4f3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edaba81ef24845" /><Relationship Type="http://schemas.openxmlformats.org/officeDocument/2006/relationships/notesSlide" Target="/ppt/notesSlides/notesSlide17.xml" Id="Rfdcaf3f8a2c34ac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bc823aa8744ce" /><Relationship Type="http://schemas.openxmlformats.org/officeDocument/2006/relationships/notesSlide" Target="/ppt/notesSlides/notesSlide18.xml" Id="Ra5c4df0e37f8406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Valor</c:v>
          </c:tx>
          <c:spPr>
            <a:solidFill xmlns:a="http://schemas.openxmlformats.org/drawingml/2006/main">
              <a:srgbClr val="14766B"/>
            </a:solidFill>
          </c:spPr>
          <c:invertIfNegative val="0"/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0,694</a:t>
                    </a:r>
                  </a:p>
                </c:rich>
              </c:tx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0,680</a:t>
                    </a:r>
                  </a:p>
                </c:rich>
              </c:tx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0,694</a:t>
                    </a:r>
                  </a:p>
                </c:rich>
              </c:tx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0,694</a:t>
                    </a:r>
                  </a:p>
                </c:rich>
              </c:tx>
            </c:dLbl>
          </c:dLbls>
          <c:cat>
            <c:strLit>
              <c:ptCount val="4"/>
              <c:pt idx="0">
                <c:v>PC float</c:v>
              </c:pt>
              <c:pt idx="1">
                <c:v>PC otimizado</c:v>
              </c:pt>
              <c:pt idx="2">
                <c:v>PC referência</c:v>
              </c:pt>
              <c:pt idx="3">
                <c:v>BitDogLab</c:v>
              </c:pt>
            </c:strLit>
          </c:cat>
          <c:val>
            <c:numLit>
              <c:formatCode>0.0</c:formatCode>
              <c:ptCount val="4"/>
              <c:pt idx="0">
                <c:v>0.693878</c:v>
              </c:pt>
              <c:pt idx="1">
                <c:v>0.68</c:v>
              </c:pt>
              <c:pt idx="2">
                <c:v>0.693878</c:v>
              </c:pt>
              <c:pt idx="3">
                <c:v>0.693878</c:v>
              </c:pt>
            </c:numLit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73D4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EDBD5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D4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5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0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6F3"/>
        </a:solidFill>
      </c:spPr>
    </c:plotArea>
    <c:plotVisOnly val="1"/>
  </c:chart>
  <c:spPr>
    <a:solidFill xmlns:a="http://schemas.openxmlformats.org/drawingml/2006/main">
      <a:srgbClr val="F4F6F3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Valor</c:v>
          </c:tx>
          <c:spPr>
            <a:solidFill xmlns:a="http://schemas.openxmlformats.org/drawingml/2006/main">
              <a:srgbClr val="14766B"/>
            </a:solidFill>
          </c:spPr>
          <c:invertIfNegative val="0"/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2,687</a:t>
                    </a:r>
                  </a:p>
                </c:rich>
              </c:tx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/>
                      <a:t>1.318,421</a:t>
                    </a:r>
                  </a:p>
                </c:rich>
              </c:tx>
            </c:dLbl>
          </c:dLbls>
          <c:cat>
            <c:strLit>
              <c:ptCount val="2"/>
              <c:pt idx="0">
                <c:v>PC (CPU)</c:v>
              </c:pt>
              <c:pt idx="1">
                <c:v>BitDogLab</c:v>
              </c:pt>
            </c:strLit>
          </c:cat>
          <c:val>
            <c:numLit>
              <c:formatCode>0</c:formatCode>
              <c:ptCount val="2"/>
              <c:pt idx="0">
                <c:v>2.6872499999999997</c:v>
              </c:pt>
              <c:pt idx="1">
                <c:v>1318.4205</c:v>
              </c:pt>
            </c:numLit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73D4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EDBD5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D4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Tempo (ms)</a:t>
                </a:r>
              </a:p>
            </c:rich>
          </c:tx>
          <c:overlay val="0"/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0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6F3"/>
        </a:solidFill>
      </c:spPr>
    </c:plotArea>
    <c:plotVisOnly val="1"/>
  </c:chart>
  <c:spPr>
    <a:solidFill xmlns:a="http://schemas.openxmlformats.org/drawingml/2006/main">
      <a:srgbClr val="F4F6F3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D4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499249-7916-4303-847B-5BD7F927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7334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TinyML na</a:t>
            </a:r>
          </a:p>
          <a:p xmlns:a="http://schemas.openxmlformats.org/drawingml/2006/main">
            <a: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BitDogLab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1F6CF-337C-4FF6-B130-EC684264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62325"/>
            <a:ext cx="7334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B9E4D2"/>
                </a:solidFill>
                <a:latin typeface="Arial"/>
                <a:ea typeface="Arial"/>
                <a:cs typeface="Arial"/>
              </a:rPr>
              <a:t>Classificação de sopros cardíacos</a:t>
            </a:r>
          </a:p>
          <a:p xmlns:a="http://schemas.openxmlformats.org/drawingml/2006/main">
            <a:pPr>
              <a:defRPr sz="2550" b="0">
                <a:solidFill>
                  <a:srgbClr val="B9E4D2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B9E4D2"/>
                </a:solidFill>
                <a:latin typeface="Arial"/>
                <a:ea typeface="Arial"/>
                <a:cs typeface="Arial"/>
              </a:rPr>
              <a:t>com uma rede neural no RP2040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E790F-02E2-4661-8E5E-19E70111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Leandro Alves dos Santos</a:t>
            </a:r>
          </a:p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UNEB, Engenharia de Software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15E8B3-D01D-4DAF-90A0-2ED14702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1455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C0664-A8DA-4B1B-83F9-79ADAFDE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238375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832F46-4F41-4193-BF02-B8358F32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238375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8053C-0682-419D-BB43-EB0BEA56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895475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37D03-1FB2-4E0C-95B8-24FA7CF5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400550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42BA78-BA78-481A-A94E-2D36B334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514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6A373D-C979-4D67-9321-3A11ECB0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14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74EA24-A143-474B-9137-76F7313E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95475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BF3BC-E1EB-4717-86C2-F7D7F25E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00550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966D4F-77AC-4E2F-8A9C-D1D03B9C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90825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7202F-960C-40BB-84CF-06F3105E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790825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1C0C8-71A9-43A0-9EF7-A82176FE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1895475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800F6-A7DC-4ED0-A4E4-80649535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400550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DD0C6-2436-4A66-90DC-EC7A719D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0670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EF255D-4C4C-4A65-A5CD-2984EEC6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670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66D644-08D5-43D4-8A3A-56023A36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95475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254687-C1DC-429E-9C60-FE6D96DF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00550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C5E69-7ED7-43D1-8638-6AD3A5E4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343275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7C54A9-9B25-4EB0-ABC1-397DFC7D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43275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AF2435-A6A9-4314-AED5-B413387C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895475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0FF22E-898B-4C3F-8517-F312BAFE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400550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A1FDE4-5403-4C62-AC40-1F0E8D08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6195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9F45C9-1D8C-439C-9737-0FB46D73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6195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8ADF11-6414-41D7-9E13-7DBA9438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895475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A62D66-D05B-4A93-834F-CCCE8F67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400550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F974C3-AAA9-4B8D-8FA0-CE81B46C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895725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9B56EF-04CA-4FE3-B3B9-39459A61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895725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3A2DBE-05AC-4874-A3C6-599790AF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1895475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FD7B22-681A-4E4A-A0B2-A8ED85D7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4400550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3CE5F0-44B2-47EE-B580-F97108B1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1719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A80A9D-DF97-4E25-B347-C3F386D9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1719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401D19-47D3-4E97-BBD1-BC8DCE3A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1895475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6C5CCD-8E48-491F-B674-4A3F1AE7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400550"/>
            <a:ext cx="9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5BA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1CD292-E13F-4266-ACFE-476BA9FF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952750"/>
            <a:ext cx="1857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RP2040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E8BD2D-0321-4518-B4AC-02A1B3DA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57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Inferência local</a:t>
            </a:r>
          </a:p>
        </p:txBody>
      </p:sp>
    </p:spTree>
    <p:extLst>
      <p:ext uri="{BB962C8B-B14F-4D97-AF65-F5344CB8AC3E}">
        <p14:creationId xmlns:p14="http://schemas.microsoft.com/office/powerpoint/2010/main" val="3838885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C901C-57DD-4E84-AF8D-12952667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15CC22-F3A6-4DF5-98FF-CEA12995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Treinamento e inferência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83E2A-9A68-45A4-9C4A-0AEBCF6B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D741E1-4660-4C6E-805C-38358207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4905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NO COMPUTADOR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6B83B-CEEF-4BFC-9F29-96733819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7652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BD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464CA-4697-47CA-B22B-C4DE3020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14650"/>
            <a:ext cx="49053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Gravações com rótulos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A rede ajusta seus pesos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RTX usada no treinamento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79C5E4-5B38-4F94-8C4C-C784CD79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95500"/>
            <a:ext cx="4905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NA BITDOGLAB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AB2AD-8E95-476A-97C1-88DB7917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67652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B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028B1E-B3AD-4B29-AD97-81B26B77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14650"/>
            <a:ext cx="49053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Pesos já aprendidos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Áudio novo entra na rede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Uma classificação é calculada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1F11EF-EFE2-42F5-8280-9521560E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TinyML permite executar inferência local em dispositivos com recursos limitados</a:t>
            </a:r>
          </a:p>
        </p:txBody>
      </p:sp>
    </p:spTree>
    <p:extLst>
      <p:ext uri="{BB962C8B-B14F-4D97-AF65-F5344CB8AC3E}">
        <p14:creationId xmlns:p14="http://schemas.microsoft.com/office/powerpoint/2010/main" val="5108452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29FE05-A9FD-443E-9903-9D928A8F6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3C8BA-CCE3-48C6-A05D-BFC8F4A7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O que a rede classifica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55272-F9AA-454B-8207-8AD3797B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1118DB-ABF0-4712-9462-7AFC5764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431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B34C3E"/>
                </a:solidFill>
                <a:latin typeface="Arial"/>
                <a:ea typeface="Arial"/>
                <a:cs typeface="Arial"/>
              </a:rPr>
              <a:t>Sopro presente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ECDAD0-05F2-4CE8-B2B1-CD7EE83F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1431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Sopro ausente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AF81E1-C09F-4EDA-8692-25B8428C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4953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Um som adicional percebido</a:t>
            </a:r>
          </a:p>
          <a:p xmlns:a="http://schemas.openxmlformats.org/drawingml/2006/main">
            <a: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durante a ausculta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AF13CF-6D4C-46FF-BB0F-45C3F358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048000"/>
            <a:ext cx="4953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Previsão de ausência desse padrão</a:t>
            </a:r>
          </a:p>
          <a:p xmlns:a="http://schemas.openxmlformats.org/drawingml/2006/main">
            <a: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na entrada analisada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0CE97-25B6-42F9-8937-60B743C0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A saída é uma previsão. O modelo não identifica doenças nem detecta qualquer batimento</a:t>
            </a:r>
          </a:p>
        </p:txBody>
      </p:sp>
    </p:spTree>
    <p:extLst>
      <p:ext uri="{BB962C8B-B14F-4D97-AF65-F5344CB8AC3E}">
        <p14:creationId xmlns:p14="http://schemas.microsoft.com/office/powerpoint/2010/main" val="20918929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83DAE-4B15-42D4-99A0-3397BA72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AABE8-CD01-41C2-B8A3-3E73B072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Dados e divisão por grupo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7FC9CA-A964-45C9-850E-42BB0545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8E42B-C1FA-4404-87D8-17FA5AF6BACC}"/>
              </a:ext>
            </a:extLst>
          </p:cNvPr>
          <p:cNvGraphicFramePr/>
          <p:nvPr/>
        </p:nvGraphicFramePr>
        <p:xfrm>
          <a:off xmlns:a="http://schemas.openxmlformats.org/drawingml/2006/main" x="619125" y="2047875"/>
          <a:ext xmlns:a="http://schemas.openxmlformats.org/drawingml/2006/main" cx="109537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2714625"/>
                <a:gridCol w="2762250"/>
              </a:tblGrid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Partição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Grupos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Gravações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Treino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568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2.066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Validação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122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439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Teste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122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471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699C9-8DB6-414A-8A6B-F78CD3E1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CirCor 1.0.3, Present/Absent, Unknown excluído, identidades vinculadas permanecem juntas</a:t>
            </a:r>
          </a:p>
        </p:txBody>
      </p:sp>
    </p:spTree>
    <p:extLst>
      <p:ext uri="{BB962C8B-B14F-4D97-AF65-F5344CB8AC3E}">
        <p14:creationId xmlns:p14="http://schemas.microsoft.com/office/powerpoint/2010/main" val="17346759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9180E-BF4D-4871-AFAA-62A4D40C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8B3ED-31F7-413E-B384-AD1C215A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O áudio vira uma representação MFE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A0793-7C88-437C-9283-EB92E6E0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F127A-9F15-4C08-BD05-8AC80209C3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1a2b8225744be"/>
          <a:stretch xmlns:a="http://schemas.openxmlformats.org/drawingml/2006/main"/>
        </p:blipFill>
        <p:spPr>
          <a:xfrm xmlns:a="http://schemas.openxmlformats.org/drawingml/2006/main">
            <a:off x="995112" y="1905000"/>
            <a:ext cx="10201776" cy="17621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15112-BB40-4393-BE16-870F611C4B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2d46a1a5347f6"/>
          <a:stretch xmlns:a="http://schemas.openxmlformats.org/drawingml/2006/main"/>
        </p:blipFill>
        <p:spPr>
          <a:xfrm xmlns:a="http://schemas.openxmlformats.org/drawingml/2006/main">
            <a:off x="619125" y="3733800"/>
            <a:ext cx="10953750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1420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DC3C53-EBF7-4F88-A4F9-BE46969A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E9C354-9D7A-48A1-975E-B1E14016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Uma CNN pequena para o RP2040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CFEC5-31A1-447E-8698-7C4824A9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005AD9-3AD3-4329-8C49-3EB29CCB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19350"/>
            <a:ext cx="25241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B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A3C41-A0E9-41AA-B57E-B9A68183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479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MFE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CBFD66-EF58-41F3-9806-3AE35F5C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6707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186 × 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50B79B-B6C4-4B3C-AD93-4EAE5477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19350"/>
            <a:ext cx="25241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BE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8F715-2EB7-4D46-A02C-3498E45E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Conv + pool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CA22D-15EA-4F47-81FC-FB92DD90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6707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8 filtros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F4C71-91E6-4675-89D5-349270B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19350"/>
            <a:ext cx="25241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BE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B3A72-5DFE-4DEF-A44B-AE387F3B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6479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Conv + pool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3D4664-0796-4F92-B0CB-FE27ACE0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6707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16 filtros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757FC5-D13C-42D5-9A95-3DD802CA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19350"/>
            <a:ext cx="25241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62E31E-01B1-405E-9F99-BAF49DCF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479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Saída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C8F02E-F027-4DB7-9565-42870930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6707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classes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B24A67-D618-4040-B98C-18B06C93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571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1.282 parâmetros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E5F2B6-86F3-4769-9CDF-017A76EA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A rede aprende padrões na representação do áudio e gera um escore para a classe presente</a:t>
            </a:r>
          </a:p>
        </p:txBody>
      </p:sp>
    </p:spTree>
    <p:extLst>
      <p:ext uri="{BB962C8B-B14F-4D97-AF65-F5344CB8AC3E}">
        <p14:creationId xmlns:p14="http://schemas.microsoft.com/office/powerpoint/2010/main" val="9314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DF0B4-9EDD-409C-8BAB-3CE7C43A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7FD291-C89D-4D1A-8AFE-D1DB9066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Quantização e implantação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000145-9E79-481C-A604-2F03D0CD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B3375-F015-4060-9E7E-EF92C82C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90750"/>
            <a:ext cx="4905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FLOAT32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9FB01-9AA5-4FD1-B121-D143C515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717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BD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FC36F-A1C4-4757-AB62-62E19205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9900"/>
            <a:ext cx="49053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Representação usada</a:t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durante o treinamento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4 bytes por número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A990B-D1E2-4E52-A206-26494095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190750"/>
            <a:ext cx="4905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INT8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537DF5-FCC1-4225-A7DA-14B3759A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771775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B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EACBF9-B0CD-4E87-B821-F772A142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009900"/>
            <a:ext cx="49053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Representação de 8 bits</a:t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para a inferência embarcada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1 byte por número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D29D91-48AC-41C0-852D-8282D357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863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Modelo exportado: 5.264 bytes</a:t>
            </a:r>
          </a:p>
        </p:txBody>
      </p:sp>
    </p:spTree>
    <p:extLst>
      <p:ext uri="{BB962C8B-B14F-4D97-AF65-F5344CB8AC3E}">
        <p14:creationId xmlns:p14="http://schemas.microsoft.com/office/powerpoint/2010/main" val="13726315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4F3EA-DCE6-4DC9-BC8A-8BC5E002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CB648D-8E2C-4089-B5EE-6847EC38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Como o experimento foi avaliado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2F30B-EF44-4A1D-BDDE-9D18A9A7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FA6266-25B0-499A-9261-092EED24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6.512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E546B-ADC5-4E03-A0CA-701D4B45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38500"/>
            <a:ext cx="5143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janelas de teste na placa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94823-9411-4BDB-9A25-7B9254B1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955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7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122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3685E9-CF04-4A09-A0BF-34EB5F4F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238500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grupos para as métricas finais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999CDF-B8B2-4F1B-875D-28B6B8A6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Replay digital controlado, modelo e limiar congelados, métricas agregadas por grupo</a:t>
            </a:r>
          </a:p>
        </p:txBody>
      </p:sp>
    </p:spTree>
    <p:extLst>
      <p:ext uri="{BB962C8B-B14F-4D97-AF65-F5344CB8AC3E}">
        <p14:creationId xmlns:p14="http://schemas.microsoft.com/office/powerpoint/2010/main" val="14007357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DB5A1-F340-4E51-947B-D16DFF39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CAAE5-B9BF-4B4A-81ED-7ECA6B75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Desempenho no PC e na placa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D26E05-8365-4256-90CD-1D0821C7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8A772-BC4D-4D22-8289-CCC4AC1B850F}"/>
              </a:ext>
            </a:extLst>
          </p:cNvPr>
          <p:cNvGraphicFramePr/>
          <p:nvPr/>
        </p:nvGraphicFramePr>
        <p:xfrm>
          <a:off xmlns:a="http://schemas.openxmlformats.org/drawingml/2006/main" x="619125" y="2019300"/>
          <a:ext xmlns:a="http://schemas.openxmlformats.org/drawingml/2006/main" cx="1095375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34000"/>
                <a:gridCol w="1714500"/>
                <a:gridCol w="1905000"/>
                <a:gridCol w="2000250"/>
              </a:tblGrid>
              <a:tr h="6477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Execução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Acurácia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PC float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0,694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70,8%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87,7%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PC INT8 otimizado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0,680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70,8%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86,9%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PC INT8 referência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0,694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70,8%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87,7%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BitDogLab INT8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0,694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70,8%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87,7%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4E4FF-2E03-4DF8-86D0-BB7CF711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122 grupos no teste, uma decisão difere entre a placa e o host otimizado</a:t>
            </a:r>
          </a:p>
        </p:txBody>
      </p:sp>
    </p:spTree>
    <p:extLst>
      <p:ext uri="{BB962C8B-B14F-4D97-AF65-F5344CB8AC3E}">
        <p14:creationId xmlns:p14="http://schemas.microsoft.com/office/powerpoint/2010/main" val="899568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607D5-460B-4E3C-A815-D7430F68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48B5E3-C496-484B-AFD3-A0E5B7B3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Os erros também fazem parte do resultado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93229-3C65-4792-AF7F-26D5248C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6643D7-9347-4C0A-A046-D6A60281224A}"/>
              </a:ext>
            </a:extLst>
          </p:cNvPr>
          <p:cNvGraphicFramePr/>
          <p:nvPr/>
        </p:nvGraphicFramePr>
        <p:xfrm>
          <a:off xmlns:a="http://schemas.openxmlformats.org/drawingml/2006/main" x="619125" y="2095500"/>
          <a:ext xmlns:a="http://schemas.openxmlformats.org/drawingml/2006/main" cx="72390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1905000"/>
                <a:gridCol w="1905000"/>
              </a:tblGrid>
              <a:tr h="889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Rótulo de referência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Ausente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Ausente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90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FA9518-D3F7-49F7-8BA2-6D57C41D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33625"/>
            <a:ext cx="323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defPPr>
            <a:lvl1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1pPr>
            <a:lvl2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2pPr>
            <a:lvl3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3pPr>
            <a:lvl4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4pPr>
            <a:lvl5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5pPr>
            <a:lvl6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6pPr>
            <a:lvl7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7pPr>
            <a:lvl8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8pPr>
            <a:lvl9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B34C3E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B34C3E"/>
                </a:solidFill>
                <a:latin typeface="Arial"/>
                <a:ea typeface="Arial"/>
                <a:cs typeface="Arial"/>
              </a:rPr>
              <a:t>7 de 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A5D7F-F4EA-4411-A113-ABF9A684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29000"/>
            <a:ext cx="3238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positivos foram</a:t>
            </a:r>
          </a:p>
          <a:p xmlns:a="http://schemas.openxmlformats.org/drawingml/2006/main">
            <a: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classificados como</a:t>
            </a:r>
          </a:p>
          <a:p xmlns:a="http://schemas.openxmlformats.org/drawingml/2006/main">
            <a: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sem sopro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8666E-0457-4B7A-B17B-24D1737F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Um resultado negativo da rede não exclui sopro ou doença</a:t>
            </a:r>
          </a:p>
        </p:txBody>
      </p:sp>
    </p:spTree>
    <p:extLst>
      <p:ext uri="{BB962C8B-B14F-4D97-AF65-F5344CB8AC3E}">
        <p14:creationId xmlns:p14="http://schemas.microsoft.com/office/powerpoint/2010/main" val="413613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F2F8B-D8A9-488A-A1BF-5C0ED7A7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F73E5-F3C4-4BA4-8C02-1C072926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F1 entre implementações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FDF44-3E59-45F9-9773-5788DF35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D95E7568-66D1-461E-9193-72CEB4502C7A}"/>
              </a:ext>
            </a:extLst>
          </p:cNvPr>
          <p:cNvGraphicFramePr/>
          <p:nvPr/>
        </p:nvGraphicFramePr>
        <p:xfrm>
          <a:off xmlns:a="http://schemas.openxmlformats.org/drawingml/2006/main" x="714375" y="1857375"/>
          <a:ext xmlns:a="http://schemas.openxmlformats.org/drawingml/2006/main" cx="10668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4298313269491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63C6A-E3ED-4525-B223-E1D4973C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F1 da placa: 0,694, IC95% bootstrap por grupo: 0,526 a 0,829</a:t>
            </a:r>
          </a:p>
        </p:txBody>
      </p:sp>
    </p:spTree>
    <p:extLst>
      <p:ext uri="{BB962C8B-B14F-4D97-AF65-F5344CB8AC3E}">
        <p14:creationId xmlns:p14="http://schemas.microsoft.com/office/powerpoint/2010/main" val="14423623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F164EB-D9D6-48E8-B671-31E07BFF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7E975-2D5F-4985-86F8-70790CB5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Tempo no PC e na BitDogLab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6C432C-D7EF-4F32-A7C6-A8BCD143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B9A2A-750A-465D-9F6D-41F0F908D47E}"/>
              </a:ext>
            </a:extLst>
          </p:cNvPr>
          <p:cNvGraphicFramePr/>
          <p:nvPr/>
        </p:nvGraphicFramePr>
        <p:xfrm>
          <a:off xmlns:a="http://schemas.openxmlformats.org/drawingml/2006/main" x="619125" y="2000250"/>
          <a:ext xmlns:a="http://schemas.openxmlformats.org/drawingml/2006/main" cx="109537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3381375"/>
                <a:gridCol w="3381375"/>
              </a:tblGrid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Etapa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PC: mediana (ms)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Placa: mediana (ms)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MFE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1006,545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Inferência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2,425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311,868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Combinado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2,687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1318,421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F39FB-E53E-4B71-AA72-5A69CB80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100 janelas de validação, CPU, uma thread no PC, MFE NumPy versus C++ no RP2040</a:t>
            </a:r>
          </a:p>
        </p:txBody>
      </p:sp>
    </p:spTree>
    <p:extLst>
      <p:ext uri="{BB962C8B-B14F-4D97-AF65-F5344CB8AC3E}">
        <p14:creationId xmlns:p14="http://schemas.microsoft.com/office/powerpoint/2010/main" val="13194045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D46F3-8E11-4753-9CFB-4F6E058C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44E8E-7A49-490A-8AC9-AFEE0110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Tempo combinado no PC e na placa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56692-637E-4C6F-8718-CCFD8A1E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9BC78FA9-B834-4A61-96E0-FD8B3E0DB326}"/>
              </a:ext>
            </a:extLst>
          </p:cNvPr>
          <p:cNvGraphicFramePr/>
          <p:nvPr/>
        </p:nvGraphicFramePr>
        <p:xfrm>
          <a:off xmlns:a="http://schemas.openxmlformats.org/drawingml/2006/main" x="619125" y="2000250"/>
          <a:ext xmlns:a="http://schemas.openxmlformats.org/drawingml/2006/main" cx="719137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ed27099699454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9A100-20BF-4710-B317-7322DF46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00300"/>
            <a:ext cx="323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6B27D-622F-4822-93F7-C1CD545F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524250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janelas de validação</a:t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com os mesmos dados PCM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2A385D-4E2A-49A4-B49A-B758E481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Medianas de MFE + inferência, sem aquisição e USB. A comparação inclui diferenças de 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11279436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7F2BD-4D1F-4AD0-855B-C55EF53E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ADD9C7-8467-4B30-93DF-607FF285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Recursos do firmware científico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DF52AE-D86C-4C71-A9E9-B10C10D6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6DC20-5EB2-4960-8465-168DB6E4504E}"/>
              </a:ext>
            </a:extLst>
          </p:cNvPr>
          <p:cNvGraphicFramePr/>
          <p:nvPr/>
        </p:nvGraphicFramePr>
        <p:xfrm>
          <a:off xmlns:a="http://schemas.openxmlformats.org/drawingml/2006/main" x="619125" y="2000250"/>
          <a:ext xmlns:a="http://schemas.openxmlformats.org/drawingml/2006/main" cx="1095375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524750"/>
                <a:gridCol w="342900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Recurso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Tamanho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T w="9525">
                      <a:solidFill>
                        <a:srgbClr val="CEDBD5"/>
                      </a:solidFill>
                    </a:lnT>
                    <a:lnB w="9525">
                      <a:solidFill>
                        <a:srgbClr val="CEDBD5"/>
                      </a:solidFill>
                    </a:lnB>
                    <a:solidFill>
                      <a:srgbClr val="173D46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Modelo INT8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5.264 bytes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Imagem flash do firmware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189.408 bytes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Espaço estático principal de SRAM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186.224 bytes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Pico real de RAM</a:t>
                      </a:r>
                    </a:p>
                  </a:txBody>
                  <a:tcPr marL="133350" marR="114300" marT="114300" marB="114300">
                    <a:lnL w="9525">
                      <a:solidFill>
                        <a:srgbClr val="CEDBD5"/>
                      </a:solidFill>
                    </a:lnL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D46"/>
                          </a:solidFill>
                          <a:latin typeface="Arial"/>
                          <a:ea typeface="Arial"/>
                          <a:cs typeface="Arial"/>
                        </a:rPr>
                        <a:t>Ainda não medido</a:t>
                      </a:r>
                    </a:p>
                  </a:txBody>
                  <a:tcPr marL="133350" marR="114300" marT="114300" marB="114300">
                    <a:lnR w="9525">
                      <a:solidFill>
                        <a:srgbClr val="CEDBD5"/>
                      </a:solidFill>
                    </a:lnR>
                    <a:lnB w="9525">
                      <a:solidFill>
                        <a:srgbClr val="CEDBD5"/>
                      </a:solidFill>
                    </a:lnB>
                    <a:solidFill>
                      <a:srgbClr val="E8F0E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94AD5-8157-4039-883F-1DE7EA15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A demo com exemplos e interface usa outro firmware, com tamanho maior</a:t>
            </a:r>
          </a:p>
        </p:txBody>
      </p:sp>
    </p:spTree>
    <p:extLst>
      <p:ext uri="{BB962C8B-B14F-4D97-AF65-F5344CB8AC3E}">
        <p14:creationId xmlns:p14="http://schemas.microsoft.com/office/powerpoint/2010/main" val="14703446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73B9A-C083-466F-A8CF-69FA08F7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B50808-27A8-43D1-8F7F-4117B5EE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Demonstração com o mesmo arquivo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DCFB2-27D6-4C6A-9F3B-54FBAE9E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17DE7-3AC7-44BE-80FA-1974DACA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47875"/>
            <a:ext cx="4905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PAINEL DO COMPUTADOR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F6311-55AF-4567-9FD3-0373C60C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2890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BD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F45E6-DE64-4B1B-AFF7-55527483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67025"/>
            <a:ext cx="49053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Escolher um WAV</a:t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Ouvir o trecho</a:t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Ver onda, MFE e saída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227483-FCCB-4813-B38B-7001BD28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47875"/>
            <a:ext cx="49053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BITDOGLAB POR USB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DEFCA-5838-4902-A4FD-CC51D238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628900"/>
            <a:ext cx="4905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B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A64669-9304-46E6-9B79-D4ED3ADA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67025"/>
            <a:ext cx="49053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Receber os mesmos dados PCM</a:t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Executar MFE e rede</a:t>
            </a:r>
          </a:p>
          <a:p xmlns:a="http://schemas.openxmlformats.org/drawingml/2006/main">
            <a:pPr>
              <a:defRPr sz="210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Mostrar resultado, LED e bipes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059C1-2977-4FB5-B9E8-1C4CF7E4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A comparação por USB requer a V3, A mantém os dois exemplos gravados na placa</a:t>
            </a:r>
          </a:p>
        </p:txBody>
      </p:sp>
    </p:spTree>
    <p:extLst>
      <p:ext uri="{BB962C8B-B14F-4D97-AF65-F5344CB8AC3E}">
        <p14:creationId xmlns:p14="http://schemas.microsoft.com/office/powerpoint/2010/main" val="12353694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BF0BE-953D-4303-9A78-BF91950C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9DCF3D-4A01-4263-834E-0A2BFBE7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Microfone: um novo experimento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BF480D-0973-4B20-86A3-B3043DCB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6FADF-DAB8-4B72-A8AE-6B4F3DC7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Áudio reproduzido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DF809-7DA1-4357-A516-8D9236B8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86125"/>
            <a:ext cx="561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Captura de 3 segundos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C338E0-DF73-4145-8A04-349E8D04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33875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Classificação experimental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6FA73-8EED-4A50-B9B7-8AF0BCF2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33625"/>
            <a:ext cx="371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Alto-falante, sala e microfone</a:t>
            </a:r>
          </a:p>
          <a:p xmlns:a="http://schemas.openxmlformats.org/drawingml/2006/main">
            <a: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alteram o sinal recebido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Resultados ainda precisam</a:t>
            </a:r>
          </a:p>
          <a:p xmlns:a="http://schemas.openxmlformats.org/drawingml/2006/main">
            <a:pPr>
              <a:defRPr sz="21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de validação acústica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DE303A-8A92-47B1-B5C8-882829B7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Use uma gravação de origem conhecida, a placa não equivale a um estetoscópio</a:t>
            </a:r>
          </a:p>
        </p:txBody>
      </p:sp>
    </p:spTree>
    <p:extLst>
      <p:ext uri="{BB962C8B-B14F-4D97-AF65-F5344CB8AC3E}">
        <p14:creationId xmlns:p14="http://schemas.microsoft.com/office/powerpoint/2010/main" val="15092476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F84146-3CEC-4241-B4C7-E7E57134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D3DEC-B89C-4F66-91A5-F8488492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O que este projeto demonstrou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D2407-F977-42AD-99D2-F4D27D24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B4D6C-06D3-42B2-8CBD-A8513350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33600"/>
            <a:ext cx="1090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766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766B"/>
                </a:solidFill>
                <a:latin typeface="Arial"/>
                <a:ea typeface="Arial"/>
                <a:cs typeface="Arial"/>
              </a:rPr>
              <a:t>Inferência local no RP2040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B3B6A-46C0-4D88-8A9C-CAB227E2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90875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Decisões por grupo iguais à referência no teste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D2301F-317B-4816-955E-69E398F3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43375"/>
            <a:ext cx="1090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Custos de tempo e memória medidos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7F6AE-7041-42E1-A050-595A88C8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Ainda há erros de classificação, diferenças numéricas e ausência de validação clínica/acústica</a:t>
            </a:r>
          </a:p>
        </p:txBody>
      </p:sp>
    </p:spTree>
    <p:extLst>
      <p:ext uri="{BB962C8B-B14F-4D97-AF65-F5344CB8AC3E}">
        <p14:creationId xmlns:p14="http://schemas.microsoft.com/office/powerpoint/2010/main" val="2234834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F8E367-0E8B-45A9-B0FC-9803B777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66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285E5-F430-4800-8490-9712B283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D46"/>
                </a:solidFill>
                <a:latin typeface="Arial"/>
                <a:ea typeface="Arial"/>
                <a:cs typeface="Arial"/>
              </a:rPr>
              <a:t>Referências e dados do experimento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C2B4C-05C0-4AFF-90CE-531CE8FC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055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6FF922-72E4-4090-96A9-41D23EB6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10810875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Oliveira et al. (2022)</a:t>
            </a:r>
          </a:p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The CirCor DigiScope Dataset. IEEE JBHI 26(6), 2524–2535</a:t>
            </a:r>
          </a:p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DOI: 10.1109/JBHI.2021.3137048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David et al. (2021)</a:t>
            </a:r>
          </a:p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TensorFlow Lite Micro. Proceedings of MLSys, volume 3</a:t>
            </a:r>
          </a:p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proceedings.mlsys.org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American Heart Association (2026)</a:t>
            </a:r>
          </a:p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Heart Murmurs. Revisão de 17 de março de 2026</a:t>
            </a:r>
          </a:p>
          <a:p xmlns:a="http://schemas.openxmlformats.org/drawingml/2006/main">
            <a:pPr>
              <a:defRPr sz="1875" b="0">
                <a:solidFill>
                  <a:srgbClr val="173D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D46"/>
                </a:solidFill>
                <a:latin typeface="Arial"/>
                <a:ea typeface="Arial"/>
                <a:cs typeface="Arial"/>
              </a:rPr>
              <a:t>heart.org/en/health-topics/heart-murmurs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5CC8B-FF7B-4DA4-8098-50743BDF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10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B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B70"/>
                </a:solidFill>
                <a:latin typeface="Arial"/>
                <a:ea typeface="Arial"/>
                <a:cs typeface="Arial"/>
              </a:rPr>
              <a:t>CirCor 1.0.3 / PhysioNet, relatórios locais, modelo congelado e recibos de compilação</a:t>
            </a:r>
          </a:p>
        </p:txBody>
      </p:sp>
    </p:spTree>
    <p:extLst>
      <p:ext uri="{BB962C8B-B14F-4D97-AF65-F5344CB8AC3E}">
        <p14:creationId xmlns:p14="http://schemas.microsoft.com/office/powerpoint/2010/main" val="8826352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2026-10-24T22:53:23.8660000Z</dcterms:created>
  <dcterms:modified xsi:type="dcterms:W3CDTF">2026-10-24T22:53:23.8660000Z</dcterms:modified>
</coreProperties>
</file>